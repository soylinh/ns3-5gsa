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45"/>
  </p:notesMasterIdLst>
  <p:handoutMasterIdLst>
    <p:handoutMasterId r:id="rId46"/>
  </p:handoutMasterIdLst>
  <p:sldIdLst>
    <p:sldId id="257" r:id="rId2"/>
    <p:sldId id="265" r:id="rId3"/>
    <p:sldId id="275" r:id="rId4"/>
    <p:sldId id="277" r:id="rId5"/>
    <p:sldId id="278" r:id="rId6"/>
    <p:sldId id="291" r:id="rId7"/>
    <p:sldId id="298" r:id="rId8"/>
    <p:sldId id="283" r:id="rId9"/>
    <p:sldId id="284" r:id="rId10"/>
    <p:sldId id="289" r:id="rId11"/>
    <p:sldId id="285" r:id="rId12"/>
    <p:sldId id="288" r:id="rId13"/>
    <p:sldId id="287" r:id="rId14"/>
    <p:sldId id="286" r:id="rId15"/>
    <p:sldId id="282" r:id="rId16"/>
    <p:sldId id="280" r:id="rId17"/>
    <p:sldId id="281" r:id="rId18"/>
    <p:sldId id="269" r:id="rId19"/>
    <p:sldId id="315" r:id="rId20"/>
    <p:sldId id="266" r:id="rId21"/>
    <p:sldId id="261" r:id="rId22"/>
    <p:sldId id="290" r:id="rId23"/>
    <p:sldId id="302" r:id="rId24"/>
    <p:sldId id="292" r:id="rId25"/>
    <p:sldId id="293" r:id="rId26"/>
    <p:sldId id="303" r:id="rId27"/>
    <p:sldId id="301" r:id="rId28"/>
    <p:sldId id="294" r:id="rId29"/>
    <p:sldId id="304" r:id="rId30"/>
    <p:sldId id="299" r:id="rId31"/>
    <p:sldId id="307" r:id="rId32"/>
    <p:sldId id="305" r:id="rId33"/>
    <p:sldId id="308" r:id="rId34"/>
    <p:sldId id="306" r:id="rId35"/>
    <p:sldId id="309" r:id="rId36"/>
    <p:sldId id="310" r:id="rId37"/>
    <p:sldId id="311" r:id="rId38"/>
    <p:sldId id="312" r:id="rId39"/>
    <p:sldId id="313" r:id="rId40"/>
    <p:sldId id="314" r:id="rId41"/>
    <p:sldId id="316" r:id="rId42"/>
    <p:sldId id="317" r:id="rId43"/>
    <p:sldId id="318"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8F8A749-3AB1-4EBE-9ED6-9270ACFE4726}">
          <p14:sldIdLst>
            <p14:sldId id="257"/>
          </p14:sldIdLst>
        </p14:section>
        <p14:section name="Report 25/10" id="{E32D096D-7669-4D72-8AE5-AA8DEC04688C}">
          <p14:sldIdLst>
            <p14:sldId id="265"/>
            <p14:sldId id="275"/>
            <p14:sldId id="277"/>
            <p14:sldId id="278"/>
            <p14:sldId id="291"/>
            <p14:sldId id="298"/>
          </p14:sldIdLst>
        </p14:section>
        <p14:section name="Report 22/11" id="{B0B9E6CE-7C8A-419F-B0DB-FCDC91255A89}">
          <p14:sldIdLst>
            <p14:sldId id="283"/>
            <p14:sldId id="284"/>
            <p14:sldId id="289"/>
            <p14:sldId id="285"/>
            <p14:sldId id="288"/>
            <p14:sldId id="287"/>
            <p14:sldId id="286"/>
            <p14:sldId id="282"/>
            <p14:sldId id="280"/>
            <p14:sldId id="281"/>
            <p14:sldId id="269"/>
          </p14:sldIdLst>
        </p14:section>
        <p14:section name="Report 17/1" id="{80180113-A859-42A6-8718-3BA9E26CD975}">
          <p14:sldIdLst>
            <p14:sldId id="315"/>
            <p14:sldId id="266"/>
            <p14:sldId id="261"/>
            <p14:sldId id="290"/>
            <p14:sldId id="302"/>
            <p14:sldId id="292"/>
            <p14:sldId id="293"/>
            <p14:sldId id="303"/>
            <p14:sldId id="301"/>
            <p14:sldId id="294"/>
            <p14:sldId id="304"/>
            <p14:sldId id="299"/>
            <p14:sldId id="307"/>
            <p14:sldId id="305"/>
            <p14:sldId id="308"/>
            <p14:sldId id="306"/>
            <p14:sldId id="309"/>
            <p14:sldId id="310"/>
            <p14:sldId id="311"/>
            <p14:sldId id="312"/>
            <p14:sldId id="313"/>
            <p14:sldId id="314"/>
            <p14:sldId id="316"/>
            <p14:sldId id="317"/>
            <p14:sldId id="3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2D49"/>
    <a:srgbClr val="0E0E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6618" autoAdjust="0"/>
  </p:normalViewPr>
  <p:slideViewPr>
    <p:cSldViewPr snapToGrid="0">
      <p:cViewPr>
        <p:scale>
          <a:sx n="90" d="100"/>
          <a:sy n="90" d="100"/>
        </p:scale>
        <p:origin x="4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ehplain\BKA\DA\DA.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Impact of UAV Speed on Transmission Delay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speed'!$B$1</c:f>
              <c:strCache>
                <c:ptCount val="1"/>
                <c:pt idx="0">
                  <c:v>Avg Delay mmWave </c:v>
                </c:pt>
              </c:strCache>
            </c:strRef>
          </c:tx>
          <c:spPr>
            <a:ln w="9525" cap="rnd">
              <a:solidFill>
                <a:schemeClr val="accent1"/>
              </a:solidFill>
              <a:round/>
            </a:ln>
            <a:effectLst/>
          </c:spPr>
          <c:marker>
            <c:symbol val="none"/>
          </c:marker>
          <c:cat>
            <c:numRef>
              <c:f>'so sánh speed'!$A$2:$A$12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'so sánh speed'!$B$2:$B$12</c:f>
              <c:numCache>
                <c:formatCode>General</c:formatCode>
                <c:ptCount val="11"/>
                <c:pt idx="0">
                  <c:v>0.94199999999999995</c:v>
                </c:pt>
                <c:pt idx="1">
                  <c:v>0.94199999999999995</c:v>
                </c:pt>
                <c:pt idx="2">
                  <c:v>1.2989999999999999</c:v>
                </c:pt>
                <c:pt idx="3">
                  <c:v>1.4870000000000001</c:v>
                </c:pt>
                <c:pt idx="4">
                  <c:v>1.129</c:v>
                </c:pt>
                <c:pt idx="5">
                  <c:v>0.80900000000000005</c:v>
                </c:pt>
                <c:pt idx="6">
                  <c:v>0.78</c:v>
                </c:pt>
                <c:pt idx="7">
                  <c:v>1.839</c:v>
                </c:pt>
                <c:pt idx="8">
                  <c:v>0.746</c:v>
                </c:pt>
                <c:pt idx="9">
                  <c:v>47.935000000000002</c:v>
                </c:pt>
                <c:pt idx="10">
                  <c:v>0.754</c:v>
                </c:pt>
              </c:numCache>
            </c:numRef>
          </c:val>
          <c:smooth val="0"/>
          <c:extLst>
            <c:ext xmlns:c16="http://schemas.microsoft.com/office/drawing/2014/chart" uri="{C3380CC4-5D6E-409C-BE32-E72D297353CC}">
              <c16:uniqueId val="{00000000-18B0-492F-AB3A-F54955CDB553}"/>
            </c:ext>
          </c:extLst>
        </c:ser>
        <c:ser>
          <c:idx val="1"/>
          <c:order val="1"/>
          <c:tx>
            <c:strRef>
              <c:f>'so sánh speed'!$I$1</c:f>
              <c:strCache>
                <c:ptCount val="1"/>
                <c:pt idx="0">
                  <c:v>Avg Delay Sub-6 </c:v>
                </c:pt>
              </c:strCache>
            </c:strRef>
          </c:tx>
          <c:spPr>
            <a:ln w="9525" cap="rnd">
              <a:solidFill>
                <a:schemeClr val="accent2"/>
              </a:solidFill>
              <a:round/>
            </a:ln>
            <a:effectLst/>
          </c:spPr>
          <c:marker>
            <c:symbol val="none"/>
          </c:marker>
          <c:cat>
            <c:numRef>
              <c:f>'so sánh speed'!$A$2:$A$12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'so sánh speed'!$I$2:$I$12</c:f>
              <c:numCache>
                <c:formatCode>General</c:formatCode>
                <c:ptCount val="11"/>
                <c:pt idx="0">
                  <c:v>18.498000000000001</c:v>
                </c:pt>
                <c:pt idx="1">
                  <c:v>38.566000000000003</c:v>
                </c:pt>
                <c:pt idx="2">
                  <c:v>47.127000000000002</c:v>
                </c:pt>
                <c:pt idx="3">
                  <c:v>18.809000000000001</c:v>
                </c:pt>
                <c:pt idx="4">
                  <c:v>19.652999999999999</c:v>
                </c:pt>
                <c:pt idx="5">
                  <c:v>20.079999999999998</c:v>
                </c:pt>
                <c:pt idx="6">
                  <c:v>19.544</c:v>
                </c:pt>
                <c:pt idx="7">
                  <c:v>23.7897</c:v>
                </c:pt>
                <c:pt idx="8">
                  <c:v>20.658999999999999</c:v>
                </c:pt>
                <c:pt idx="9">
                  <c:v>23.745000000000001</c:v>
                </c:pt>
                <c:pt idx="10">
                  <c:v>22.468</c:v>
                </c:pt>
              </c:numCache>
            </c:numRef>
          </c:val>
          <c:smooth val="0"/>
          <c:extLst>
            <c:ext xmlns:c16="http://schemas.microsoft.com/office/drawing/2014/chart" uri="{C3380CC4-5D6E-409C-BE32-E72D297353CC}">
              <c16:uniqueId val="{00000001-18B0-492F-AB3A-F54955CDB553}"/>
            </c:ext>
          </c:extLst>
        </c:ser>
        <c:dLbls>
          <c:showLegendKey val="0"/>
          <c:showVal val="0"/>
          <c:showCatName val="0"/>
          <c:showSerName val="0"/>
          <c:showPercent val="0"/>
          <c:showBubbleSize val="0"/>
        </c:dLbls>
        <c:smooth val="0"/>
        <c:axId val="1047717071"/>
        <c:axId val="1047717551"/>
      </c:lineChart>
      <c:catAx>
        <c:axId val="104771707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Speed (m/s)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7717551"/>
        <c:crosses val="autoZero"/>
        <c:auto val="1"/>
        <c:lblAlgn val="ctr"/>
        <c:lblOffset val="100"/>
        <c:noMultiLvlLbl val="0"/>
      </c:catAx>
      <c:valAx>
        <c:axId val="1047717551"/>
        <c:scaling>
          <c:orientation val="minMax"/>
          <c:max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Avg</a:t>
                </a:r>
                <a:r>
                  <a:rPr lang="en-US" baseline="0"/>
                  <a:t> Delay (ms)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77170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UAV Speed on Jitter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speed'!$C$1</c:f>
              <c:strCache>
                <c:ptCount val="1"/>
                <c:pt idx="0">
                  <c:v>Jitter mmWave</c:v>
                </c:pt>
              </c:strCache>
            </c:strRef>
          </c:tx>
          <c:spPr>
            <a:ln w="28575" cap="rnd">
              <a:solidFill>
                <a:schemeClr val="accent1"/>
              </a:solidFill>
              <a:round/>
            </a:ln>
            <a:effectLst/>
          </c:spPr>
          <c:marker>
            <c:symbol val="none"/>
          </c:marker>
          <c:cat>
            <c:numRef>
              <c:f>'so sánh speed'!$A$2:$A$12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'so sánh speed'!$C$2:$C$12</c:f>
              <c:numCache>
                <c:formatCode>General</c:formatCode>
                <c:ptCount val="11"/>
                <c:pt idx="0">
                  <c:v>0.5</c:v>
                </c:pt>
                <c:pt idx="1">
                  <c:v>0.5</c:v>
                </c:pt>
                <c:pt idx="2">
                  <c:v>0.27200000000000002</c:v>
                </c:pt>
                <c:pt idx="3">
                  <c:v>0.32900000000000001</c:v>
                </c:pt>
                <c:pt idx="4">
                  <c:v>0.21299999999999999</c:v>
                </c:pt>
                <c:pt idx="5">
                  <c:v>0.23300000000000001</c:v>
                </c:pt>
                <c:pt idx="6">
                  <c:v>0.17299999999999999</c:v>
                </c:pt>
                <c:pt idx="7">
                  <c:v>0.371</c:v>
                </c:pt>
                <c:pt idx="8">
                  <c:v>0.105</c:v>
                </c:pt>
                <c:pt idx="9">
                  <c:v>0.72</c:v>
                </c:pt>
                <c:pt idx="10">
                  <c:v>0.12</c:v>
                </c:pt>
              </c:numCache>
            </c:numRef>
          </c:val>
          <c:smooth val="0"/>
          <c:extLst>
            <c:ext xmlns:c16="http://schemas.microsoft.com/office/drawing/2014/chart" uri="{C3380CC4-5D6E-409C-BE32-E72D297353CC}">
              <c16:uniqueId val="{00000000-225F-48DA-A429-0CD9E09D5BB0}"/>
            </c:ext>
          </c:extLst>
        </c:ser>
        <c:ser>
          <c:idx val="1"/>
          <c:order val="1"/>
          <c:tx>
            <c:strRef>
              <c:f>'so sánh speed'!$J$1</c:f>
              <c:strCache>
                <c:ptCount val="1"/>
                <c:pt idx="0">
                  <c:v>Jitter Sub-6 </c:v>
                </c:pt>
              </c:strCache>
            </c:strRef>
          </c:tx>
          <c:spPr>
            <a:ln w="28575" cap="rnd">
              <a:solidFill>
                <a:schemeClr val="accent2"/>
              </a:solidFill>
              <a:round/>
            </a:ln>
            <a:effectLst/>
          </c:spPr>
          <c:marker>
            <c:symbol val="none"/>
          </c:marker>
          <c:cat>
            <c:numRef>
              <c:f>'so sánh speed'!$A$2:$A$12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'so sánh speed'!$J$2:$J$12</c:f>
              <c:numCache>
                <c:formatCode>General</c:formatCode>
                <c:ptCount val="11"/>
                <c:pt idx="0">
                  <c:v>0.22700000000000001</c:v>
                </c:pt>
                <c:pt idx="1">
                  <c:v>0.24199999999999999</c:v>
                </c:pt>
                <c:pt idx="2">
                  <c:v>0.249</c:v>
                </c:pt>
                <c:pt idx="3">
                  <c:v>0.22900000000000001</c:v>
                </c:pt>
                <c:pt idx="4">
                  <c:v>0.22600000000000001</c:v>
                </c:pt>
                <c:pt idx="5">
                  <c:v>0.23200000000000001</c:v>
                </c:pt>
                <c:pt idx="6">
                  <c:v>0.22800000000000001</c:v>
                </c:pt>
                <c:pt idx="7">
                  <c:v>0.22944700000000001</c:v>
                </c:pt>
                <c:pt idx="8">
                  <c:v>0.23200000000000001</c:v>
                </c:pt>
                <c:pt idx="9">
                  <c:v>0.23268</c:v>
                </c:pt>
                <c:pt idx="10">
                  <c:v>0.23100000000000001</c:v>
                </c:pt>
              </c:numCache>
            </c:numRef>
          </c:val>
          <c:smooth val="0"/>
          <c:extLst>
            <c:ext xmlns:c16="http://schemas.microsoft.com/office/drawing/2014/chart" uri="{C3380CC4-5D6E-409C-BE32-E72D297353CC}">
              <c16:uniqueId val="{00000001-225F-48DA-A429-0CD9E09D5BB0}"/>
            </c:ext>
          </c:extLst>
        </c:ser>
        <c:dLbls>
          <c:showLegendKey val="0"/>
          <c:showVal val="0"/>
          <c:showCatName val="0"/>
          <c:showSerName val="0"/>
          <c:showPercent val="0"/>
          <c:showBubbleSize val="0"/>
        </c:dLbls>
        <c:smooth val="0"/>
        <c:axId val="1447075119"/>
        <c:axId val="1447076079"/>
      </c:lineChart>
      <c:catAx>
        <c:axId val="144707511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Speed (m/s)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7076079"/>
        <c:crosses val="autoZero"/>
        <c:auto val="1"/>
        <c:lblAlgn val="ctr"/>
        <c:lblOffset val="100"/>
        <c:noMultiLvlLbl val="0"/>
      </c:catAx>
      <c:valAx>
        <c:axId val="14470760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Jitter (ms)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70751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UAV Speed on Packet Loss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speed'!$D$1</c:f>
              <c:strCache>
                <c:ptCount val="1"/>
                <c:pt idx="0">
                  <c:v>Packet Loss mmWave </c:v>
                </c:pt>
              </c:strCache>
            </c:strRef>
          </c:tx>
          <c:spPr>
            <a:ln w="28575" cap="rnd">
              <a:solidFill>
                <a:schemeClr val="accent1"/>
              </a:solidFill>
              <a:round/>
            </a:ln>
            <a:effectLst/>
          </c:spPr>
          <c:marker>
            <c:symbol val="none"/>
          </c:marker>
          <c:cat>
            <c:numRef>
              <c:f>'so sánh speed'!$A$2:$A$12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'so sánh speed'!$D$2:$D$12</c:f>
              <c:numCache>
                <c:formatCode>General</c:formatCode>
                <c:ptCount val="11"/>
                <c:pt idx="0">
                  <c:v>3.0000000000000001E-3</c:v>
                </c:pt>
                <c:pt idx="1">
                  <c:v>3.0000000000000001E-3</c:v>
                </c:pt>
                <c:pt idx="2">
                  <c:v>6.0000000000000001E-3</c:v>
                </c:pt>
                <c:pt idx="3">
                  <c:v>58.76</c:v>
                </c:pt>
                <c:pt idx="4">
                  <c:v>82.218999999999994</c:v>
                </c:pt>
                <c:pt idx="5">
                  <c:v>3.0000000000000001E-3</c:v>
                </c:pt>
                <c:pt idx="6">
                  <c:v>3.0000000000000001E-3</c:v>
                </c:pt>
                <c:pt idx="7">
                  <c:v>77.930000000000007</c:v>
                </c:pt>
                <c:pt idx="8">
                  <c:v>3.0000000000000001E-3</c:v>
                </c:pt>
                <c:pt idx="9">
                  <c:v>96.637</c:v>
                </c:pt>
                <c:pt idx="10">
                  <c:v>3.0000000000000001E-3</c:v>
                </c:pt>
              </c:numCache>
            </c:numRef>
          </c:val>
          <c:smooth val="0"/>
          <c:extLst>
            <c:ext xmlns:c16="http://schemas.microsoft.com/office/drawing/2014/chart" uri="{C3380CC4-5D6E-409C-BE32-E72D297353CC}">
              <c16:uniqueId val="{00000000-1BD7-4F43-B71F-951B0F9F1A5B}"/>
            </c:ext>
          </c:extLst>
        </c:ser>
        <c:ser>
          <c:idx val="1"/>
          <c:order val="1"/>
          <c:tx>
            <c:strRef>
              <c:f>'so sánh speed'!$K$1</c:f>
              <c:strCache>
                <c:ptCount val="1"/>
                <c:pt idx="0">
                  <c:v>Packet Loss Sub-6 </c:v>
                </c:pt>
              </c:strCache>
            </c:strRef>
          </c:tx>
          <c:spPr>
            <a:ln w="28575" cap="rnd">
              <a:solidFill>
                <a:schemeClr val="accent2"/>
              </a:solidFill>
              <a:round/>
            </a:ln>
            <a:effectLst/>
          </c:spPr>
          <c:marker>
            <c:symbol val="none"/>
          </c:marker>
          <c:cat>
            <c:numRef>
              <c:f>'so sánh speed'!$A$2:$A$12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'so sánh speed'!$K$2:$K$12</c:f>
              <c:numCache>
                <c:formatCode>General</c:formatCode>
                <c:ptCount val="11"/>
                <c:pt idx="0">
                  <c:v>13.904</c:v>
                </c:pt>
                <c:pt idx="1">
                  <c:v>72.283000000000001</c:v>
                </c:pt>
                <c:pt idx="2">
                  <c:v>47.756</c:v>
                </c:pt>
                <c:pt idx="3">
                  <c:v>15</c:v>
                </c:pt>
                <c:pt idx="4">
                  <c:v>13.705</c:v>
                </c:pt>
                <c:pt idx="5">
                  <c:v>15.978999999999999</c:v>
                </c:pt>
                <c:pt idx="6">
                  <c:v>14.317</c:v>
                </c:pt>
                <c:pt idx="7">
                  <c:v>15.2689</c:v>
                </c:pt>
                <c:pt idx="8">
                  <c:v>15.955</c:v>
                </c:pt>
                <c:pt idx="9">
                  <c:v>16.335999999999999</c:v>
                </c:pt>
                <c:pt idx="10">
                  <c:v>15.906000000000001</c:v>
                </c:pt>
              </c:numCache>
            </c:numRef>
          </c:val>
          <c:smooth val="0"/>
          <c:extLst>
            <c:ext xmlns:c16="http://schemas.microsoft.com/office/drawing/2014/chart" uri="{C3380CC4-5D6E-409C-BE32-E72D297353CC}">
              <c16:uniqueId val="{00000001-1BD7-4F43-B71F-951B0F9F1A5B}"/>
            </c:ext>
          </c:extLst>
        </c:ser>
        <c:dLbls>
          <c:showLegendKey val="0"/>
          <c:showVal val="0"/>
          <c:showCatName val="0"/>
          <c:showSerName val="0"/>
          <c:showPercent val="0"/>
          <c:showBubbleSize val="0"/>
        </c:dLbls>
        <c:smooth val="0"/>
        <c:axId val="1174777263"/>
        <c:axId val="1174774383"/>
      </c:lineChart>
      <c:catAx>
        <c:axId val="117477726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Speed (m/s)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774383"/>
        <c:crosses val="autoZero"/>
        <c:auto val="1"/>
        <c:lblAlgn val="ctr"/>
        <c:lblOffset val="100"/>
        <c:noMultiLvlLbl val="0"/>
      </c:catAx>
      <c:valAx>
        <c:axId val="1174774383"/>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Packet</a:t>
                </a:r>
                <a:r>
                  <a:rPr lang="en-US" baseline="0"/>
                  <a:t> loss (%)</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7772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UAV Speed on Throughput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speed'!$E$1</c:f>
              <c:strCache>
                <c:ptCount val="1"/>
                <c:pt idx="0">
                  <c:v>Throughput mmWave</c:v>
                </c:pt>
              </c:strCache>
            </c:strRef>
          </c:tx>
          <c:spPr>
            <a:ln w="28575" cap="rnd">
              <a:solidFill>
                <a:schemeClr val="accent1"/>
              </a:solidFill>
              <a:round/>
            </a:ln>
            <a:effectLst/>
          </c:spPr>
          <c:marker>
            <c:symbol val="none"/>
          </c:marker>
          <c:cat>
            <c:numRef>
              <c:f>'so sánh speed'!$A$2:$A$12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'so sánh speed'!$E$2:$E$12</c:f>
              <c:numCache>
                <c:formatCode>General</c:formatCode>
                <c:ptCount val="11"/>
                <c:pt idx="0">
                  <c:v>1.845</c:v>
                </c:pt>
                <c:pt idx="1">
                  <c:v>1.845</c:v>
                </c:pt>
                <c:pt idx="2">
                  <c:v>1.845</c:v>
                </c:pt>
                <c:pt idx="3">
                  <c:v>1.6160000000000001</c:v>
                </c:pt>
                <c:pt idx="4">
                  <c:v>1.2649999999999999</c:v>
                </c:pt>
                <c:pt idx="5">
                  <c:v>1.845</c:v>
                </c:pt>
                <c:pt idx="6">
                  <c:v>1.845</c:v>
                </c:pt>
                <c:pt idx="7">
                  <c:v>1.323</c:v>
                </c:pt>
                <c:pt idx="8">
                  <c:v>1.845</c:v>
                </c:pt>
                <c:pt idx="9">
                  <c:v>0.45200000000000001</c:v>
                </c:pt>
                <c:pt idx="10">
                  <c:v>1.845</c:v>
                </c:pt>
              </c:numCache>
            </c:numRef>
          </c:val>
          <c:smooth val="0"/>
          <c:extLst>
            <c:ext xmlns:c16="http://schemas.microsoft.com/office/drawing/2014/chart" uri="{C3380CC4-5D6E-409C-BE32-E72D297353CC}">
              <c16:uniqueId val="{00000000-5E45-47A6-9030-9932C4014723}"/>
            </c:ext>
          </c:extLst>
        </c:ser>
        <c:ser>
          <c:idx val="1"/>
          <c:order val="1"/>
          <c:tx>
            <c:strRef>
              <c:f>'so sánh speed'!$L$1</c:f>
              <c:strCache>
                <c:ptCount val="1"/>
                <c:pt idx="0">
                  <c:v>Throughput Sub-6  </c:v>
                </c:pt>
              </c:strCache>
            </c:strRef>
          </c:tx>
          <c:spPr>
            <a:ln w="28575" cap="rnd">
              <a:solidFill>
                <a:schemeClr val="accent2"/>
              </a:solidFill>
              <a:round/>
            </a:ln>
            <a:effectLst/>
          </c:spPr>
          <c:marker>
            <c:symbol val="none"/>
          </c:marker>
          <c:cat>
            <c:numRef>
              <c:f>'so sánh speed'!$A$2:$A$12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'so sánh speed'!$L$2:$L$12</c:f>
              <c:numCache>
                <c:formatCode>General</c:formatCode>
                <c:ptCount val="11"/>
                <c:pt idx="0">
                  <c:v>8.7390000000000008</c:v>
                </c:pt>
                <c:pt idx="1">
                  <c:v>7.93</c:v>
                </c:pt>
                <c:pt idx="2">
                  <c:v>7.5490000000000004</c:v>
                </c:pt>
                <c:pt idx="3">
                  <c:v>8.6690000000000005</c:v>
                </c:pt>
                <c:pt idx="4">
                  <c:v>8.7609999999999992</c:v>
                </c:pt>
                <c:pt idx="5">
                  <c:v>8.5280000000000005</c:v>
                </c:pt>
                <c:pt idx="6">
                  <c:v>8.6969999999999992</c:v>
                </c:pt>
                <c:pt idx="7">
                  <c:v>8.6000099999999993</c:v>
                </c:pt>
                <c:pt idx="8">
                  <c:v>8.5310000000000006</c:v>
                </c:pt>
                <c:pt idx="9">
                  <c:v>8.4916999999999998</c:v>
                </c:pt>
                <c:pt idx="10">
                  <c:v>8.5350000000000001</c:v>
                </c:pt>
              </c:numCache>
            </c:numRef>
          </c:val>
          <c:smooth val="0"/>
          <c:extLst>
            <c:ext xmlns:c16="http://schemas.microsoft.com/office/drawing/2014/chart" uri="{C3380CC4-5D6E-409C-BE32-E72D297353CC}">
              <c16:uniqueId val="{00000001-5E45-47A6-9030-9932C4014723}"/>
            </c:ext>
          </c:extLst>
        </c:ser>
        <c:dLbls>
          <c:showLegendKey val="0"/>
          <c:showVal val="0"/>
          <c:showCatName val="0"/>
          <c:showSerName val="0"/>
          <c:showPercent val="0"/>
          <c:showBubbleSize val="0"/>
        </c:dLbls>
        <c:smooth val="0"/>
        <c:axId val="1258096223"/>
        <c:axId val="1258098623"/>
      </c:lineChart>
      <c:catAx>
        <c:axId val="12580962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Speed (m/s)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8098623"/>
        <c:crosses val="autoZero"/>
        <c:auto val="1"/>
        <c:lblAlgn val="ctr"/>
        <c:lblOffset val="100"/>
        <c:noMultiLvlLbl val="0"/>
      </c:catAx>
      <c:valAx>
        <c:axId val="12580986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Throughput (Mbps)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8096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Impact of UAV altitude on Transmission Delay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altitude'!$B$1</c:f>
              <c:strCache>
                <c:ptCount val="1"/>
                <c:pt idx="0">
                  <c:v>Avg Delay mmWave </c:v>
                </c:pt>
              </c:strCache>
            </c:strRef>
          </c:tx>
          <c:spPr>
            <a:ln w="28575" cap="rnd">
              <a:solidFill>
                <a:schemeClr val="accent1"/>
              </a:solidFill>
              <a:round/>
            </a:ln>
            <a:effectLst/>
          </c:spPr>
          <c:marker>
            <c:symbol val="none"/>
          </c:marker>
          <c:cat>
            <c:numRef>
              <c:f>'so sánh altitude'!$A$2:$A$14</c:f>
              <c:numCache>
                <c:formatCode>General</c:formatCode>
                <c:ptCount val="13"/>
                <c:pt idx="0">
                  <c:v>1.5</c:v>
                </c:pt>
                <c:pt idx="1">
                  <c:v>10</c:v>
                </c:pt>
                <c:pt idx="2">
                  <c:v>20</c:v>
                </c:pt>
                <c:pt idx="3">
                  <c:v>30</c:v>
                </c:pt>
                <c:pt idx="4">
                  <c:v>40</c:v>
                </c:pt>
                <c:pt idx="5">
                  <c:v>50</c:v>
                </c:pt>
                <c:pt idx="6">
                  <c:v>80</c:v>
                </c:pt>
                <c:pt idx="7">
                  <c:v>100</c:v>
                </c:pt>
                <c:pt idx="8">
                  <c:v>120</c:v>
                </c:pt>
                <c:pt idx="9">
                  <c:v>140</c:v>
                </c:pt>
                <c:pt idx="10">
                  <c:v>160</c:v>
                </c:pt>
                <c:pt idx="11">
                  <c:v>180</c:v>
                </c:pt>
                <c:pt idx="12">
                  <c:v>200</c:v>
                </c:pt>
              </c:numCache>
            </c:numRef>
          </c:cat>
          <c:val>
            <c:numRef>
              <c:f>'so sánh altitude'!$B$2:$B$14</c:f>
              <c:numCache>
                <c:formatCode>General</c:formatCode>
                <c:ptCount val="13"/>
                <c:pt idx="0">
                  <c:v>0.746</c:v>
                </c:pt>
                <c:pt idx="1">
                  <c:v>0.80400000000000005</c:v>
                </c:pt>
                <c:pt idx="2">
                  <c:v>15.746</c:v>
                </c:pt>
                <c:pt idx="3">
                  <c:v>4.8869999999999996</c:v>
                </c:pt>
                <c:pt idx="4">
                  <c:v>2.9580000000000002</c:v>
                </c:pt>
                <c:pt idx="5">
                  <c:v>0.81</c:v>
                </c:pt>
                <c:pt idx="6">
                  <c:v>0.72699999999999998</c:v>
                </c:pt>
                <c:pt idx="7">
                  <c:v>5.0199999999999995E-4</c:v>
                </c:pt>
                <c:pt idx="8">
                  <c:v>5.0199999999999995E-4</c:v>
                </c:pt>
                <c:pt idx="9">
                  <c:v>5.0199999999999995E-4</c:v>
                </c:pt>
                <c:pt idx="10">
                  <c:v>5.0199999999999995E-4</c:v>
                </c:pt>
                <c:pt idx="11">
                  <c:v>5.0199999999999995E-4</c:v>
                </c:pt>
                <c:pt idx="12">
                  <c:v>5.0199999999999995E-4</c:v>
                </c:pt>
              </c:numCache>
            </c:numRef>
          </c:val>
          <c:smooth val="0"/>
          <c:extLst>
            <c:ext xmlns:c16="http://schemas.microsoft.com/office/drawing/2014/chart" uri="{C3380CC4-5D6E-409C-BE32-E72D297353CC}">
              <c16:uniqueId val="{00000000-4555-464D-8D46-DBF062E72A21}"/>
            </c:ext>
          </c:extLst>
        </c:ser>
        <c:ser>
          <c:idx val="1"/>
          <c:order val="1"/>
          <c:tx>
            <c:strRef>
              <c:f>'so sánh altitude'!$I$1</c:f>
              <c:strCache>
                <c:ptCount val="1"/>
                <c:pt idx="0">
                  <c:v>Avg Delay Sub-6 </c:v>
                </c:pt>
              </c:strCache>
            </c:strRef>
          </c:tx>
          <c:spPr>
            <a:ln w="28575" cap="rnd">
              <a:solidFill>
                <a:schemeClr val="accent2"/>
              </a:solidFill>
              <a:round/>
            </a:ln>
            <a:effectLst/>
          </c:spPr>
          <c:marker>
            <c:symbol val="none"/>
          </c:marker>
          <c:cat>
            <c:numRef>
              <c:f>'so sánh altitude'!$A$2:$A$14</c:f>
              <c:numCache>
                <c:formatCode>General</c:formatCode>
                <c:ptCount val="13"/>
                <c:pt idx="0">
                  <c:v>1.5</c:v>
                </c:pt>
                <c:pt idx="1">
                  <c:v>10</c:v>
                </c:pt>
                <c:pt idx="2">
                  <c:v>20</c:v>
                </c:pt>
                <c:pt idx="3">
                  <c:v>30</c:v>
                </c:pt>
                <c:pt idx="4">
                  <c:v>40</c:v>
                </c:pt>
                <c:pt idx="5">
                  <c:v>50</c:v>
                </c:pt>
                <c:pt idx="6">
                  <c:v>80</c:v>
                </c:pt>
                <c:pt idx="7">
                  <c:v>100</c:v>
                </c:pt>
                <c:pt idx="8">
                  <c:v>120</c:v>
                </c:pt>
                <c:pt idx="9">
                  <c:v>140</c:v>
                </c:pt>
                <c:pt idx="10">
                  <c:v>160</c:v>
                </c:pt>
                <c:pt idx="11">
                  <c:v>180</c:v>
                </c:pt>
                <c:pt idx="12">
                  <c:v>200</c:v>
                </c:pt>
              </c:numCache>
            </c:numRef>
          </c:cat>
          <c:val>
            <c:numRef>
              <c:f>'so sánh altitude'!$I$2:$I$14</c:f>
              <c:numCache>
                <c:formatCode>General</c:formatCode>
                <c:ptCount val="13"/>
                <c:pt idx="0">
                  <c:v>8.5020000000000007</c:v>
                </c:pt>
                <c:pt idx="1">
                  <c:v>10.502000000000001</c:v>
                </c:pt>
                <c:pt idx="2">
                  <c:v>0</c:v>
                </c:pt>
                <c:pt idx="3">
                  <c:v>11.195</c:v>
                </c:pt>
                <c:pt idx="4">
                  <c:v>13.352</c:v>
                </c:pt>
                <c:pt idx="5">
                  <c:v>11.329000000000001</c:v>
                </c:pt>
                <c:pt idx="6">
                  <c:v>11.442</c:v>
                </c:pt>
                <c:pt idx="7">
                  <c:v>11.429</c:v>
                </c:pt>
                <c:pt idx="8">
                  <c:v>11.122999999999999</c:v>
                </c:pt>
                <c:pt idx="9">
                  <c:v>10.898</c:v>
                </c:pt>
                <c:pt idx="10">
                  <c:v>11.43</c:v>
                </c:pt>
                <c:pt idx="11">
                  <c:v>11.023999999999999</c:v>
                </c:pt>
                <c:pt idx="12">
                  <c:v>11.067</c:v>
                </c:pt>
              </c:numCache>
            </c:numRef>
          </c:val>
          <c:smooth val="0"/>
          <c:extLst>
            <c:ext xmlns:c16="http://schemas.microsoft.com/office/drawing/2014/chart" uri="{C3380CC4-5D6E-409C-BE32-E72D297353CC}">
              <c16:uniqueId val="{00000001-4555-464D-8D46-DBF062E72A21}"/>
            </c:ext>
          </c:extLst>
        </c:ser>
        <c:dLbls>
          <c:showLegendKey val="0"/>
          <c:showVal val="0"/>
          <c:showCatName val="0"/>
          <c:showSerName val="0"/>
          <c:showPercent val="0"/>
          <c:showBubbleSize val="0"/>
        </c:dLbls>
        <c:smooth val="0"/>
        <c:axId val="1047717071"/>
        <c:axId val="1047717551"/>
      </c:lineChart>
      <c:catAx>
        <c:axId val="104771707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Altitude (m)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7717551"/>
        <c:crosses val="autoZero"/>
        <c:auto val="1"/>
        <c:lblAlgn val="ctr"/>
        <c:lblOffset val="100"/>
        <c:noMultiLvlLbl val="0"/>
      </c:catAx>
      <c:valAx>
        <c:axId val="1047717551"/>
        <c:scaling>
          <c:orientation val="minMax"/>
          <c:max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Avg</a:t>
                </a:r>
                <a:r>
                  <a:rPr lang="en-US" baseline="0"/>
                  <a:t> Delay (ms)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77170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UAV altitude on Jitter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altitude'!$C$1</c:f>
              <c:strCache>
                <c:ptCount val="1"/>
                <c:pt idx="0">
                  <c:v>Jitter mmWave</c:v>
                </c:pt>
              </c:strCache>
            </c:strRef>
          </c:tx>
          <c:spPr>
            <a:ln w="28575" cap="rnd">
              <a:solidFill>
                <a:schemeClr val="accent1"/>
              </a:solidFill>
              <a:round/>
            </a:ln>
            <a:effectLst/>
          </c:spPr>
          <c:marker>
            <c:symbol val="none"/>
          </c:marker>
          <c:cat>
            <c:numRef>
              <c:f>'so sánh altitude'!$A$2:$A$14</c:f>
              <c:numCache>
                <c:formatCode>General</c:formatCode>
                <c:ptCount val="13"/>
                <c:pt idx="0">
                  <c:v>1.5</c:v>
                </c:pt>
                <c:pt idx="1">
                  <c:v>10</c:v>
                </c:pt>
                <c:pt idx="2">
                  <c:v>20</c:v>
                </c:pt>
                <c:pt idx="3">
                  <c:v>30</c:v>
                </c:pt>
                <c:pt idx="4">
                  <c:v>40</c:v>
                </c:pt>
                <c:pt idx="5">
                  <c:v>50</c:v>
                </c:pt>
                <c:pt idx="6">
                  <c:v>80</c:v>
                </c:pt>
                <c:pt idx="7">
                  <c:v>100</c:v>
                </c:pt>
                <c:pt idx="8">
                  <c:v>120</c:v>
                </c:pt>
                <c:pt idx="9">
                  <c:v>140</c:v>
                </c:pt>
                <c:pt idx="10">
                  <c:v>160</c:v>
                </c:pt>
                <c:pt idx="11">
                  <c:v>180</c:v>
                </c:pt>
                <c:pt idx="12">
                  <c:v>200</c:v>
                </c:pt>
              </c:numCache>
            </c:numRef>
          </c:cat>
          <c:val>
            <c:numRef>
              <c:f>'so sánh altitude'!$C$2:$C$14</c:f>
              <c:numCache>
                <c:formatCode>General</c:formatCode>
                <c:ptCount val="13"/>
                <c:pt idx="0">
                  <c:v>0.105</c:v>
                </c:pt>
                <c:pt idx="1">
                  <c:v>0.222</c:v>
                </c:pt>
                <c:pt idx="2">
                  <c:v>0.47399999999999998</c:v>
                </c:pt>
                <c:pt idx="3">
                  <c:v>0.39200000000000002</c:v>
                </c:pt>
                <c:pt idx="4">
                  <c:v>0.251</c:v>
                </c:pt>
                <c:pt idx="5">
                  <c:v>0.23400000000000001</c:v>
                </c:pt>
                <c:pt idx="6">
                  <c:v>6.5000000000000002E-2</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0-0650-4228-AEA7-47D0FB97E09B}"/>
            </c:ext>
          </c:extLst>
        </c:ser>
        <c:ser>
          <c:idx val="1"/>
          <c:order val="1"/>
          <c:tx>
            <c:strRef>
              <c:f>'so sánh altitude'!$J$1</c:f>
              <c:strCache>
                <c:ptCount val="1"/>
                <c:pt idx="0">
                  <c:v>Jitter Sub-6 </c:v>
                </c:pt>
              </c:strCache>
            </c:strRef>
          </c:tx>
          <c:spPr>
            <a:ln w="28575" cap="rnd">
              <a:solidFill>
                <a:schemeClr val="accent2"/>
              </a:solidFill>
              <a:round/>
            </a:ln>
            <a:effectLst/>
          </c:spPr>
          <c:marker>
            <c:symbol val="none"/>
          </c:marker>
          <c:cat>
            <c:numRef>
              <c:f>'so sánh altitude'!$A$2:$A$14</c:f>
              <c:numCache>
                <c:formatCode>General</c:formatCode>
                <c:ptCount val="13"/>
                <c:pt idx="0">
                  <c:v>1.5</c:v>
                </c:pt>
                <c:pt idx="1">
                  <c:v>10</c:v>
                </c:pt>
                <c:pt idx="2">
                  <c:v>20</c:v>
                </c:pt>
                <c:pt idx="3">
                  <c:v>30</c:v>
                </c:pt>
                <c:pt idx="4">
                  <c:v>40</c:v>
                </c:pt>
                <c:pt idx="5">
                  <c:v>50</c:v>
                </c:pt>
                <c:pt idx="6">
                  <c:v>80</c:v>
                </c:pt>
                <c:pt idx="7">
                  <c:v>100</c:v>
                </c:pt>
                <c:pt idx="8">
                  <c:v>120</c:v>
                </c:pt>
                <c:pt idx="9">
                  <c:v>140</c:v>
                </c:pt>
                <c:pt idx="10">
                  <c:v>160</c:v>
                </c:pt>
                <c:pt idx="11">
                  <c:v>180</c:v>
                </c:pt>
                <c:pt idx="12">
                  <c:v>200</c:v>
                </c:pt>
              </c:numCache>
            </c:numRef>
          </c:cat>
          <c:val>
            <c:numRef>
              <c:f>'so sánh altitude'!$J$2:$J$14</c:f>
              <c:numCache>
                <c:formatCode>General</c:formatCode>
                <c:ptCount val="13"/>
                <c:pt idx="0">
                  <c:v>0.22500000000000001</c:v>
                </c:pt>
                <c:pt idx="1">
                  <c:v>0.21299999999999999</c:v>
                </c:pt>
                <c:pt idx="2">
                  <c:v>0.245</c:v>
                </c:pt>
                <c:pt idx="3">
                  <c:v>0.24399999999999999</c:v>
                </c:pt>
                <c:pt idx="4">
                  <c:v>0.33900000000000002</c:v>
                </c:pt>
                <c:pt idx="5">
                  <c:v>0.28699999999999998</c:v>
                </c:pt>
                <c:pt idx="6">
                  <c:v>0.33300000000000002</c:v>
                </c:pt>
                <c:pt idx="7">
                  <c:v>0.35</c:v>
                </c:pt>
                <c:pt idx="8">
                  <c:v>0.25700000000000001</c:v>
                </c:pt>
                <c:pt idx="9">
                  <c:v>0.115</c:v>
                </c:pt>
                <c:pt idx="10">
                  <c:v>0.35</c:v>
                </c:pt>
                <c:pt idx="11">
                  <c:v>0.16500000000000001</c:v>
                </c:pt>
                <c:pt idx="12">
                  <c:v>0.188</c:v>
                </c:pt>
              </c:numCache>
            </c:numRef>
          </c:val>
          <c:smooth val="0"/>
          <c:extLst>
            <c:ext xmlns:c16="http://schemas.microsoft.com/office/drawing/2014/chart" uri="{C3380CC4-5D6E-409C-BE32-E72D297353CC}">
              <c16:uniqueId val="{00000001-0650-4228-AEA7-47D0FB97E09B}"/>
            </c:ext>
          </c:extLst>
        </c:ser>
        <c:dLbls>
          <c:showLegendKey val="0"/>
          <c:showVal val="0"/>
          <c:showCatName val="0"/>
          <c:showSerName val="0"/>
          <c:showPercent val="0"/>
          <c:showBubbleSize val="0"/>
        </c:dLbls>
        <c:smooth val="0"/>
        <c:axId val="1447075119"/>
        <c:axId val="1447076079"/>
      </c:lineChart>
      <c:catAx>
        <c:axId val="144707511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Altitude (m)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7076079"/>
        <c:crosses val="autoZero"/>
        <c:auto val="1"/>
        <c:lblAlgn val="ctr"/>
        <c:lblOffset val="100"/>
        <c:noMultiLvlLbl val="0"/>
      </c:catAx>
      <c:valAx>
        <c:axId val="14470760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Jitter (ms)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70751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UAV altitude on Packet Loss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altitude'!$D$1</c:f>
              <c:strCache>
                <c:ptCount val="1"/>
                <c:pt idx="0">
                  <c:v>Packet Loss mmWave </c:v>
                </c:pt>
              </c:strCache>
            </c:strRef>
          </c:tx>
          <c:spPr>
            <a:ln w="28575" cap="rnd">
              <a:solidFill>
                <a:schemeClr val="accent1"/>
              </a:solidFill>
              <a:round/>
            </a:ln>
            <a:effectLst/>
          </c:spPr>
          <c:marker>
            <c:symbol val="none"/>
          </c:marker>
          <c:cat>
            <c:numRef>
              <c:f>'so sánh altitude'!$A$2:$A$14</c:f>
              <c:numCache>
                <c:formatCode>General</c:formatCode>
                <c:ptCount val="13"/>
                <c:pt idx="0">
                  <c:v>1.5</c:v>
                </c:pt>
                <c:pt idx="1">
                  <c:v>10</c:v>
                </c:pt>
                <c:pt idx="2">
                  <c:v>20</c:v>
                </c:pt>
                <c:pt idx="3">
                  <c:v>30</c:v>
                </c:pt>
                <c:pt idx="4">
                  <c:v>40</c:v>
                </c:pt>
                <c:pt idx="5">
                  <c:v>50</c:v>
                </c:pt>
                <c:pt idx="6">
                  <c:v>80</c:v>
                </c:pt>
                <c:pt idx="7">
                  <c:v>100</c:v>
                </c:pt>
                <c:pt idx="8">
                  <c:v>120</c:v>
                </c:pt>
                <c:pt idx="9">
                  <c:v>140</c:v>
                </c:pt>
                <c:pt idx="10">
                  <c:v>160</c:v>
                </c:pt>
                <c:pt idx="11">
                  <c:v>180</c:v>
                </c:pt>
                <c:pt idx="12">
                  <c:v>200</c:v>
                </c:pt>
              </c:numCache>
            </c:numRef>
          </c:cat>
          <c:val>
            <c:numRef>
              <c:f>'so sánh altitude'!$D$2:$D$14</c:f>
              <c:numCache>
                <c:formatCode>General</c:formatCode>
                <c:ptCount val="13"/>
                <c:pt idx="0">
                  <c:v>3.0000000000000001E-3</c:v>
                </c:pt>
                <c:pt idx="1">
                  <c:v>3.0000000000000001E-3</c:v>
                </c:pt>
                <c:pt idx="2">
                  <c:v>82.468999999999994</c:v>
                </c:pt>
                <c:pt idx="3">
                  <c:v>56.226999999999997</c:v>
                </c:pt>
                <c:pt idx="4">
                  <c:v>49.078000000000003</c:v>
                </c:pt>
                <c:pt idx="5">
                  <c:v>3.0000000000000001E-3</c:v>
                </c:pt>
                <c:pt idx="6">
                  <c:v>3.0000000000000001E-3</c:v>
                </c:pt>
                <c:pt idx="7">
                  <c:v>99.989000000000004</c:v>
                </c:pt>
                <c:pt idx="8">
                  <c:v>99.989000000000004</c:v>
                </c:pt>
                <c:pt idx="9">
                  <c:v>99.989000000000004</c:v>
                </c:pt>
                <c:pt idx="10">
                  <c:v>99.989000000000004</c:v>
                </c:pt>
                <c:pt idx="11">
                  <c:v>99.989000000000004</c:v>
                </c:pt>
                <c:pt idx="12">
                  <c:v>99.989000000000004</c:v>
                </c:pt>
              </c:numCache>
            </c:numRef>
          </c:val>
          <c:smooth val="0"/>
          <c:extLst>
            <c:ext xmlns:c16="http://schemas.microsoft.com/office/drawing/2014/chart" uri="{C3380CC4-5D6E-409C-BE32-E72D297353CC}">
              <c16:uniqueId val="{00000000-3A88-48E5-8FA1-847CADFBBB36}"/>
            </c:ext>
          </c:extLst>
        </c:ser>
        <c:ser>
          <c:idx val="1"/>
          <c:order val="1"/>
          <c:tx>
            <c:strRef>
              <c:f>'so sánh altitude'!$K$1</c:f>
              <c:strCache>
                <c:ptCount val="1"/>
                <c:pt idx="0">
                  <c:v>Packet Loss Sub-6 </c:v>
                </c:pt>
              </c:strCache>
            </c:strRef>
          </c:tx>
          <c:spPr>
            <a:ln w="28575" cap="rnd">
              <a:solidFill>
                <a:schemeClr val="accent2"/>
              </a:solidFill>
              <a:round/>
            </a:ln>
            <a:effectLst/>
          </c:spPr>
          <c:marker>
            <c:symbol val="none"/>
          </c:marker>
          <c:cat>
            <c:numRef>
              <c:f>'so sánh altitude'!$A$2:$A$14</c:f>
              <c:numCache>
                <c:formatCode>General</c:formatCode>
                <c:ptCount val="13"/>
                <c:pt idx="0">
                  <c:v>1.5</c:v>
                </c:pt>
                <c:pt idx="1">
                  <c:v>10</c:v>
                </c:pt>
                <c:pt idx="2">
                  <c:v>20</c:v>
                </c:pt>
                <c:pt idx="3">
                  <c:v>30</c:v>
                </c:pt>
                <c:pt idx="4">
                  <c:v>40</c:v>
                </c:pt>
                <c:pt idx="5">
                  <c:v>50</c:v>
                </c:pt>
                <c:pt idx="6">
                  <c:v>80</c:v>
                </c:pt>
                <c:pt idx="7">
                  <c:v>100</c:v>
                </c:pt>
                <c:pt idx="8">
                  <c:v>120</c:v>
                </c:pt>
                <c:pt idx="9">
                  <c:v>140</c:v>
                </c:pt>
                <c:pt idx="10">
                  <c:v>160</c:v>
                </c:pt>
                <c:pt idx="11">
                  <c:v>180</c:v>
                </c:pt>
                <c:pt idx="12">
                  <c:v>200</c:v>
                </c:pt>
              </c:numCache>
            </c:numRef>
          </c:cat>
          <c:val>
            <c:numRef>
              <c:f>'so sánh altitude'!$K$2:$K$14</c:f>
              <c:numCache>
                <c:formatCode>General</c:formatCode>
                <c:ptCount val="13"/>
                <c:pt idx="0">
                  <c:v>8.0000000000000002E-3</c:v>
                </c:pt>
                <c:pt idx="1">
                  <c:v>8.0000000000000002E-3</c:v>
                </c:pt>
                <c:pt idx="2">
                  <c:v>8.0000000000000002E-3</c:v>
                </c:pt>
                <c:pt idx="3">
                  <c:v>8.0000000000000002E-3</c:v>
                </c:pt>
                <c:pt idx="4">
                  <c:v>42.865000000000002</c:v>
                </c:pt>
                <c:pt idx="5">
                  <c:v>8.0000000000000002E-3</c:v>
                </c:pt>
                <c:pt idx="6">
                  <c:v>6.0000000000000001E-3</c:v>
                </c:pt>
                <c:pt idx="7">
                  <c:v>6.0000000000000001E-3</c:v>
                </c:pt>
                <c:pt idx="8">
                  <c:v>6.0000000000000001E-3</c:v>
                </c:pt>
                <c:pt idx="9">
                  <c:v>6.0000000000000001E-3</c:v>
                </c:pt>
                <c:pt idx="10">
                  <c:v>6.0000000000000001E-3</c:v>
                </c:pt>
                <c:pt idx="11">
                  <c:v>8.0000000000000002E-3</c:v>
                </c:pt>
                <c:pt idx="12">
                  <c:v>3.0000000000000001E-3</c:v>
                </c:pt>
              </c:numCache>
            </c:numRef>
          </c:val>
          <c:smooth val="0"/>
          <c:extLst>
            <c:ext xmlns:c16="http://schemas.microsoft.com/office/drawing/2014/chart" uri="{C3380CC4-5D6E-409C-BE32-E72D297353CC}">
              <c16:uniqueId val="{00000001-3A88-48E5-8FA1-847CADFBBB36}"/>
            </c:ext>
          </c:extLst>
        </c:ser>
        <c:dLbls>
          <c:showLegendKey val="0"/>
          <c:showVal val="0"/>
          <c:showCatName val="0"/>
          <c:showSerName val="0"/>
          <c:showPercent val="0"/>
          <c:showBubbleSize val="0"/>
        </c:dLbls>
        <c:smooth val="0"/>
        <c:axId val="1174777263"/>
        <c:axId val="1174774383"/>
      </c:lineChart>
      <c:catAx>
        <c:axId val="117477726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Altitude (m)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774383"/>
        <c:crosses val="autoZero"/>
        <c:auto val="1"/>
        <c:lblAlgn val="ctr"/>
        <c:lblOffset val="100"/>
        <c:noMultiLvlLbl val="0"/>
      </c:catAx>
      <c:valAx>
        <c:axId val="1174774383"/>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Packet</a:t>
                </a:r>
                <a:r>
                  <a:rPr lang="en-US" baseline="0"/>
                  <a:t> loss (%)</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7772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UAV altitude on Throughput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altitude'!$E$1</c:f>
              <c:strCache>
                <c:ptCount val="1"/>
                <c:pt idx="0">
                  <c:v>Throughput mmWave</c:v>
                </c:pt>
              </c:strCache>
            </c:strRef>
          </c:tx>
          <c:spPr>
            <a:ln w="28575" cap="rnd">
              <a:solidFill>
                <a:schemeClr val="accent1"/>
              </a:solidFill>
              <a:round/>
            </a:ln>
            <a:effectLst/>
          </c:spPr>
          <c:marker>
            <c:symbol val="none"/>
          </c:marker>
          <c:cat>
            <c:numRef>
              <c:f>'so sánh altitude'!$A$2:$A$14</c:f>
              <c:numCache>
                <c:formatCode>General</c:formatCode>
                <c:ptCount val="13"/>
                <c:pt idx="0">
                  <c:v>1.5</c:v>
                </c:pt>
                <c:pt idx="1">
                  <c:v>10</c:v>
                </c:pt>
                <c:pt idx="2">
                  <c:v>20</c:v>
                </c:pt>
                <c:pt idx="3">
                  <c:v>30</c:v>
                </c:pt>
                <c:pt idx="4">
                  <c:v>40</c:v>
                </c:pt>
                <c:pt idx="5">
                  <c:v>50</c:v>
                </c:pt>
                <c:pt idx="6">
                  <c:v>80</c:v>
                </c:pt>
                <c:pt idx="7">
                  <c:v>100</c:v>
                </c:pt>
                <c:pt idx="8">
                  <c:v>120</c:v>
                </c:pt>
                <c:pt idx="9">
                  <c:v>140</c:v>
                </c:pt>
                <c:pt idx="10">
                  <c:v>160</c:v>
                </c:pt>
                <c:pt idx="11">
                  <c:v>180</c:v>
                </c:pt>
                <c:pt idx="12">
                  <c:v>200</c:v>
                </c:pt>
              </c:numCache>
            </c:numRef>
          </c:cat>
          <c:val>
            <c:numRef>
              <c:f>'so sánh altitude'!$E$2:$E$14</c:f>
              <c:numCache>
                <c:formatCode>General</c:formatCode>
                <c:ptCount val="13"/>
                <c:pt idx="0">
                  <c:v>1.845</c:v>
                </c:pt>
                <c:pt idx="1">
                  <c:v>1.845</c:v>
                </c:pt>
                <c:pt idx="2">
                  <c:v>1.2569999999999999</c:v>
                </c:pt>
                <c:pt idx="3">
                  <c:v>1.6160000000000001</c:v>
                </c:pt>
                <c:pt idx="4">
                  <c:v>1.6830000000000001</c:v>
                </c:pt>
                <c:pt idx="5">
                  <c:v>1.845</c:v>
                </c:pt>
                <c:pt idx="6">
                  <c:v>1.845</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0-B1A9-4F3C-B992-9E672367EF3C}"/>
            </c:ext>
          </c:extLst>
        </c:ser>
        <c:ser>
          <c:idx val="1"/>
          <c:order val="1"/>
          <c:tx>
            <c:strRef>
              <c:f>'so sánh altitude'!$L$1</c:f>
              <c:strCache>
                <c:ptCount val="1"/>
                <c:pt idx="0">
                  <c:v>Throughput Sub-6  </c:v>
                </c:pt>
              </c:strCache>
            </c:strRef>
          </c:tx>
          <c:spPr>
            <a:ln w="28575" cap="rnd">
              <a:solidFill>
                <a:schemeClr val="accent2"/>
              </a:solidFill>
              <a:round/>
            </a:ln>
            <a:effectLst/>
          </c:spPr>
          <c:marker>
            <c:symbol val="none"/>
          </c:marker>
          <c:cat>
            <c:numRef>
              <c:f>'so sánh altitude'!$A$2:$A$14</c:f>
              <c:numCache>
                <c:formatCode>General</c:formatCode>
                <c:ptCount val="13"/>
                <c:pt idx="0">
                  <c:v>1.5</c:v>
                </c:pt>
                <c:pt idx="1">
                  <c:v>10</c:v>
                </c:pt>
                <c:pt idx="2">
                  <c:v>20</c:v>
                </c:pt>
                <c:pt idx="3">
                  <c:v>30</c:v>
                </c:pt>
                <c:pt idx="4">
                  <c:v>40</c:v>
                </c:pt>
                <c:pt idx="5">
                  <c:v>50</c:v>
                </c:pt>
                <c:pt idx="6">
                  <c:v>80</c:v>
                </c:pt>
                <c:pt idx="7">
                  <c:v>100</c:v>
                </c:pt>
                <c:pt idx="8">
                  <c:v>120</c:v>
                </c:pt>
                <c:pt idx="9">
                  <c:v>140</c:v>
                </c:pt>
                <c:pt idx="10">
                  <c:v>160</c:v>
                </c:pt>
                <c:pt idx="11">
                  <c:v>180</c:v>
                </c:pt>
                <c:pt idx="12">
                  <c:v>200</c:v>
                </c:pt>
              </c:numCache>
            </c:numRef>
          </c:cat>
          <c:val>
            <c:numRef>
              <c:f>'so sánh altitude'!$L$2:$L$14</c:f>
              <c:numCache>
                <c:formatCode>General</c:formatCode>
                <c:ptCount val="13"/>
                <c:pt idx="0">
                  <c:v>1.845</c:v>
                </c:pt>
                <c:pt idx="1">
                  <c:v>1.845</c:v>
                </c:pt>
                <c:pt idx="2">
                  <c:v>1.845</c:v>
                </c:pt>
                <c:pt idx="3">
                  <c:v>1.845</c:v>
                </c:pt>
                <c:pt idx="4">
                  <c:v>1.7150000000000001</c:v>
                </c:pt>
                <c:pt idx="5">
                  <c:v>1.845</c:v>
                </c:pt>
                <c:pt idx="6">
                  <c:v>1.845</c:v>
                </c:pt>
                <c:pt idx="7">
                  <c:v>1.845</c:v>
                </c:pt>
                <c:pt idx="8">
                  <c:v>1.845</c:v>
                </c:pt>
                <c:pt idx="9">
                  <c:v>1.845</c:v>
                </c:pt>
                <c:pt idx="10">
                  <c:v>1.845</c:v>
                </c:pt>
                <c:pt idx="11">
                  <c:v>1.845</c:v>
                </c:pt>
                <c:pt idx="12">
                  <c:v>1.845</c:v>
                </c:pt>
              </c:numCache>
            </c:numRef>
          </c:val>
          <c:smooth val="0"/>
          <c:extLst>
            <c:ext xmlns:c16="http://schemas.microsoft.com/office/drawing/2014/chart" uri="{C3380CC4-5D6E-409C-BE32-E72D297353CC}">
              <c16:uniqueId val="{00000001-B1A9-4F3C-B992-9E672367EF3C}"/>
            </c:ext>
          </c:extLst>
        </c:ser>
        <c:dLbls>
          <c:showLegendKey val="0"/>
          <c:showVal val="0"/>
          <c:showCatName val="0"/>
          <c:showSerName val="0"/>
          <c:showPercent val="0"/>
          <c:showBubbleSize val="0"/>
        </c:dLbls>
        <c:smooth val="0"/>
        <c:axId val="1258096223"/>
        <c:axId val="1258098623"/>
      </c:lineChart>
      <c:catAx>
        <c:axId val="12580962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Altitude (m)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8098623"/>
        <c:crosses val="autoZero"/>
        <c:auto val="1"/>
        <c:lblAlgn val="ctr"/>
        <c:lblOffset val="100"/>
        <c:noMultiLvlLbl val="0"/>
      </c:catAx>
      <c:valAx>
        <c:axId val="12580986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Throughput (Mbps)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8096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Impact of Tx Power on Transmission Delay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power'!$B$1</c:f>
              <c:strCache>
                <c:ptCount val="1"/>
                <c:pt idx="0">
                  <c:v>Avg Delay mmWave </c:v>
                </c:pt>
              </c:strCache>
            </c:strRef>
          </c:tx>
          <c:spPr>
            <a:ln w="28575" cap="rnd">
              <a:solidFill>
                <a:schemeClr val="accent1"/>
              </a:solidFill>
              <a:round/>
            </a:ln>
            <a:effectLst/>
          </c:spPr>
          <c:marker>
            <c:symbol val="none"/>
          </c:marker>
          <c:cat>
            <c:numRef>
              <c:f>'so sánh power'!$A$2:$A$5</c:f>
              <c:numCache>
                <c:formatCode>General</c:formatCode>
                <c:ptCount val="4"/>
                <c:pt idx="0">
                  <c:v>20</c:v>
                </c:pt>
                <c:pt idx="1">
                  <c:v>22</c:v>
                </c:pt>
                <c:pt idx="2">
                  <c:v>24</c:v>
                </c:pt>
                <c:pt idx="3">
                  <c:v>26</c:v>
                </c:pt>
              </c:numCache>
            </c:numRef>
          </c:cat>
          <c:val>
            <c:numRef>
              <c:f>'so sánh power'!$B$2:$B$5</c:f>
              <c:numCache>
                <c:formatCode>General</c:formatCode>
                <c:ptCount val="4"/>
                <c:pt idx="0">
                  <c:v>8.2360000000000007</c:v>
                </c:pt>
                <c:pt idx="1">
                  <c:v>8.9429999999999996</c:v>
                </c:pt>
                <c:pt idx="2">
                  <c:v>8.8620000000000001</c:v>
                </c:pt>
                <c:pt idx="3">
                  <c:v>8.0269999999999992</c:v>
                </c:pt>
              </c:numCache>
            </c:numRef>
          </c:val>
          <c:smooth val="0"/>
          <c:extLst>
            <c:ext xmlns:c16="http://schemas.microsoft.com/office/drawing/2014/chart" uri="{C3380CC4-5D6E-409C-BE32-E72D297353CC}">
              <c16:uniqueId val="{00000000-2D04-4D99-82F3-2149F873F1CA}"/>
            </c:ext>
          </c:extLst>
        </c:ser>
        <c:ser>
          <c:idx val="1"/>
          <c:order val="1"/>
          <c:tx>
            <c:strRef>
              <c:f>'so sánh power'!$J$1</c:f>
              <c:strCache>
                <c:ptCount val="1"/>
                <c:pt idx="0">
                  <c:v>Avg Delay Sub-6 </c:v>
                </c:pt>
              </c:strCache>
            </c:strRef>
          </c:tx>
          <c:spPr>
            <a:ln w="28575" cap="rnd">
              <a:solidFill>
                <a:schemeClr val="accent2"/>
              </a:solidFill>
              <a:round/>
            </a:ln>
            <a:effectLst/>
          </c:spPr>
          <c:marker>
            <c:symbol val="none"/>
          </c:marker>
          <c:cat>
            <c:numRef>
              <c:f>'so sánh power'!$A$2:$A$5</c:f>
              <c:numCache>
                <c:formatCode>General</c:formatCode>
                <c:ptCount val="4"/>
                <c:pt idx="0">
                  <c:v>20</c:v>
                </c:pt>
                <c:pt idx="1">
                  <c:v>22</c:v>
                </c:pt>
                <c:pt idx="2">
                  <c:v>24</c:v>
                </c:pt>
                <c:pt idx="3">
                  <c:v>26</c:v>
                </c:pt>
              </c:numCache>
            </c:numRef>
          </c:cat>
          <c:val>
            <c:numRef>
              <c:f>'so sánh power'!$J$2:$J$5</c:f>
              <c:numCache>
                <c:formatCode>General</c:formatCode>
                <c:ptCount val="4"/>
                <c:pt idx="0">
                  <c:v>8.5981500000000004</c:v>
                </c:pt>
                <c:pt idx="1">
                  <c:v>8.5981500000000004</c:v>
                </c:pt>
                <c:pt idx="2">
                  <c:v>8.5981500000000004</c:v>
                </c:pt>
                <c:pt idx="3">
                  <c:v>8.5981500000000004</c:v>
                </c:pt>
              </c:numCache>
            </c:numRef>
          </c:val>
          <c:smooth val="0"/>
          <c:extLst>
            <c:ext xmlns:c16="http://schemas.microsoft.com/office/drawing/2014/chart" uri="{C3380CC4-5D6E-409C-BE32-E72D297353CC}">
              <c16:uniqueId val="{00000001-2D04-4D99-82F3-2149F873F1CA}"/>
            </c:ext>
          </c:extLst>
        </c:ser>
        <c:dLbls>
          <c:showLegendKey val="0"/>
          <c:showVal val="0"/>
          <c:showCatName val="0"/>
          <c:showSerName val="0"/>
          <c:showPercent val="0"/>
          <c:showBubbleSize val="0"/>
        </c:dLbls>
        <c:smooth val="0"/>
        <c:axId val="1047717071"/>
        <c:axId val="1047717551"/>
      </c:lineChart>
      <c:catAx>
        <c:axId val="104771707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Power</a:t>
                </a:r>
                <a:r>
                  <a:rPr lang="en-US" baseline="0"/>
                  <a:t> (dBm)</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7717551"/>
        <c:crosses val="autoZero"/>
        <c:auto val="1"/>
        <c:lblAlgn val="ctr"/>
        <c:lblOffset val="100"/>
        <c:noMultiLvlLbl val="0"/>
      </c:catAx>
      <c:valAx>
        <c:axId val="1047717551"/>
        <c:scaling>
          <c:orientation val="minMax"/>
          <c:max val="7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Avg</a:t>
                </a:r>
                <a:r>
                  <a:rPr lang="en-US" baseline="0"/>
                  <a:t> Delay (ms)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77170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Tx Power on Jitter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power'!$C$1</c:f>
              <c:strCache>
                <c:ptCount val="1"/>
                <c:pt idx="0">
                  <c:v>Jitter mmWave</c:v>
                </c:pt>
              </c:strCache>
            </c:strRef>
          </c:tx>
          <c:spPr>
            <a:ln w="28575" cap="rnd">
              <a:solidFill>
                <a:schemeClr val="accent1"/>
              </a:solidFill>
              <a:round/>
            </a:ln>
            <a:effectLst/>
          </c:spPr>
          <c:marker>
            <c:symbol val="none"/>
          </c:marker>
          <c:cat>
            <c:numRef>
              <c:f>'so sánh power'!$A$2:$A$5</c:f>
              <c:numCache>
                <c:formatCode>General</c:formatCode>
                <c:ptCount val="4"/>
                <c:pt idx="0">
                  <c:v>20</c:v>
                </c:pt>
                <c:pt idx="1">
                  <c:v>22</c:v>
                </c:pt>
                <c:pt idx="2">
                  <c:v>24</c:v>
                </c:pt>
                <c:pt idx="3">
                  <c:v>26</c:v>
                </c:pt>
              </c:numCache>
            </c:numRef>
          </c:cat>
          <c:val>
            <c:numRef>
              <c:f>'so sánh power'!$C$2:$C$5</c:f>
              <c:numCache>
                <c:formatCode>General</c:formatCode>
                <c:ptCount val="4"/>
                <c:pt idx="0">
                  <c:v>0.218</c:v>
                </c:pt>
                <c:pt idx="1">
                  <c:v>0.23799999999999999</c:v>
                </c:pt>
                <c:pt idx="2">
                  <c:v>0.23699999999999999</c:v>
                </c:pt>
                <c:pt idx="3">
                  <c:v>0.22900000000000001</c:v>
                </c:pt>
              </c:numCache>
            </c:numRef>
          </c:val>
          <c:smooth val="0"/>
          <c:extLst>
            <c:ext xmlns:c16="http://schemas.microsoft.com/office/drawing/2014/chart" uri="{C3380CC4-5D6E-409C-BE32-E72D297353CC}">
              <c16:uniqueId val="{00000000-09AB-4854-8133-F4434DB2F283}"/>
            </c:ext>
          </c:extLst>
        </c:ser>
        <c:ser>
          <c:idx val="1"/>
          <c:order val="1"/>
          <c:tx>
            <c:strRef>
              <c:f>'so sánh power'!$K$1</c:f>
              <c:strCache>
                <c:ptCount val="1"/>
                <c:pt idx="0">
                  <c:v>Jitter Sub-6 </c:v>
                </c:pt>
              </c:strCache>
            </c:strRef>
          </c:tx>
          <c:spPr>
            <a:ln w="28575" cap="rnd">
              <a:solidFill>
                <a:schemeClr val="accent2"/>
              </a:solidFill>
              <a:round/>
            </a:ln>
            <a:effectLst/>
          </c:spPr>
          <c:marker>
            <c:symbol val="none"/>
          </c:marker>
          <c:cat>
            <c:numRef>
              <c:f>'so sánh power'!$A$2:$A$5</c:f>
              <c:numCache>
                <c:formatCode>General</c:formatCode>
                <c:ptCount val="4"/>
                <c:pt idx="0">
                  <c:v>20</c:v>
                </c:pt>
                <c:pt idx="1">
                  <c:v>22</c:v>
                </c:pt>
                <c:pt idx="2">
                  <c:v>24</c:v>
                </c:pt>
                <c:pt idx="3">
                  <c:v>26</c:v>
                </c:pt>
              </c:numCache>
            </c:numRef>
          </c:cat>
          <c:val>
            <c:numRef>
              <c:f>'so sánh power'!$K$2:$K$5</c:f>
              <c:numCache>
                <c:formatCode>General</c:formatCode>
                <c:ptCount val="4"/>
                <c:pt idx="0">
                  <c:v>0.22714000000000001</c:v>
                </c:pt>
                <c:pt idx="1">
                  <c:v>0.22714000000000001</c:v>
                </c:pt>
                <c:pt idx="2">
                  <c:v>0.22714000000000001</c:v>
                </c:pt>
                <c:pt idx="3">
                  <c:v>0.22714000000000001</c:v>
                </c:pt>
              </c:numCache>
            </c:numRef>
          </c:val>
          <c:smooth val="0"/>
          <c:extLst>
            <c:ext xmlns:c16="http://schemas.microsoft.com/office/drawing/2014/chart" uri="{C3380CC4-5D6E-409C-BE32-E72D297353CC}">
              <c16:uniqueId val="{00000001-09AB-4854-8133-F4434DB2F283}"/>
            </c:ext>
          </c:extLst>
        </c:ser>
        <c:dLbls>
          <c:showLegendKey val="0"/>
          <c:showVal val="0"/>
          <c:showCatName val="0"/>
          <c:showSerName val="0"/>
          <c:showPercent val="0"/>
          <c:showBubbleSize val="0"/>
        </c:dLbls>
        <c:smooth val="0"/>
        <c:axId val="1447075119"/>
        <c:axId val="1447076079"/>
      </c:lineChart>
      <c:catAx>
        <c:axId val="144707511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Power (dBm)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7076079"/>
        <c:crosses val="autoZero"/>
        <c:auto val="1"/>
        <c:lblAlgn val="ctr"/>
        <c:lblOffset val="100"/>
        <c:noMultiLvlLbl val="0"/>
      </c:catAx>
      <c:valAx>
        <c:axId val="1447076079"/>
        <c:scaling>
          <c:orientation val="minMax"/>
          <c:max val="0.30000000000000004"/>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Jitter (ms)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70751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Tx Power on Packet Loss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power'!$D$1</c:f>
              <c:strCache>
                <c:ptCount val="1"/>
                <c:pt idx="0">
                  <c:v>Packet Loss mmWave </c:v>
                </c:pt>
              </c:strCache>
            </c:strRef>
          </c:tx>
          <c:spPr>
            <a:ln w="28575" cap="rnd">
              <a:solidFill>
                <a:schemeClr val="accent1"/>
              </a:solidFill>
              <a:round/>
            </a:ln>
            <a:effectLst/>
          </c:spPr>
          <c:marker>
            <c:symbol val="none"/>
          </c:marker>
          <c:cat>
            <c:numRef>
              <c:f>'so sánh power'!$A$2:$A$5</c:f>
              <c:numCache>
                <c:formatCode>General</c:formatCode>
                <c:ptCount val="4"/>
                <c:pt idx="0">
                  <c:v>20</c:v>
                </c:pt>
                <c:pt idx="1">
                  <c:v>22</c:v>
                </c:pt>
                <c:pt idx="2">
                  <c:v>24</c:v>
                </c:pt>
                <c:pt idx="3">
                  <c:v>26</c:v>
                </c:pt>
              </c:numCache>
            </c:numRef>
          </c:cat>
          <c:val>
            <c:numRef>
              <c:f>'so sánh power'!$D$2:$D$5</c:f>
              <c:numCache>
                <c:formatCode>General</c:formatCode>
                <c:ptCount val="4"/>
                <c:pt idx="0">
                  <c:v>11.422000000000001</c:v>
                </c:pt>
                <c:pt idx="1">
                  <c:v>9.9090000000000007</c:v>
                </c:pt>
                <c:pt idx="2">
                  <c:v>8.61</c:v>
                </c:pt>
                <c:pt idx="3">
                  <c:v>10.308999999999999</c:v>
                </c:pt>
              </c:numCache>
            </c:numRef>
          </c:val>
          <c:smooth val="0"/>
          <c:extLst>
            <c:ext xmlns:c16="http://schemas.microsoft.com/office/drawing/2014/chart" uri="{C3380CC4-5D6E-409C-BE32-E72D297353CC}">
              <c16:uniqueId val="{00000000-2171-478A-B2B8-8C621F6489D1}"/>
            </c:ext>
          </c:extLst>
        </c:ser>
        <c:ser>
          <c:idx val="1"/>
          <c:order val="1"/>
          <c:tx>
            <c:strRef>
              <c:f>'so sánh power'!$L$1</c:f>
              <c:strCache>
                <c:ptCount val="1"/>
                <c:pt idx="0">
                  <c:v>Packet Loss Sub-6 </c:v>
                </c:pt>
              </c:strCache>
            </c:strRef>
          </c:tx>
          <c:spPr>
            <a:ln w="28575" cap="rnd">
              <a:solidFill>
                <a:schemeClr val="accent2"/>
              </a:solidFill>
              <a:round/>
            </a:ln>
            <a:effectLst/>
          </c:spPr>
          <c:marker>
            <c:symbol val="none"/>
          </c:marker>
          <c:cat>
            <c:numRef>
              <c:f>'so sánh power'!$A$2:$A$5</c:f>
              <c:numCache>
                <c:formatCode>General</c:formatCode>
                <c:ptCount val="4"/>
                <c:pt idx="0">
                  <c:v>20</c:v>
                </c:pt>
                <c:pt idx="1">
                  <c:v>22</c:v>
                </c:pt>
                <c:pt idx="2">
                  <c:v>24</c:v>
                </c:pt>
                <c:pt idx="3">
                  <c:v>26</c:v>
                </c:pt>
              </c:numCache>
            </c:numRef>
          </c:cat>
          <c:val>
            <c:numRef>
              <c:f>'so sánh power'!$L$2:$L$5</c:f>
              <c:numCache>
                <c:formatCode>General</c:formatCode>
                <c:ptCount val="4"/>
                <c:pt idx="0">
                  <c:v>13.860300000000001</c:v>
                </c:pt>
                <c:pt idx="1">
                  <c:v>13.860300000000001</c:v>
                </c:pt>
                <c:pt idx="2">
                  <c:v>13.860300000000001</c:v>
                </c:pt>
                <c:pt idx="3">
                  <c:v>13.860300000000001</c:v>
                </c:pt>
              </c:numCache>
            </c:numRef>
          </c:val>
          <c:smooth val="0"/>
          <c:extLst>
            <c:ext xmlns:c16="http://schemas.microsoft.com/office/drawing/2014/chart" uri="{C3380CC4-5D6E-409C-BE32-E72D297353CC}">
              <c16:uniqueId val="{00000001-2171-478A-B2B8-8C621F6489D1}"/>
            </c:ext>
          </c:extLst>
        </c:ser>
        <c:dLbls>
          <c:showLegendKey val="0"/>
          <c:showVal val="0"/>
          <c:showCatName val="0"/>
          <c:showSerName val="0"/>
          <c:showPercent val="0"/>
          <c:showBubbleSize val="0"/>
        </c:dLbls>
        <c:smooth val="0"/>
        <c:axId val="1174777263"/>
        <c:axId val="1174774383"/>
      </c:lineChart>
      <c:catAx>
        <c:axId val="117477726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Power (dBm)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774383"/>
        <c:crosses val="autoZero"/>
        <c:auto val="1"/>
        <c:lblAlgn val="ctr"/>
        <c:lblOffset val="100"/>
        <c:noMultiLvlLbl val="0"/>
      </c:catAx>
      <c:valAx>
        <c:axId val="1174774383"/>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Packet</a:t>
                </a:r>
                <a:r>
                  <a:rPr lang="en-US" baseline="0"/>
                  <a:t> loss (%)</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7772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Impact of Tx Power on Throughput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'so sánh power'!$E$1</c:f>
              <c:strCache>
                <c:ptCount val="1"/>
                <c:pt idx="0">
                  <c:v>Throughput mmWave</c:v>
                </c:pt>
              </c:strCache>
            </c:strRef>
          </c:tx>
          <c:spPr>
            <a:ln w="28575" cap="rnd">
              <a:solidFill>
                <a:schemeClr val="accent1"/>
              </a:solidFill>
              <a:round/>
            </a:ln>
            <a:effectLst/>
          </c:spPr>
          <c:marker>
            <c:symbol val="none"/>
          </c:marker>
          <c:cat>
            <c:numRef>
              <c:f>'so sánh power'!$A$2:$A$5</c:f>
              <c:numCache>
                <c:formatCode>General</c:formatCode>
                <c:ptCount val="4"/>
                <c:pt idx="0">
                  <c:v>20</c:v>
                </c:pt>
                <c:pt idx="1">
                  <c:v>22</c:v>
                </c:pt>
                <c:pt idx="2">
                  <c:v>24</c:v>
                </c:pt>
                <c:pt idx="3">
                  <c:v>26</c:v>
                </c:pt>
              </c:numCache>
            </c:numRef>
          </c:cat>
          <c:val>
            <c:numRef>
              <c:f>'so sánh power'!$E$2:$E$5</c:f>
              <c:numCache>
                <c:formatCode>General</c:formatCode>
                <c:ptCount val="4"/>
                <c:pt idx="0">
                  <c:v>8.9909999999999997</c:v>
                </c:pt>
                <c:pt idx="1">
                  <c:v>6.9130000000000003</c:v>
                </c:pt>
                <c:pt idx="2">
                  <c:v>7.968</c:v>
                </c:pt>
                <c:pt idx="3">
                  <c:v>8.3190000000000008</c:v>
                </c:pt>
              </c:numCache>
            </c:numRef>
          </c:val>
          <c:smooth val="0"/>
          <c:extLst>
            <c:ext xmlns:c16="http://schemas.microsoft.com/office/drawing/2014/chart" uri="{C3380CC4-5D6E-409C-BE32-E72D297353CC}">
              <c16:uniqueId val="{00000000-5F22-4A53-BD85-512F9CC1ADE2}"/>
            </c:ext>
          </c:extLst>
        </c:ser>
        <c:ser>
          <c:idx val="1"/>
          <c:order val="1"/>
          <c:tx>
            <c:strRef>
              <c:f>'so sánh power'!$M$1</c:f>
              <c:strCache>
                <c:ptCount val="1"/>
                <c:pt idx="0">
                  <c:v>Throughput Sub-6  </c:v>
                </c:pt>
              </c:strCache>
            </c:strRef>
          </c:tx>
          <c:spPr>
            <a:ln w="28575" cap="rnd">
              <a:solidFill>
                <a:schemeClr val="accent2"/>
              </a:solidFill>
              <a:round/>
            </a:ln>
            <a:effectLst/>
          </c:spPr>
          <c:marker>
            <c:symbol val="none"/>
          </c:marker>
          <c:cat>
            <c:numRef>
              <c:f>'so sánh power'!$A$2:$A$5</c:f>
              <c:numCache>
                <c:formatCode>General</c:formatCode>
                <c:ptCount val="4"/>
                <c:pt idx="0">
                  <c:v>20</c:v>
                </c:pt>
                <c:pt idx="1">
                  <c:v>22</c:v>
                </c:pt>
                <c:pt idx="2">
                  <c:v>24</c:v>
                </c:pt>
                <c:pt idx="3">
                  <c:v>26</c:v>
                </c:pt>
              </c:numCache>
            </c:numRef>
          </c:cat>
          <c:val>
            <c:numRef>
              <c:f>'so sánh power'!$M$2:$M$5</c:f>
              <c:numCache>
                <c:formatCode>General</c:formatCode>
                <c:ptCount val="4"/>
                <c:pt idx="0">
                  <c:v>8.74315</c:v>
                </c:pt>
                <c:pt idx="1">
                  <c:v>8.74315</c:v>
                </c:pt>
                <c:pt idx="2">
                  <c:v>8.74315</c:v>
                </c:pt>
                <c:pt idx="3">
                  <c:v>8.74315</c:v>
                </c:pt>
              </c:numCache>
            </c:numRef>
          </c:val>
          <c:smooth val="0"/>
          <c:extLst>
            <c:ext xmlns:c16="http://schemas.microsoft.com/office/drawing/2014/chart" uri="{C3380CC4-5D6E-409C-BE32-E72D297353CC}">
              <c16:uniqueId val="{00000001-5F22-4A53-BD85-512F9CC1ADE2}"/>
            </c:ext>
          </c:extLst>
        </c:ser>
        <c:dLbls>
          <c:showLegendKey val="0"/>
          <c:showVal val="0"/>
          <c:showCatName val="0"/>
          <c:showSerName val="0"/>
          <c:showPercent val="0"/>
          <c:showBubbleSize val="0"/>
        </c:dLbls>
        <c:smooth val="0"/>
        <c:axId val="1258096223"/>
        <c:axId val="1258098623"/>
      </c:lineChart>
      <c:catAx>
        <c:axId val="12580962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a:solidFill>
                      <a:sysClr val="windowText" lastClr="000000">
                        <a:lumMod val="65000"/>
                        <a:lumOff val="35000"/>
                      </a:sysClr>
                    </a:solidFill>
                  </a:rPr>
                  <a:t>Power (dBm)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8098623"/>
        <c:crosses val="autoZero"/>
        <c:auto val="1"/>
        <c:lblAlgn val="ctr"/>
        <c:lblOffset val="100"/>
        <c:noMultiLvlLbl val="0"/>
      </c:catAx>
      <c:valAx>
        <c:axId val="12580986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Throughput (Mbps)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8096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1/24/2026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697811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08F38-0683-9BB2-3958-4B91DFC16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38AAA-CE29-7E1B-B672-82CC23903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E5B22-5BEC-0FEF-18EB-9408B842C5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0DAAD9-44B5-4392-0B39-793869428088}"/>
              </a:ext>
            </a:extLst>
          </p:cNvPr>
          <p:cNvSpPr>
            <a:spLocks noGrp="1"/>
          </p:cNvSpPr>
          <p:nvPr>
            <p:ph type="sldNum" sz="quarter" idx="5"/>
          </p:nvPr>
        </p:nvSpPr>
        <p:spPr/>
        <p:txBody>
          <a:bodyPr/>
          <a:lstStyle/>
          <a:p>
            <a:fld id="{AB2FC7A4-3D1B-482D-8C9D-7642A2CE3076}" type="slidenum">
              <a:rPr lang="en-US" smtClean="0"/>
              <a:t>7</a:t>
            </a:fld>
            <a:endParaRPr lang="en-US"/>
          </a:p>
        </p:txBody>
      </p:sp>
    </p:spTree>
    <p:extLst>
      <p:ext uri="{BB962C8B-B14F-4D97-AF65-F5344CB8AC3E}">
        <p14:creationId xmlns:p14="http://schemas.microsoft.com/office/powerpoint/2010/main" val="3332699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11</a:t>
            </a:fld>
            <a:endParaRPr lang="en-US"/>
          </a:p>
        </p:txBody>
      </p:sp>
    </p:spTree>
    <p:extLst>
      <p:ext uri="{BB962C8B-B14F-4D97-AF65-F5344CB8AC3E}">
        <p14:creationId xmlns:p14="http://schemas.microsoft.com/office/powerpoint/2010/main" val="3716301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7FCB9-FF03-B2B4-796A-E21DFEFEE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3F648-B45C-D162-B1A8-B9003C27BB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01BA2-BAC0-C60B-6E06-4F3667C0E4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F19D53-01A4-BA7B-9C95-A499A2DE0779}"/>
              </a:ext>
            </a:extLst>
          </p:cNvPr>
          <p:cNvSpPr>
            <a:spLocks noGrp="1"/>
          </p:cNvSpPr>
          <p:nvPr>
            <p:ph type="sldNum" sz="quarter" idx="5"/>
          </p:nvPr>
        </p:nvSpPr>
        <p:spPr/>
        <p:txBody>
          <a:bodyPr/>
          <a:lstStyle/>
          <a:p>
            <a:fld id="{AB2FC7A4-3D1B-482D-8C9D-7642A2CE3076}" type="slidenum">
              <a:rPr lang="en-US" smtClean="0"/>
              <a:t>12</a:t>
            </a:fld>
            <a:endParaRPr lang="en-US"/>
          </a:p>
        </p:txBody>
      </p:sp>
    </p:spTree>
    <p:extLst>
      <p:ext uri="{BB962C8B-B14F-4D97-AF65-F5344CB8AC3E}">
        <p14:creationId xmlns:p14="http://schemas.microsoft.com/office/powerpoint/2010/main" val="2834520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169FC-E12E-737C-06AC-F44C907D7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1A218-8162-40C0-C64C-7E223FF4C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E02FE-06B6-EF4E-64E2-B4721B6CEF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B783A4-7C12-84DB-4C45-C747A77A709B}"/>
              </a:ext>
            </a:extLst>
          </p:cNvPr>
          <p:cNvSpPr>
            <a:spLocks noGrp="1"/>
          </p:cNvSpPr>
          <p:nvPr>
            <p:ph type="sldNum" sz="quarter" idx="5"/>
          </p:nvPr>
        </p:nvSpPr>
        <p:spPr/>
        <p:txBody>
          <a:bodyPr/>
          <a:lstStyle/>
          <a:p>
            <a:fld id="{AB2FC7A4-3D1B-482D-8C9D-7642A2CE3076}" type="slidenum">
              <a:rPr lang="en-US" smtClean="0"/>
              <a:t>13</a:t>
            </a:fld>
            <a:endParaRPr lang="en-US"/>
          </a:p>
        </p:txBody>
      </p:sp>
    </p:spTree>
    <p:extLst>
      <p:ext uri="{BB962C8B-B14F-4D97-AF65-F5344CB8AC3E}">
        <p14:creationId xmlns:p14="http://schemas.microsoft.com/office/powerpoint/2010/main" val="2076154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2FC7A4-3D1B-482D-8C9D-7642A2CE3076}" type="slidenum">
              <a:rPr lang="en-US" smtClean="0"/>
              <a:t>14</a:t>
            </a:fld>
            <a:endParaRPr lang="en-US"/>
          </a:p>
        </p:txBody>
      </p:sp>
    </p:spTree>
    <p:extLst>
      <p:ext uri="{BB962C8B-B14F-4D97-AF65-F5344CB8AC3E}">
        <p14:creationId xmlns:p14="http://schemas.microsoft.com/office/powerpoint/2010/main" val="2566205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5B6D3-C509-BB35-75AC-A34FA61F8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6FA28-ACDB-B298-A5A2-81165E3C2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0CABF9-FEC3-118F-A556-18F60777A2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4A1956-3B47-9DC0-FD5C-F96E5C6233A9}"/>
              </a:ext>
            </a:extLst>
          </p:cNvPr>
          <p:cNvSpPr>
            <a:spLocks noGrp="1"/>
          </p:cNvSpPr>
          <p:nvPr>
            <p:ph type="sldNum" sz="quarter" idx="5"/>
          </p:nvPr>
        </p:nvSpPr>
        <p:spPr/>
        <p:txBody>
          <a:bodyPr/>
          <a:lstStyle/>
          <a:p>
            <a:fld id="{AB2FC7A4-3D1B-482D-8C9D-7642A2CE3076}" type="slidenum">
              <a:rPr lang="en-US" smtClean="0"/>
              <a:t>23</a:t>
            </a:fld>
            <a:endParaRPr lang="en-US"/>
          </a:p>
        </p:txBody>
      </p:sp>
    </p:spTree>
    <p:extLst>
      <p:ext uri="{BB962C8B-B14F-4D97-AF65-F5344CB8AC3E}">
        <p14:creationId xmlns:p14="http://schemas.microsoft.com/office/powerpoint/2010/main" val="3337243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8357D-D59B-A3D8-823F-B3DFC81D8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7F12C-37F3-8D04-E735-224FB5F616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4619ED-9E22-4C08-7936-322BDEE515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501848-747E-D501-4D52-0C464710EE38}"/>
              </a:ext>
            </a:extLst>
          </p:cNvPr>
          <p:cNvSpPr>
            <a:spLocks noGrp="1"/>
          </p:cNvSpPr>
          <p:nvPr>
            <p:ph type="sldNum" sz="quarter" idx="5"/>
          </p:nvPr>
        </p:nvSpPr>
        <p:spPr/>
        <p:txBody>
          <a:bodyPr/>
          <a:lstStyle/>
          <a:p>
            <a:fld id="{AB2FC7A4-3D1B-482D-8C9D-7642A2CE3076}" type="slidenum">
              <a:rPr lang="en-US" smtClean="0"/>
              <a:t>24</a:t>
            </a:fld>
            <a:endParaRPr lang="en-US"/>
          </a:p>
        </p:txBody>
      </p:sp>
    </p:spTree>
    <p:extLst>
      <p:ext uri="{BB962C8B-B14F-4D97-AF65-F5344CB8AC3E}">
        <p14:creationId xmlns:p14="http://schemas.microsoft.com/office/powerpoint/2010/main" val="2455870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ECA51-AB06-9059-B636-959D2C228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8A6E3-C8DF-C6C1-CE3A-1C0A19036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7E489-3453-CA0B-C4A9-20D98188E8AE}"/>
              </a:ext>
            </a:extLst>
          </p:cNvPr>
          <p:cNvSpPr>
            <a:spLocks noGrp="1"/>
          </p:cNvSpPr>
          <p:nvPr>
            <p:ph type="body" idx="1"/>
          </p:nvPr>
        </p:nvSpPr>
        <p:spPr/>
        <p:txBody>
          <a:bodyPr/>
          <a:lstStyle/>
          <a:p>
            <a:r>
              <a:rPr lang="en-US" b="1" dirty="0"/>
              <a:t>Jitter</a:t>
            </a:r>
            <a:r>
              <a:rPr lang="en-US" dirty="0"/>
              <a:t> </a:t>
            </a:r>
            <a:r>
              <a:rPr lang="en-US" dirty="0" err="1"/>
              <a:t>là</a:t>
            </a:r>
            <a:r>
              <a:rPr lang="en-US" dirty="0"/>
              <a:t> </a:t>
            </a:r>
            <a:r>
              <a:rPr lang="en-US" dirty="0" err="1"/>
              <a:t>sự</a:t>
            </a:r>
            <a:r>
              <a:rPr lang="en-US" dirty="0"/>
              <a:t> </a:t>
            </a:r>
            <a:r>
              <a:rPr lang="en-US" b="1" dirty="0"/>
              <a:t>dao </a:t>
            </a:r>
            <a:r>
              <a:rPr lang="en-US" b="1" dirty="0" err="1"/>
              <a:t>động</a:t>
            </a:r>
            <a:r>
              <a:rPr lang="en-US" b="1" dirty="0"/>
              <a:t>/</a:t>
            </a:r>
            <a:r>
              <a:rPr lang="en-US" b="1" dirty="0" err="1"/>
              <a:t>biến</a:t>
            </a:r>
            <a:r>
              <a:rPr lang="en-US" b="1" dirty="0"/>
              <a:t> </a:t>
            </a:r>
            <a:r>
              <a:rPr lang="en-US" b="1" dirty="0" err="1"/>
              <a:t>thiên</a:t>
            </a:r>
            <a:r>
              <a:rPr lang="en-US" b="1" dirty="0"/>
              <a:t> </a:t>
            </a:r>
            <a:r>
              <a:rPr lang="en-US" b="1" dirty="0" err="1"/>
              <a:t>của</a:t>
            </a:r>
            <a:r>
              <a:rPr lang="en-US" b="1" dirty="0"/>
              <a:t> </a:t>
            </a:r>
            <a:r>
              <a:rPr lang="en-US" b="1" dirty="0" err="1"/>
              <a:t>độ</a:t>
            </a:r>
            <a:r>
              <a:rPr lang="en-US" b="1" dirty="0"/>
              <a:t> </a:t>
            </a:r>
            <a:r>
              <a:rPr lang="en-US" b="1" dirty="0" err="1"/>
              <a:t>trễ</a:t>
            </a:r>
            <a:r>
              <a:rPr lang="en-US" dirty="0"/>
              <a:t> (delay) </a:t>
            </a:r>
            <a:r>
              <a:rPr lang="en-US" dirty="0" err="1"/>
              <a:t>giữa</a:t>
            </a:r>
            <a:r>
              <a:rPr lang="en-US" dirty="0"/>
              <a:t> </a:t>
            </a:r>
            <a:r>
              <a:rPr lang="en-US" dirty="0" err="1"/>
              <a:t>các</a:t>
            </a:r>
            <a:r>
              <a:rPr lang="en-US" dirty="0"/>
              <a:t> </a:t>
            </a:r>
            <a:r>
              <a:rPr lang="en-US" dirty="0" err="1"/>
              <a:t>gói</a:t>
            </a:r>
            <a:r>
              <a:rPr lang="en-US" dirty="0"/>
              <a:t> tin </a:t>
            </a:r>
            <a:r>
              <a:rPr lang="en-US" dirty="0" err="1"/>
              <a:t>liên</a:t>
            </a:r>
            <a:r>
              <a:rPr lang="en-US" dirty="0"/>
              <a:t> </a:t>
            </a:r>
            <a:r>
              <a:rPr lang="en-US" dirty="0" err="1"/>
              <a:t>tiếp</a:t>
            </a:r>
            <a:r>
              <a:rPr lang="en-US" dirty="0"/>
              <a:t> </a:t>
            </a:r>
            <a:r>
              <a:rPr lang="en-US" dirty="0" err="1"/>
              <a:t>trong</a:t>
            </a:r>
            <a:r>
              <a:rPr lang="en-US" dirty="0"/>
              <a:t> </a:t>
            </a:r>
            <a:r>
              <a:rPr lang="en-US" dirty="0" err="1"/>
              <a:t>một</a:t>
            </a:r>
            <a:r>
              <a:rPr lang="en-US" dirty="0"/>
              <a:t> </a:t>
            </a:r>
            <a:r>
              <a:rPr lang="en-US" dirty="0" err="1"/>
              <a:t>luồng</a:t>
            </a:r>
            <a:r>
              <a:rPr lang="en-US" dirty="0"/>
              <a:t> </a:t>
            </a:r>
            <a:r>
              <a:rPr lang="en-US" dirty="0" err="1"/>
              <a:t>dữ</a:t>
            </a:r>
            <a:r>
              <a:rPr lang="en-US" dirty="0"/>
              <a:t> </a:t>
            </a:r>
            <a:r>
              <a:rPr lang="en-US" dirty="0" err="1"/>
              <a:t>liệu</a:t>
            </a:r>
            <a:endParaRPr lang="en-US" dirty="0"/>
          </a:p>
        </p:txBody>
      </p:sp>
      <p:sp>
        <p:nvSpPr>
          <p:cNvPr id="4" name="Slide Number Placeholder 3">
            <a:extLst>
              <a:ext uri="{FF2B5EF4-FFF2-40B4-BE49-F238E27FC236}">
                <a16:creationId xmlns:a16="http://schemas.microsoft.com/office/drawing/2014/main" id="{61A763A3-CA24-C34F-7303-7D352C6B5AA2}"/>
              </a:ext>
            </a:extLst>
          </p:cNvPr>
          <p:cNvSpPr>
            <a:spLocks noGrp="1"/>
          </p:cNvSpPr>
          <p:nvPr>
            <p:ph type="sldNum" sz="quarter" idx="5"/>
          </p:nvPr>
        </p:nvSpPr>
        <p:spPr/>
        <p:txBody>
          <a:bodyPr/>
          <a:lstStyle/>
          <a:p>
            <a:fld id="{AB2FC7A4-3D1B-482D-8C9D-7642A2CE3076}" type="slidenum">
              <a:rPr lang="en-US" smtClean="0"/>
              <a:t>25</a:t>
            </a:fld>
            <a:endParaRPr lang="en-US"/>
          </a:p>
        </p:txBody>
      </p:sp>
    </p:spTree>
    <p:extLst>
      <p:ext uri="{BB962C8B-B14F-4D97-AF65-F5344CB8AC3E}">
        <p14:creationId xmlns:p14="http://schemas.microsoft.com/office/powerpoint/2010/main" val="2628023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ED14C-B560-3876-145F-8223D028C2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AA1F7-0DD7-5E27-F13F-608757CBC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67A42-A322-04A5-92D1-6C1EBFB97785}"/>
              </a:ext>
            </a:extLst>
          </p:cNvPr>
          <p:cNvSpPr>
            <a:spLocks noGrp="1"/>
          </p:cNvSpPr>
          <p:nvPr>
            <p:ph type="body" idx="1"/>
          </p:nvPr>
        </p:nvSpPr>
        <p:spPr/>
        <p:txBody>
          <a:bodyPr/>
          <a:lstStyle/>
          <a:p>
            <a:r>
              <a:rPr lang="en-US" b="1" dirty="0"/>
              <a:t>Jitter</a:t>
            </a:r>
            <a:r>
              <a:rPr lang="en-US" dirty="0"/>
              <a:t> </a:t>
            </a:r>
            <a:r>
              <a:rPr lang="en-US" dirty="0" err="1"/>
              <a:t>là</a:t>
            </a:r>
            <a:r>
              <a:rPr lang="en-US" dirty="0"/>
              <a:t> </a:t>
            </a:r>
            <a:r>
              <a:rPr lang="en-US" dirty="0" err="1"/>
              <a:t>sự</a:t>
            </a:r>
            <a:r>
              <a:rPr lang="en-US" dirty="0"/>
              <a:t> </a:t>
            </a:r>
            <a:r>
              <a:rPr lang="en-US" b="1" dirty="0"/>
              <a:t>dao </a:t>
            </a:r>
            <a:r>
              <a:rPr lang="en-US" b="1" dirty="0" err="1"/>
              <a:t>động</a:t>
            </a:r>
            <a:r>
              <a:rPr lang="en-US" b="1" dirty="0"/>
              <a:t>/</a:t>
            </a:r>
            <a:r>
              <a:rPr lang="en-US" b="1" dirty="0" err="1"/>
              <a:t>biến</a:t>
            </a:r>
            <a:r>
              <a:rPr lang="en-US" b="1" dirty="0"/>
              <a:t> </a:t>
            </a:r>
            <a:r>
              <a:rPr lang="en-US" b="1" dirty="0" err="1"/>
              <a:t>thiên</a:t>
            </a:r>
            <a:r>
              <a:rPr lang="en-US" b="1" dirty="0"/>
              <a:t> </a:t>
            </a:r>
            <a:r>
              <a:rPr lang="en-US" b="1" dirty="0" err="1"/>
              <a:t>của</a:t>
            </a:r>
            <a:r>
              <a:rPr lang="en-US" b="1" dirty="0"/>
              <a:t> </a:t>
            </a:r>
            <a:r>
              <a:rPr lang="en-US" b="1" dirty="0" err="1"/>
              <a:t>độ</a:t>
            </a:r>
            <a:r>
              <a:rPr lang="en-US" b="1" dirty="0"/>
              <a:t> </a:t>
            </a:r>
            <a:r>
              <a:rPr lang="en-US" b="1" dirty="0" err="1"/>
              <a:t>trễ</a:t>
            </a:r>
            <a:r>
              <a:rPr lang="en-US" dirty="0"/>
              <a:t> (delay) </a:t>
            </a:r>
            <a:r>
              <a:rPr lang="en-US" dirty="0" err="1"/>
              <a:t>giữa</a:t>
            </a:r>
            <a:r>
              <a:rPr lang="en-US" dirty="0"/>
              <a:t> </a:t>
            </a:r>
            <a:r>
              <a:rPr lang="en-US" dirty="0" err="1"/>
              <a:t>các</a:t>
            </a:r>
            <a:r>
              <a:rPr lang="en-US" dirty="0"/>
              <a:t> </a:t>
            </a:r>
            <a:r>
              <a:rPr lang="en-US" dirty="0" err="1"/>
              <a:t>gói</a:t>
            </a:r>
            <a:r>
              <a:rPr lang="en-US" dirty="0"/>
              <a:t> tin </a:t>
            </a:r>
            <a:r>
              <a:rPr lang="en-US" dirty="0" err="1"/>
              <a:t>liên</a:t>
            </a:r>
            <a:r>
              <a:rPr lang="en-US" dirty="0"/>
              <a:t> </a:t>
            </a:r>
            <a:r>
              <a:rPr lang="en-US" dirty="0" err="1"/>
              <a:t>tiếp</a:t>
            </a:r>
            <a:r>
              <a:rPr lang="en-US" dirty="0"/>
              <a:t> </a:t>
            </a:r>
            <a:r>
              <a:rPr lang="en-US" dirty="0" err="1"/>
              <a:t>trong</a:t>
            </a:r>
            <a:r>
              <a:rPr lang="en-US" dirty="0"/>
              <a:t> </a:t>
            </a:r>
            <a:r>
              <a:rPr lang="en-US" dirty="0" err="1"/>
              <a:t>một</a:t>
            </a:r>
            <a:r>
              <a:rPr lang="en-US" dirty="0"/>
              <a:t> </a:t>
            </a:r>
            <a:r>
              <a:rPr lang="en-US" dirty="0" err="1"/>
              <a:t>luồng</a:t>
            </a:r>
            <a:r>
              <a:rPr lang="en-US" dirty="0"/>
              <a:t> </a:t>
            </a:r>
            <a:r>
              <a:rPr lang="en-US" dirty="0" err="1"/>
              <a:t>dữ</a:t>
            </a:r>
            <a:r>
              <a:rPr lang="en-US" dirty="0"/>
              <a:t> </a:t>
            </a:r>
            <a:r>
              <a:rPr lang="en-US" dirty="0" err="1"/>
              <a:t>liệu</a:t>
            </a:r>
            <a:endParaRPr lang="en-US" dirty="0"/>
          </a:p>
        </p:txBody>
      </p:sp>
      <p:sp>
        <p:nvSpPr>
          <p:cNvPr id="4" name="Slide Number Placeholder 3">
            <a:extLst>
              <a:ext uri="{FF2B5EF4-FFF2-40B4-BE49-F238E27FC236}">
                <a16:creationId xmlns:a16="http://schemas.microsoft.com/office/drawing/2014/main" id="{0FE218DB-6A55-E8A3-3DB8-FA56720B06F2}"/>
              </a:ext>
            </a:extLst>
          </p:cNvPr>
          <p:cNvSpPr>
            <a:spLocks noGrp="1"/>
          </p:cNvSpPr>
          <p:nvPr>
            <p:ph type="sldNum" sz="quarter" idx="5"/>
          </p:nvPr>
        </p:nvSpPr>
        <p:spPr/>
        <p:txBody>
          <a:bodyPr/>
          <a:lstStyle/>
          <a:p>
            <a:fld id="{AB2FC7A4-3D1B-482D-8C9D-7642A2CE3076}" type="slidenum">
              <a:rPr lang="en-US" smtClean="0"/>
              <a:t>26</a:t>
            </a:fld>
            <a:endParaRPr lang="en-US"/>
          </a:p>
        </p:txBody>
      </p:sp>
    </p:spTree>
    <p:extLst>
      <p:ext uri="{BB962C8B-B14F-4D97-AF65-F5344CB8AC3E}">
        <p14:creationId xmlns:p14="http://schemas.microsoft.com/office/powerpoint/2010/main" val="1403795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BF859-D608-1ACE-7453-283917124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A004D-FBC9-928D-0496-3262EE86B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8E16D-6993-667F-B653-C1ECC4C0FB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940A9C-153D-17F4-4C05-BEDA005C1513}"/>
              </a:ext>
            </a:extLst>
          </p:cNvPr>
          <p:cNvSpPr>
            <a:spLocks noGrp="1"/>
          </p:cNvSpPr>
          <p:nvPr>
            <p:ph type="sldNum" sz="quarter" idx="5"/>
          </p:nvPr>
        </p:nvSpPr>
        <p:spPr/>
        <p:txBody>
          <a:bodyPr/>
          <a:lstStyle/>
          <a:p>
            <a:fld id="{AB2FC7A4-3D1B-482D-8C9D-7642A2CE3076}" type="slidenum">
              <a:rPr lang="en-US" smtClean="0"/>
              <a:t>28</a:t>
            </a:fld>
            <a:endParaRPr lang="en-US"/>
          </a:p>
        </p:txBody>
      </p:sp>
    </p:spTree>
    <p:extLst>
      <p:ext uri="{BB962C8B-B14F-4D97-AF65-F5344CB8AC3E}">
        <p14:creationId xmlns:p14="http://schemas.microsoft.com/office/powerpoint/2010/main" val="1421702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1C5B-2008-8052-B4BA-753DC041A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73EF8-99DD-F926-0535-FEE1356DC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76148-B0A0-56E7-A610-C7E2152B4F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9CA636-AB5F-7DD1-2A53-CC538A1B33FE}"/>
              </a:ext>
            </a:extLst>
          </p:cNvPr>
          <p:cNvSpPr>
            <a:spLocks noGrp="1"/>
          </p:cNvSpPr>
          <p:nvPr>
            <p:ph type="sldNum" sz="quarter" idx="5"/>
          </p:nvPr>
        </p:nvSpPr>
        <p:spPr/>
        <p:txBody>
          <a:bodyPr/>
          <a:lstStyle/>
          <a:p>
            <a:fld id="{AB2FC7A4-3D1B-482D-8C9D-7642A2CE3076}" type="slidenum">
              <a:rPr lang="en-US" smtClean="0"/>
              <a:t>29</a:t>
            </a:fld>
            <a:endParaRPr lang="en-US"/>
          </a:p>
        </p:txBody>
      </p:sp>
    </p:spTree>
    <p:extLst>
      <p:ext uri="{BB962C8B-B14F-4D97-AF65-F5344CB8AC3E}">
        <p14:creationId xmlns:p14="http://schemas.microsoft.com/office/powerpoint/2010/main" val="1208354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23964-D3D7-C56F-FEE3-03B09CEE9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B5C0E-E9C5-13C5-72A0-2B9724CB4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AC873-B040-F2EE-11C6-28A42685DD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194B46-1709-C71F-AFC4-5943EABD8F14}"/>
              </a:ext>
            </a:extLst>
          </p:cNvPr>
          <p:cNvSpPr>
            <a:spLocks noGrp="1"/>
          </p:cNvSpPr>
          <p:nvPr>
            <p:ph type="sldNum" sz="quarter" idx="5"/>
          </p:nvPr>
        </p:nvSpPr>
        <p:spPr/>
        <p:txBody>
          <a:bodyPr/>
          <a:lstStyle/>
          <a:p>
            <a:fld id="{AB2FC7A4-3D1B-482D-8C9D-7642A2CE3076}" type="slidenum">
              <a:rPr lang="en-US" smtClean="0"/>
              <a:t>30</a:t>
            </a:fld>
            <a:endParaRPr lang="en-US"/>
          </a:p>
        </p:txBody>
      </p:sp>
    </p:spTree>
    <p:extLst>
      <p:ext uri="{BB962C8B-B14F-4D97-AF65-F5344CB8AC3E}">
        <p14:creationId xmlns:p14="http://schemas.microsoft.com/office/powerpoint/2010/main" val="218869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239D7-6B05-5B08-6A88-7999E3B3D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22F1B-7371-3CF0-1D51-6C44E606B0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89F64-3DC2-1553-9D55-56988F6C9930}"/>
              </a:ext>
            </a:extLst>
          </p:cNvPr>
          <p:cNvSpPr>
            <a:spLocks noGrp="1"/>
          </p:cNvSpPr>
          <p:nvPr>
            <p:ph type="body" idx="1"/>
          </p:nvPr>
        </p:nvSpPr>
        <p:spPr/>
        <p:txBody>
          <a:bodyPr/>
          <a:lstStyle/>
          <a:p>
            <a:r>
              <a:rPr lang="en-US" sz="1200" dirty="0"/>
              <a:t>- </a:t>
            </a:r>
            <a:r>
              <a:rPr lang="vi-VN" sz="1200" dirty="0"/>
              <a:t>mmWave 28 GHz thể hiện xuất sắc ở tốc độ thấp (delay &lt;1 ms, loss gần 0%), nhưng xuất hiện các khoảng outage nghiêm trọng (packet loss lên đến 96%) tại một số mức tốc độ cụ thể (15, 20, 35, 45 m/s) do hiệu ứng Doppler gây misalignment beamforming. Ngược lại, Sub-6 GHz duy trì ổn định hơn với packet loss trung bình 14–16%, phù hợp hơn cho các kịch bản UAV tốc độ cao, dù độ trễ cao hơn đáng kể."</a:t>
            </a:r>
            <a:endParaRPr lang="en-US" sz="1200" dirty="0"/>
          </a:p>
          <a:p>
            <a:r>
              <a:rPr lang="vi-VN" sz="1200" dirty="0"/>
              <a:t>Kết quả mô phỏng cho thấy băng tần mmWave 28 GHz mang lại hiệu suất vượt trội về độ trễ (dưới 1–2 ms), jitter thấp và packet loss gần 0% ở tốc độ UAV thấp đến trung bình (0–10 m/s và một số mức 25–40 m/s). Tuy nhiên, khi tốc độ tăng cao, hiệu ứng Doppler gây ra các khoảng outage nghiêm trọng với packet loss lên đến 96% tại các mức tốc độ cụ thể (15, 20, 35, 45 m/s), xuất phát từ sự giảm mạnh coherence time và khó khăn trong việc theo dõi beamforming.</a:t>
            </a:r>
          </a:p>
          <a:p>
            <a:r>
              <a:rPr lang="vi-VN" sz="1200" dirty="0"/>
              <a:t>Ngược lại, băng tần Sub-6 GHz thể hiện tính ổn định cao hơn, với packet loss dao động trong khoảng 13–16% và không xuất hiện outage đột ngột, dù độ trễ trung bình cao hơn đáng kể (khoảng 18–23 ms).</a:t>
            </a:r>
          </a:p>
          <a:p>
            <a:r>
              <a:rPr lang="vi-VN" sz="1200" dirty="0"/>
              <a:t>Kết luận: Trong các kịch bản cứu hộ UAV yêu cầu độ tin cậy cao và độ trễ cực thấp (URLLC cho C2), mmWave chỉ phù hợp khi tốc độ UAV được kiểm soát ở mức thấp hoặc khi có cơ chế beam tracking tiên tiến. Đối với UAV tốc độ cao (&gt;20–30 m/s), Sub-6 GHz là lựa chọn đáng tin cậy hơn, dù phải đánh đổi về độ trễ và throughput.</a:t>
            </a:r>
          </a:p>
          <a:p>
            <a:endParaRPr lang="en-US" dirty="0"/>
          </a:p>
        </p:txBody>
      </p:sp>
      <p:sp>
        <p:nvSpPr>
          <p:cNvPr id="4" name="Slide Number Placeholder 3">
            <a:extLst>
              <a:ext uri="{FF2B5EF4-FFF2-40B4-BE49-F238E27FC236}">
                <a16:creationId xmlns:a16="http://schemas.microsoft.com/office/drawing/2014/main" id="{D1020B2C-4565-70A7-A775-6AFFEA70966E}"/>
              </a:ext>
            </a:extLst>
          </p:cNvPr>
          <p:cNvSpPr>
            <a:spLocks noGrp="1"/>
          </p:cNvSpPr>
          <p:nvPr>
            <p:ph type="sldNum" sz="quarter" idx="5"/>
          </p:nvPr>
        </p:nvSpPr>
        <p:spPr/>
        <p:txBody>
          <a:bodyPr/>
          <a:lstStyle/>
          <a:p>
            <a:fld id="{AB2FC7A4-3D1B-482D-8C9D-7642A2CE3076}" type="slidenum">
              <a:rPr lang="en-US" smtClean="0"/>
              <a:t>31</a:t>
            </a:fld>
            <a:endParaRPr lang="en-US"/>
          </a:p>
        </p:txBody>
      </p:sp>
    </p:spTree>
    <p:extLst>
      <p:ext uri="{BB962C8B-B14F-4D97-AF65-F5344CB8AC3E}">
        <p14:creationId xmlns:p14="http://schemas.microsoft.com/office/powerpoint/2010/main" val="59248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EC41B-4182-41A7-74A7-FDC10726D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2C7AA-22AA-90DC-F565-23723C3F4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C2967-E84F-948E-530D-5EC3BE79CA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34654C-67B0-0F51-58F0-C92D8EF0E779}"/>
              </a:ext>
            </a:extLst>
          </p:cNvPr>
          <p:cNvSpPr>
            <a:spLocks noGrp="1"/>
          </p:cNvSpPr>
          <p:nvPr>
            <p:ph type="sldNum" sz="quarter" idx="5"/>
          </p:nvPr>
        </p:nvSpPr>
        <p:spPr/>
        <p:txBody>
          <a:bodyPr/>
          <a:lstStyle/>
          <a:p>
            <a:fld id="{AB2FC7A4-3D1B-482D-8C9D-7642A2CE3076}" type="slidenum">
              <a:rPr lang="en-US" smtClean="0"/>
              <a:t>32</a:t>
            </a:fld>
            <a:endParaRPr lang="en-US"/>
          </a:p>
        </p:txBody>
      </p:sp>
    </p:spTree>
    <p:extLst>
      <p:ext uri="{BB962C8B-B14F-4D97-AF65-F5344CB8AC3E}">
        <p14:creationId xmlns:p14="http://schemas.microsoft.com/office/powerpoint/2010/main" val="3078178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4D39D-A3CE-FFC0-F23F-6B2760CA2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34CA6-B51A-1B1E-8C4A-68B1533B3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9F4F3-FCE2-197E-7FEA-8394F7BC4A43}"/>
              </a:ext>
            </a:extLst>
          </p:cNvPr>
          <p:cNvSpPr>
            <a:spLocks noGrp="1"/>
          </p:cNvSpPr>
          <p:nvPr>
            <p:ph type="body" idx="1"/>
          </p:nvPr>
        </p:nvSpPr>
        <p:spPr/>
        <p:txBody>
          <a:bodyPr/>
          <a:lstStyle/>
          <a:p>
            <a:r>
              <a:rPr lang="vi-VN" dirty="0">
                <a:effectLst/>
              </a:rPr>
              <a:t>Kết quả mô phỏng về tác động của độ cao UAV cho thấy băng tần </a:t>
            </a:r>
            <a:r>
              <a:rPr lang="vi-VN" b="1" dirty="0">
                <a:effectLst/>
              </a:rPr>
              <a:t>mmWave 28 GHz</a:t>
            </a:r>
            <a:r>
              <a:rPr lang="vi-VN" dirty="0">
                <a:effectLst/>
              </a:rPr>
              <a:t> đạt hiệu suất vượt trội ở độ cao thấp (1.5–10 m) và một số mức trung bình (50–80 m) với độ trễ dưới 1 ms, jitter thấp và packet loss gần 0%. Tuy nhiên, khi độ cao tăng lên 20–40 m, pathloss tăng mạnh kết hợp với góc nâng lớn dẫn đến outage nghiêm trọng (packet loss 49–82%), throughput giảm mạnh. Ở độ cao rất cao (&gt;100 m), liên kết gần như mất hoàn toàn (loss ~99.99%, throughput = 0), thể hiện sự nhạy cảm cao của mmWave với khoảng cách và môi trường không gian mở.</a:t>
            </a:r>
          </a:p>
          <a:p>
            <a:r>
              <a:rPr lang="vi-VN" dirty="0">
                <a:effectLst/>
              </a:rPr>
              <a:t>Ngược lại, </a:t>
            </a:r>
            <a:r>
              <a:rPr lang="vi-VN" b="1" dirty="0">
                <a:effectLst/>
              </a:rPr>
              <a:t>Sub-6 GHz</a:t>
            </a:r>
            <a:r>
              <a:rPr lang="vi-VN" dirty="0">
                <a:effectLst/>
              </a:rPr>
              <a:t> duy trì hiệu suất ổn định ở hầu hết các độ cao, với packet loss chỉ khoảng 0–0.01% (trừ một điểm outage tạm thời tại 40 m), độ trễ trung bình 1–3 ms và throughput ổn định. Điều này xuất phát từ tần số thấp hơn giúp giảm pathloss và ít bị ảnh hưởng bởi góc nâng.</a:t>
            </a:r>
          </a:p>
          <a:p>
            <a:r>
              <a:rPr lang="vi-VN" dirty="0">
                <a:effectLst/>
              </a:rPr>
              <a:t>Kết luận: Trong các ứng dụng cứu hộ UAV yêu cầu độ trễ cực thấp và độ tin cậy cao (URLLC cho C2), mmWave chỉ phù hợp khi UAV hoạt động ở độ cao thấp đến trung bình. Đối với các kịch bản cần hoạt động ở độ cao lớn và đa dạng, Sub-6 GHz là lựa chọn đáng tin cậy và an toàn hơn, dù phải chấp nhận độ trễ cao hơn một chút.</a:t>
            </a:r>
          </a:p>
          <a:p>
            <a:endParaRPr lang="en-US" sz="1200" dirty="0"/>
          </a:p>
          <a:p>
            <a:endParaRPr lang="en-US" dirty="0"/>
          </a:p>
        </p:txBody>
      </p:sp>
      <p:sp>
        <p:nvSpPr>
          <p:cNvPr id="4" name="Slide Number Placeholder 3">
            <a:extLst>
              <a:ext uri="{FF2B5EF4-FFF2-40B4-BE49-F238E27FC236}">
                <a16:creationId xmlns:a16="http://schemas.microsoft.com/office/drawing/2014/main" id="{97DE3CB9-60B3-5A63-699E-A4FBA2486ADA}"/>
              </a:ext>
            </a:extLst>
          </p:cNvPr>
          <p:cNvSpPr>
            <a:spLocks noGrp="1"/>
          </p:cNvSpPr>
          <p:nvPr>
            <p:ph type="sldNum" sz="quarter" idx="5"/>
          </p:nvPr>
        </p:nvSpPr>
        <p:spPr/>
        <p:txBody>
          <a:bodyPr/>
          <a:lstStyle/>
          <a:p>
            <a:fld id="{AB2FC7A4-3D1B-482D-8C9D-7642A2CE3076}" type="slidenum">
              <a:rPr lang="en-US" smtClean="0"/>
              <a:t>33</a:t>
            </a:fld>
            <a:endParaRPr lang="en-US"/>
          </a:p>
        </p:txBody>
      </p:sp>
    </p:spTree>
    <p:extLst>
      <p:ext uri="{BB962C8B-B14F-4D97-AF65-F5344CB8AC3E}">
        <p14:creationId xmlns:p14="http://schemas.microsoft.com/office/powerpoint/2010/main" val="31439343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CD84-48D3-D6A2-1476-18DC08322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EB830-2D18-FB6A-0E98-4E8929623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AE6A24-1D97-9A67-2A34-BE5C0641270B}"/>
              </a:ext>
            </a:extLst>
          </p:cNvPr>
          <p:cNvSpPr>
            <a:spLocks noGrp="1"/>
          </p:cNvSpPr>
          <p:nvPr>
            <p:ph type="body" idx="1"/>
          </p:nvPr>
        </p:nvSpPr>
        <p:spPr/>
        <p:txBody>
          <a:bodyPr/>
          <a:lstStyle/>
          <a:p>
            <a:r>
              <a:rPr lang="vi-VN" dirty="0"/>
              <a:t>Công suất gNB thực tế trong 5G:</a:t>
            </a:r>
          </a:p>
          <a:p>
            <a:pPr lvl="1"/>
            <a:r>
              <a:rPr lang="vi-VN" dirty="0"/>
              <a:t>Macro gNB: thường 30–46 dBm (tùy băng tần và quốc gia).</a:t>
            </a:r>
          </a:p>
          <a:p>
            <a:pPr lvl="1"/>
            <a:r>
              <a:rPr lang="vi-VN" dirty="0"/>
              <a:t>mmWave small cell/private network: thường 35–40 dBm.</a:t>
            </a:r>
          </a:p>
          <a:p>
            <a:r>
              <a:rPr lang="vi-VN" dirty="0"/>
              <a:t>36 dBm là mức </a:t>
            </a:r>
            <a:r>
              <a:rPr lang="vi-VN" b="1" dirty="0"/>
              <a:t>thực tế phổ biến</a:t>
            </a:r>
            <a:r>
              <a:rPr lang="vi-VN" dirty="0"/>
              <a:t> cho private network/emergency deployment (không quá cao để tránh nhiễu, nhưng đủ phủ sóng).</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Lý do </a:t>
            </a:r>
            <a:r>
              <a:rPr lang="en-US" sz="1200" kern="1200" dirty="0" err="1">
                <a:solidFill>
                  <a:schemeClr val="tx1"/>
                </a:solidFill>
                <a:effectLst/>
                <a:latin typeface="+mn-lt"/>
                <a:ea typeface="+mn-ea"/>
                <a:cs typeface="+mn-cs"/>
              </a:rPr>
              <a:t>lựa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gNB</a:t>
            </a:r>
            <a:r>
              <a:rPr lang="en-US" sz="1200" b="1" kern="1200" dirty="0">
                <a:solidFill>
                  <a:schemeClr val="tx1"/>
                </a:solidFill>
                <a:effectLst/>
                <a:latin typeface="+mn-lt"/>
                <a:ea typeface="+mn-ea"/>
                <a:cs typeface="+mn-cs"/>
              </a:rPr>
              <a:t> Tx Power = 36dBm </a:t>
            </a:r>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ddienj</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vẫn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thấy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biệt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rõ</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rệt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giảm</a:t>
            </a:r>
            <a:r>
              <a:rPr lang="en-US" sz="1200" kern="1200" dirty="0">
                <a:solidFill>
                  <a:schemeClr val="tx1"/>
                </a:solidFill>
                <a:effectLst/>
                <a:latin typeface="+mn-lt"/>
                <a:ea typeface="+mn-ea"/>
                <a:cs typeface="+mn-cs"/>
              </a:rPr>
              <a:t> UE </a:t>
            </a:r>
            <a:r>
              <a:rPr lang="en-US" sz="1200" kern="1200" dirty="0" err="1">
                <a:solidFill>
                  <a:schemeClr val="tx1"/>
                </a:solidFill>
                <a:effectLst/>
                <a:latin typeface="+mn-lt"/>
                <a:ea typeface="+mn-ea"/>
                <a:cs typeface="+mn-cs"/>
              </a:rPr>
              <a:t>TxPower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thấy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ảnh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hưởng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UE Tx Power – drone pin </a:t>
            </a:r>
            <a:r>
              <a:rPr lang="en-US" sz="1200" kern="1200" dirty="0" err="1">
                <a:solidFill>
                  <a:schemeClr val="tx1"/>
                </a:solidFill>
                <a:effectLst/>
                <a:latin typeface="+mn-lt"/>
                <a:ea typeface="+mn-ea"/>
                <a:cs typeface="+mn-cs"/>
              </a:rPr>
              <a:t>yếu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suất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phổ</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5G (</a:t>
            </a:r>
            <a:r>
              <a:rPr lang="en-US" sz="1200" kern="1200" dirty="0" err="1">
                <a:solidFill>
                  <a:schemeClr val="tx1"/>
                </a:solidFill>
                <a:effectLst/>
                <a:latin typeface="+mn-lt"/>
                <a:ea typeface="+mn-ea"/>
                <a:cs typeface="+mn-cs"/>
              </a:rPr>
              <a:t>vừa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sóng</a:t>
            </a:r>
            <a:r>
              <a:rPr lang="en-US" sz="1200" kern="1200" dirty="0">
                <a:solidFill>
                  <a:schemeClr val="tx1"/>
                </a:solidFill>
                <a:effectLst/>
                <a:latin typeface="+mn-lt"/>
                <a:ea typeface="+mn-ea"/>
                <a:cs typeface="+mn-cs"/>
              </a:rPr>
              <a:t>).</a:t>
            </a:r>
          </a:p>
          <a:p>
            <a:endParaRPr lang="vi-VN" dirty="0"/>
          </a:p>
          <a:p>
            <a:endParaRPr lang="en-US" dirty="0"/>
          </a:p>
        </p:txBody>
      </p:sp>
      <p:sp>
        <p:nvSpPr>
          <p:cNvPr id="4" name="Slide Number Placeholder 3">
            <a:extLst>
              <a:ext uri="{FF2B5EF4-FFF2-40B4-BE49-F238E27FC236}">
                <a16:creationId xmlns:a16="http://schemas.microsoft.com/office/drawing/2014/main" id="{3C9EBD2F-AB31-FFAD-CE3E-FF894D349769}"/>
              </a:ext>
            </a:extLst>
          </p:cNvPr>
          <p:cNvSpPr>
            <a:spLocks noGrp="1"/>
          </p:cNvSpPr>
          <p:nvPr>
            <p:ph type="sldNum" sz="quarter" idx="5"/>
          </p:nvPr>
        </p:nvSpPr>
        <p:spPr/>
        <p:txBody>
          <a:bodyPr/>
          <a:lstStyle/>
          <a:p>
            <a:fld id="{AB2FC7A4-3D1B-482D-8C9D-7642A2CE3076}" type="slidenum">
              <a:rPr lang="en-US" smtClean="0"/>
              <a:t>34</a:t>
            </a:fld>
            <a:endParaRPr lang="en-US"/>
          </a:p>
        </p:txBody>
      </p:sp>
    </p:spTree>
    <p:extLst>
      <p:ext uri="{BB962C8B-B14F-4D97-AF65-F5344CB8AC3E}">
        <p14:creationId xmlns:p14="http://schemas.microsoft.com/office/powerpoint/2010/main" val="1918950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1C91A-6FFE-7EE2-0B51-FF3617377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984B7-C41F-BA5D-0C59-7259C28CFF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E12676-A890-473B-684E-5C1214D247F9}"/>
              </a:ext>
            </a:extLst>
          </p:cNvPr>
          <p:cNvSpPr>
            <a:spLocks noGrp="1"/>
          </p:cNvSpPr>
          <p:nvPr>
            <p:ph type="body" idx="1"/>
          </p:nvPr>
        </p:nvSpPr>
        <p:spPr/>
        <p:txBody>
          <a:bodyPr/>
          <a:lstStyle/>
          <a:p>
            <a:r>
              <a:rPr lang="vi-VN" dirty="0">
                <a:effectLst/>
              </a:rPr>
              <a:t>Kết quả mô phỏng với gNB TxPower cố định ở 36 dBm cho thấy băng tần </a:t>
            </a:r>
            <a:r>
              <a:rPr lang="vi-VN" b="1" dirty="0">
                <a:effectLst/>
              </a:rPr>
              <a:t>mmWave 28 GHz</a:t>
            </a:r>
            <a:r>
              <a:rPr lang="vi-VN" dirty="0">
                <a:effectLst/>
              </a:rPr>
              <a:t> rất nhạy cảm với công suất phát của UE (UAV). Khi UE TxPower ở mức thấp (20–22 dBm), uplink bị suy giảm nghiêm trọng dẫn đến packet loss cao (lên đến </a:t>
            </a:r>
            <a:r>
              <a:rPr lang="en-US" dirty="0">
                <a:effectLst/>
              </a:rPr>
              <a:t>7</a:t>
            </a:r>
            <a:r>
              <a:rPr lang="vi-VN" dirty="0">
                <a:effectLst/>
              </a:rPr>
              <a:t>3.9%), độ trễ tăng vọt (15–63 ms) và throughput giảm. Việc tăng UE TxPower lên 24–26 dBm giúp cải thiện một phần (loss giảm xuống ~55–66%), nhưng vẫn chưa đạt độ tin cậy cao. Điều này xuất phát từ pathloss lớn ở tần số cao và yêu cầu SINR nghiêm ngặt cho beamforming uplink.</a:t>
            </a:r>
          </a:p>
          <a:p>
            <a:r>
              <a:rPr lang="vi-VN" dirty="0">
                <a:effectLst/>
              </a:rPr>
              <a:t>Ngược lại, </a:t>
            </a:r>
            <a:r>
              <a:rPr lang="vi-VN" b="1" dirty="0">
                <a:effectLst/>
              </a:rPr>
              <a:t>Sub-6 GHz</a:t>
            </a:r>
            <a:r>
              <a:rPr lang="vi-VN" dirty="0">
                <a:effectLst/>
              </a:rPr>
              <a:t> duy trì hiệu suất hoàn toàn ổn định ở mọi mức UE TxPower (delay ~8.6 ms, loss ~13.86%, throughput ~8.74 Mbps), chứng tỏ băng tần này có margin công suất lớn hơn và ít phụ thuộc vào TxPower UE.</a:t>
            </a:r>
          </a:p>
          <a:p>
            <a:r>
              <a:rPr lang="vi-VN" dirty="0">
                <a:effectLst/>
              </a:rPr>
              <a:t>Kết luận: Trong các ứng dụng cứu hộ UAV với công suất phát hạn chế (thường 23–26 dBm theo chuẩn 3GPP), </a:t>
            </a:r>
            <a:r>
              <a:rPr lang="vi-VN" b="1" dirty="0">
                <a:effectLst/>
              </a:rPr>
              <a:t>mmWave gặp thách thức lớn về độ tin cậy uplink</a:t>
            </a:r>
            <a:r>
              <a:rPr lang="vi-VN" dirty="0">
                <a:effectLst/>
              </a:rPr>
              <a:t> và chỉ phù hợp khi UAV được trang bị công suất phát cao hơn hoặc có cơ chế bù đắp uplink tiên tiến. </a:t>
            </a:r>
            <a:r>
              <a:rPr lang="vi-VN" b="1" dirty="0">
                <a:effectLst/>
              </a:rPr>
              <a:t>Sub-6 GHz</a:t>
            </a:r>
            <a:r>
              <a:rPr lang="vi-VN" dirty="0">
                <a:effectLst/>
              </a:rPr>
              <a:t> là lựa chọn an toàn và đáng tin cậy hơn, đặc biệt trong điều kiện UAV có nguồn năng lượng hạn chế.</a:t>
            </a:r>
          </a:p>
          <a:p>
            <a:endParaRPr lang="en-US" sz="1200" dirty="0"/>
          </a:p>
        </p:txBody>
      </p:sp>
      <p:sp>
        <p:nvSpPr>
          <p:cNvPr id="4" name="Slide Number Placeholder 3">
            <a:extLst>
              <a:ext uri="{FF2B5EF4-FFF2-40B4-BE49-F238E27FC236}">
                <a16:creationId xmlns:a16="http://schemas.microsoft.com/office/drawing/2014/main" id="{3E35741B-94D2-3415-A512-CAF27734F1CF}"/>
              </a:ext>
            </a:extLst>
          </p:cNvPr>
          <p:cNvSpPr>
            <a:spLocks noGrp="1"/>
          </p:cNvSpPr>
          <p:nvPr>
            <p:ph type="sldNum" sz="quarter" idx="5"/>
          </p:nvPr>
        </p:nvSpPr>
        <p:spPr/>
        <p:txBody>
          <a:bodyPr/>
          <a:lstStyle/>
          <a:p>
            <a:fld id="{AB2FC7A4-3D1B-482D-8C9D-7642A2CE3076}" type="slidenum">
              <a:rPr lang="en-US" smtClean="0"/>
              <a:t>35</a:t>
            </a:fld>
            <a:endParaRPr lang="en-US"/>
          </a:p>
        </p:txBody>
      </p:sp>
    </p:spTree>
    <p:extLst>
      <p:ext uri="{BB962C8B-B14F-4D97-AF65-F5344CB8AC3E}">
        <p14:creationId xmlns:p14="http://schemas.microsoft.com/office/powerpoint/2010/main" val="514711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26FED-E096-2447-2D16-55E3ACC7B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450E9-337D-1C76-92FF-F53BA89B1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F0271-DF08-4EA9-1E13-CCC70605CC0D}"/>
              </a:ext>
            </a:extLst>
          </p:cNvPr>
          <p:cNvSpPr>
            <a:spLocks noGrp="1"/>
          </p:cNvSpPr>
          <p:nvPr>
            <p:ph type="body" idx="1"/>
          </p:nvPr>
        </p:nvSpPr>
        <p:spPr/>
        <p:txBody>
          <a:bodyPr/>
          <a:lstStyle/>
          <a:p>
            <a:endParaRPr lang="en-US" dirty="0">
              <a:effectLst/>
            </a:endParaRPr>
          </a:p>
        </p:txBody>
      </p:sp>
      <p:sp>
        <p:nvSpPr>
          <p:cNvPr id="4" name="Slide Number Placeholder 3">
            <a:extLst>
              <a:ext uri="{FF2B5EF4-FFF2-40B4-BE49-F238E27FC236}">
                <a16:creationId xmlns:a16="http://schemas.microsoft.com/office/drawing/2014/main" id="{D7C0BE52-72CD-FF60-E00C-782055E306E8}"/>
              </a:ext>
            </a:extLst>
          </p:cNvPr>
          <p:cNvSpPr>
            <a:spLocks noGrp="1"/>
          </p:cNvSpPr>
          <p:nvPr>
            <p:ph type="sldNum" sz="quarter" idx="5"/>
          </p:nvPr>
        </p:nvSpPr>
        <p:spPr/>
        <p:txBody>
          <a:bodyPr/>
          <a:lstStyle/>
          <a:p>
            <a:fld id="{AB2FC7A4-3D1B-482D-8C9D-7642A2CE3076}" type="slidenum">
              <a:rPr lang="en-US" smtClean="0"/>
              <a:t>36</a:t>
            </a:fld>
            <a:endParaRPr lang="en-US"/>
          </a:p>
        </p:txBody>
      </p:sp>
    </p:spTree>
    <p:extLst>
      <p:ext uri="{BB962C8B-B14F-4D97-AF65-F5344CB8AC3E}">
        <p14:creationId xmlns:p14="http://schemas.microsoft.com/office/powerpoint/2010/main" val="721991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6F1F3-AB48-256A-76EA-13DF732EB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6BD71-9EF5-A458-B112-490E4913E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99EAE-DBBA-1508-473E-EB9A72F52D46}"/>
              </a:ext>
            </a:extLst>
          </p:cNvPr>
          <p:cNvSpPr>
            <a:spLocks noGrp="1"/>
          </p:cNvSpPr>
          <p:nvPr>
            <p:ph type="body" idx="1"/>
          </p:nvPr>
        </p:nvSpPr>
        <p:spPr/>
        <p:txBody>
          <a:bodyPr/>
          <a:lstStyle/>
          <a:p>
            <a:endParaRPr lang="en-US" dirty="0">
              <a:effectLst/>
            </a:endParaRPr>
          </a:p>
        </p:txBody>
      </p:sp>
      <p:sp>
        <p:nvSpPr>
          <p:cNvPr id="4" name="Slide Number Placeholder 3">
            <a:extLst>
              <a:ext uri="{FF2B5EF4-FFF2-40B4-BE49-F238E27FC236}">
                <a16:creationId xmlns:a16="http://schemas.microsoft.com/office/drawing/2014/main" id="{6C705AAA-73EE-B0E0-4BDB-324358170EA0}"/>
              </a:ext>
            </a:extLst>
          </p:cNvPr>
          <p:cNvSpPr>
            <a:spLocks noGrp="1"/>
          </p:cNvSpPr>
          <p:nvPr>
            <p:ph type="sldNum" sz="quarter" idx="5"/>
          </p:nvPr>
        </p:nvSpPr>
        <p:spPr/>
        <p:txBody>
          <a:bodyPr/>
          <a:lstStyle/>
          <a:p>
            <a:fld id="{AB2FC7A4-3D1B-482D-8C9D-7642A2CE3076}" type="slidenum">
              <a:rPr lang="en-US" smtClean="0"/>
              <a:t>37</a:t>
            </a:fld>
            <a:endParaRPr lang="en-US"/>
          </a:p>
        </p:txBody>
      </p:sp>
    </p:spTree>
    <p:extLst>
      <p:ext uri="{BB962C8B-B14F-4D97-AF65-F5344CB8AC3E}">
        <p14:creationId xmlns:p14="http://schemas.microsoft.com/office/powerpoint/2010/main" val="8565561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1320D-E970-534E-0267-83FA2879D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92B61-4386-F2DA-F932-F007D15912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565E4-48C5-73A3-674E-A5F78CF79F4E}"/>
              </a:ext>
            </a:extLst>
          </p:cNvPr>
          <p:cNvSpPr>
            <a:spLocks noGrp="1"/>
          </p:cNvSpPr>
          <p:nvPr>
            <p:ph type="body" idx="1"/>
          </p:nvPr>
        </p:nvSpPr>
        <p:spPr/>
        <p:txBody>
          <a:bodyPr/>
          <a:lstStyle/>
          <a:p>
            <a:endParaRPr lang="en-US" dirty="0">
              <a:effectLst/>
            </a:endParaRPr>
          </a:p>
        </p:txBody>
      </p:sp>
      <p:sp>
        <p:nvSpPr>
          <p:cNvPr id="4" name="Slide Number Placeholder 3">
            <a:extLst>
              <a:ext uri="{FF2B5EF4-FFF2-40B4-BE49-F238E27FC236}">
                <a16:creationId xmlns:a16="http://schemas.microsoft.com/office/drawing/2014/main" id="{C7D86799-D0CB-1EDD-8EE1-C0090E1C30BE}"/>
              </a:ext>
            </a:extLst>
          </p:cNvPr>
          <p:cNvSpPr>
            <a:spLocks noGrp="1"/>
          </p:cNvSpPr>
          <p:nvPr>
            <p:ph type="sldNum" sz="quarter" idx="5"/>
          </p:nvPr>
        </p:nvSpPr>
        <p:spPr/>
        <p:txBody>
          <a:bodyPr/>
          <a:lstStyle/>
          <a:p>
            <a:fld id="{AB2FC7A4-3D1B-482D-8C9D-7642A2CE3076}" type="slidenum">
              <a:rPr lang="en-US" smtClean="0"/>
              <a:t>38</a:t>
            </a:fld>
            <a:endParaRPr lang="en-US"/>
          </a:p>
        </p:txBody>
      </p:sp>
    </p:spTree>
    <p:extLst>
      <p:ext uri="{BB962C8B-B14F-4D97-AF65-F5344CB8AC3E}">
        <p14:creationId xmlns:p14="http://schemas.microsoft.com/office/powerpoint/2010/main" val="38924966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9918E-FAB5-C1BE-9590-985DEE1A0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E463D-184E-24B1-E304-BA1112F9E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4B0A2-2D5C-8D92-2E2A-E550F41B8462}"/>
              </a:ext>
            </a:extLst>
          </p:cNvPr>
          <p:cNvSpPr>
            <a:spLocks noGrp="1"/>
          </p:cNvSpPr>
          <p:nvPr>
            <p:ph type="body" idx="1"/>
          </p:nvPr>
        </p:nvSpPr>
        <p:spPr/>
        <p:txBody>
          <a:bodyPr/>
          <a:lstStyle/>
          <a:p>
            <a:endParaRPr lang="en-US" dirty="0">
              <a:effectLst/>
            </a:endParaRPr>
          </a:p>
        </p:txBody>
      </p:sp>
      <p:sp>
        <p:nvSpPr>
          <p:cNvPr id="4" name="Slide Number Placeholder 3">
            <a:extLst>
              <a:ext uri="{FF2B5EF4-FFF2-40B4-BE49-F238E27FC236}">
                <a16:creationId xmlns:a16="http://schemas.microsoft.com/office/drawing/2014/main" id="{3B6F5965-D6EB-C6B6-170B-29777529CE62}"/>
              </a:ext>
            </a:extLst>
          </p:cNvPr>
          <p:cNvSpPr>
            <a:spLocks noGrp="1"/>
          </p:cNvSpPr>
          <p:nvPr>
            <p:ph type="sldNum" sz="quarter" idx="5"/>
          </p:nvPr>
        </p:nvSpPr>
        <p:spPr/>
        <p:txBody>
          <a:bodyPr/>
          <a:lstStyle/>
          <a:p>
            <a:fld id="{AB2FC7A4-3D1B-482D-8C9D-7642A2CE3076}" type="slidenum">
              <a:rPr lang="en-US" smtClean="0"/>
              <a:t>39</a:t>
            </a:fld>
            <a:endParaRPr lang="en-US"/>
          </a:p>
        </p:txBody>
      </p:sp>
    </p:spTree>
    <p:extLst>
      <p:ext uri="{BB962C8B-B14F-4D97-AF65-F5344CB8AC3E}">
        <p14:creationId xmlns:p14="http://schemas.microsoft.com/office/powerpoint/2010/main" val="3563942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B605C-3264-6CAE-7ED2-FFE3C7097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F3C0B-9BB7-7FEC-8B35-11E9C474F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2FDEF2-7AF9-34AF-E1FD-3E85B60561CF}"/>
              </a:ext>
            </a:extLst>
          </p:cNvPr>
          <p:cNvSpPr>
            <a:spLocks noGrp="1"/>
          </p:cNvSpPr>
          <p:nvPr>
            <p:ph type="body" idx="1"/>
          </p:nvPr>
        </p:nvSpPr>
        <p:spPr/>
        <p:txBody>
          <a:bodyPr/>
          <a:lstStyle/>
          <a:p>
            <a:endParaRPr lang="en-US" dirty="0">
              <a:effectLst/>
            </a:endParaRPr>
          </a:p>
        </p:txBody>
      </p:sp>
      <p:sp>
        <p:nvSpPr>
          <p:cNvPr id="4" name="Slide Number Placeholder 3">
            <a:extLst>
              <a:ext uri="{FF2B5EF4-FFF2-40B4-BE49-F238E27FC236}">
                <a16:creationId xmlns:a16="http://schemas.microsoft.com/office/drawing/2014/main" id="{1513EDBA-3DC9-FAF1-1F2C-37108787558D}"/>
              </a:ext>
            </a:extLst>
          </p:cNvPr>
          <p:cNvSpPr>
            <a:spLocks noGrp="1"/>
          </p:cNvSpPr>
          <p:nvPr>
            <p:ph type="sldNum" sz="quarter" idx="5"/>
          </p:nvPr>
        </p:nvSpPr>
        <p:spPr/>
        <p:txBody>
          <a:bodyPr/>
          <a:lstStyle/>
          <a:p>
            <a:fld id="{AB2FC7A4-3D1B-482D-8C9D-7642A2CE3076}" type="slidenum">
              <a:rPr lang="en-US" smtClean="0"/>
              <a:t>40</a:t>
            </a:fld>
            <a:endParaRPr lang="en-US"/>
          </a:p>
        </p:txBody>
      </p:sp>
    </p:spTree>
    <p:extLst>
      <p:ext uri="{BB962C8B-B14F-4D97-AF65-F5344CB8AC3E}">
        <p14:creationId xmlns:p14="http://schemas.microsoft.com/office/powerpoint/2010/main" val="3116915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C10D9-EF64-B795-CBC5-3890DDD4C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23F35-D831-E95C-CE4C-45EED637A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ECAB8-5E05-60EF-9502-03146107F8A7}"/>
              </a:ext>
            </a:extLst>
          </p:cNvPr>
          <p:cNvSpPr>
            <a:spLocks noGrp="1"/>
          </p:cNvSpPr>
          <p:nvPr>
            <p:ph type="body" idx="1"/>
          </p:nvPr>
        </p:nvSpPr>
        <p:spPr/>
        <p:txBody>
          <a:bodyPr/>
          <a:lstStyle/>
          <a:p>
            <a:endParaRPr lang="en-US" dirty="0">
              <a:effectLst/>
            </a:endParaRPr>
          </a:p>
        </p:txBody>
      </p:sp>
      <p:sp>
        <p:nvSpPr>
          <p:cNvPr id="4" name="Slide Number Placeholder 3">
            <a:extLst>
              <a:ext uri="{FF2B5EF4-FFF2-40B4-BE49-F238E27FC236}">
                <a16:creationId xmlns:a16="http://schemas.microsoft.com/office/drawing/2014/main" id="{82DE6ECC-10C7-9E66-092A-8DDC21E0B7D8}"/>
              </a:ext>
            </a:extLst>
          </p:cNvPr>
          <p:cNvSpPr>
            <a:spLocks noGrp="1"/>
          </p:cNvSpPr>
          <p:nvPr>
            <p:ph type="sldNum" sz="quarter" idx="5"/>
          </p:nvPr>
        </p:nvSpPr>
        <p:spPr/>
        <p:txBody>
          <a:bodyPr/>
          <a:lstStyle/>
          <a:p>
            <a:fld id="{AB2FC7A4-3D1B-482D-8C9D-7642A2CE3076}" type="slidenum">
              <a:rPr lang="en-US" smtClean="0"/>
              <a:t>41</a:t>
            </a:fld>
            <a:endParaRPr lang="en-US"/>
          </a:p>
        </p:txBody>
      </p:sp>
    </p:spTree>
    <p:extLst>
      <p:ext uri="{BB962C8B-B14F-4D97-AF65-F5344CB8AC3E}">
        <p14:creationId xmlns:p14="http://schemas.microsoft.com/office/powerpoint/2010/main" val="12693681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1/24/2026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83" r:id="rId5"/>
    <p:sldLayoutId id="2147483679" r:id="rId6"/>
    <p:sldLayoutId id="2147483680" r:id="rId7"/>
    <p:sldLayoutId id="2147483681" r:id="rId8"/>
    <p:sldLayoutId id="2147483682" r:id="rId9"/>
    <p:sldLayoutId id="214748367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resources.cradlepoint.com/private-cellular/private-cellular-buyers-guide-how-to-build-a-private-5g-or-lte-network?utm_source=cradlepoint.com&amp;utm_medium=referral&amp;utm_campaign=blog&amp;xs=422609#page=1" TargetMode="External"/><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hyperlink" Target="https://www.ericsson.com/en/private-networks#smoothdeployment"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5G private network for emergency services</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4136965"/>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Pham Thuy Linh 20240334E</a:t>
            </a:r>
          </a:p>
          <a:p>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MỤC LỤC</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r>
              <a:rPr lang="en-US" dirty="0" err="1"/>
              <a:t>Mục</a:t>
            </a:r>
            <a:r>
              <a:rPr lang="en-US" dirty="0"/>
              <a:t> </a:t>
            </a:r>
            <a:r>
              <a:rPr lang="en-US" dirty="0" err="1"/>
              <a:t>tiêu</a:t>
            </a:r>
            <a:r>
              <a:rPr lang="en-US" dirty="0"/>
              <a:t> </a:t>
            </a:r>
            <a:r>
              <a:rPr lang="en-US" dirty="0" err="1"/>
              <a:t>nghiên</a:t>
            </a:r>
            <a:r>
              <a:rPr lang="en-US" dirty="0"/>
              <a:t> </a:t>
            </a:r>
            <a:r>
              <a:rPr lang="en-US" dirty="0" err="1"/>
              <a:t>cứu</a:t>
            </a:r>
            <a:r>
              <a:rPr lang="en-US" dirty="0"/>
              <a:t> (</a:t>
            </a:r>
            <a:r>
              <a:rPr lang="en-US" dirty="0" err="1"/>
              <a:t>câu</a:t>
            </a:r>
            <a:r>
              <a:rPr lang="en-US" dirty="0"/>
              <a:t> </a:t>
            </a:r>
            <a:r>
              <a:rPr lang="en-US" dirty="0" err="1"/>
              <a:t>hỏi</a:t>
            </a:r>
            <a:r>
              <a:rPr lang="en-US" dirty="0"/>
              <a:t>)</a:t>
            </a:r>
          </a:p>
          <a:p>
            <a:r>
              <a:rPr lang="en-US" dirty="0" err="1"/>
              <a:t>Kịch</a:t>
            </a:r>
            <a:r>
              <a:rPr lang="en-US" dirty="0"/>
              <a:t> </a:t>
            </a:r>
            <a:r>
              <a:rPr lang="en-US" dirty="0" err="1"/>
              <a:t>bản</a:t>
            </a:r>
            <a:endParaRPr lang="en-US" dirty="0"/>
          </a:p>
          <a:p>
            <a:r>
              <a:rPr lang="en-US" dirty="0" err="1"/>
              <a:t>Mục</a:t>
            </a:r>
            <a:r>
              <a:rPr lang="en-US" dirty="0"/>
              <a:t> </a:t>
            </a:r>
            <a:r>
              <a:rPr lang="en-US" dirty="0" err="1"/>
              <a:t>tiêu</a:t>
            </a:r>
            <a:r>
              <a:rPr lang="en-US" dirty="0"/>
              <a:t> </a:t>
            </a:r>
            <a:r>
              <a:rPr lang="en-US" dirty="0" err="1"/>
              <a:t>kỳ</a:t>
            </a:r>
            <a:r>
              <a:rPr lang="en-US" dirty="0"/>
              <a:t> </a:t>
            </a:r>
            <a:r>
              <a:rPr lang="en-US" dirty="0" err="1"/>
              <a:t>vọng</a:t>
            </a:r>
            <a:r>
              <a:rPr lang="en-US" dirty="0"/>
              <a:t> </a:t>
            </a:r>
            <a:r>
              <a:rPr lang="en-US" dirty="0" err="1"/>
              <a:t>thông</a:t>
            </a:r>
            <a:r>
              <a:rPr lang="en-US" dirty="0"/>
              <a:t> qua </a:t>
            </a:r>
            <a:r>
              <a:rPr lang="en-US" dirty="0" err="1"/>
              <a:t>thiết</a:t>
            </a:r>
            <a:r>
              <a:rPr lang="en-US" dirty="0"/>
              <a:t> </a:t>
            </a:r>
            <a:r>
              <a:rPr lang="en-US" dirty="0" err="1"/>
              <a:t>lập</a:t>
            </a:r>
            <a:r>
              <a:rPr lang="en-US" dirty="0"/>
              <a:t> </a:t>
            </a:r>
            <a:r>
              <a:rPr lang="en-US" dirty="0" err="1"/>
              <a:t>cấu</a:t>
            </a:r>
            <a:r>
              <a:rPr lang="en-US" dirty="0"/>
              <a:t> </a:t>
            </a:r>
            <a:r>
              <a:rPr lang="en-US" dirty="0" err="1"/>
              <a:t>hình</a:t>
            </a:r>
            <a:r>
              <a:rPr lang="en-US" dirty="0"/>
              <a:t> </a:t>
            </a:r>
            <a:r>
              <a:rPr lang="en-US" dirty="0" err="1"/>
              <a:t>mô</a:t>
            </a:r>
            <a:r>
              <a:rPr lang="en-US" dirty="0"/>
              <a:t> </a:t>
            </a:r>
            <a:r>
              <a:rPr lang="en-US" dirty="0" err="1"/>
              <a:t>phỏng</a:t>
            </a:r>
            <a:endParaRPr lang="en-US" dirty="0"/>
          </a:p>
        </p:txBody>
      </p:sp>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6631F-1598-498D-DA0F-93A0157BCA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857F30-B66B-8120-1492-9B914B9D2E38}"/>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03E64008-7CD9-591E-9362-04989ACC1D6D}"/>
              </a:ext>
            </a:extLst>
          </p:cNvPr>
          <p:cNvSpPr>
            <a:spLocks noGrp="1"/>
          </p:cNvSpPr>
          <p:nvPr>
            <p:ph type="title"/>
          </p:nvPr>
        </p:nvSpPr>
        <p:spPr/>
        <p:txBody>
          <a:bodyPr/>
          <a:lstStyle/>
          <a:p>
            <a:r>
              <a:rPr lang="en-US" dirty="0"/>
              <a:t>5G Private Network vs. 5G SA ??? </a:t>
            </a:r>
          </a:p>
        </p:txBody>
      </p:sp>
      <p:graphicFrame>
        <p:nvGraphicFramePr>
          <p:cNvPr id="10" name="Table 9">
            <a:extLst>
              <a:ext uri="{FF2B5EF4-FFF2-40B4-BE49-F238E27FC236}">
                <a16:creationId xmlns:a16="http://schemas.microsoft.com/office/drawing/2014/main" id="{2985333F-4B7F-B9D0-E4C6-0001989A7390}"/>
              </a:ext>
            </a:extLst>
          </p:cNvPr>
          <p:cNvGraphicFramePr>
            <a:graphicFrameLocks noGrp="1"/>
          </p:cNvGraphicFramePr>
          <p:nvPr>
            <p:extLst>
              <p:ext uri="{D42A27DB-BD31-4B8C-83A1-F6EECF244321}">
                <p14:modId xmlns:p14="http://schemas.microsoft.com/office/powerpoint/2010/main" val="1949689967"/>
              </p:ext>
            </p:extLst>
          </p:nvPr>
        </p:nvGraphicFramePr>
        <p:xfrm>
          <a:off x="530524" y="1173216"/>
          <a:ext cx="8082951" cy="4155853"/>
        </p:xfrm>
        <a:graphic>
          <a:graphicData uri="http://schemas.openxmlformats.org/drawingml/2006/table">
            <a:tbl>
              <a:tblPr/>
              <a:tblGrid>
                <a:gridCol w="1540706">
                  <a:extLst>
                    <a:ext uri="{9D8B030D-6E8A-4147-A177-3AD203B41FA5}">
                      <a16:colId xmlns:a16="http://schemas.microsoft.com/office/drawing/2014/main" val="3966007280"/>
                    </a:ext>
                  </a:extLst>
                </a:gridCol>
                <a:gridCol w="3111825">
                  <a:extLst>
                    <a:ext uri="{9D8B030D-6E8A-4147-A177-3AD203B41FA5}">
                      <a16:colId xmlns:a16="http://schemas.microsoft.com/office/drawing/2014/main" val="2693857984"/>
                    </a:ext>
                  </a:extLst>
                </a:gridCol>
                <a:gridCol w="3430420">
                  <a:extLst>
                    <a:ext uri="{9D8B030D-6E8A-4147-A177-3AD203B41FA5}">
                      <a16:colId xmlns:a16="http://schemas.microsoft.com/office/drawing/2014/main" val="3100629333"/>
                    </a:ext>
                  </a:extLst>
                </a:gridCol>
              </a:tblGrid>
              <a:tr h="226066">
                <a:tc>
                  <a:txBody>
                    <a:bodyPr/>
                    <a:lstStyle/>
                    <a:p>
                      <a:pPr>
                        <a:buNone/>
                      </a:pPr>
                      <a:r>
                        <a:rPr lang="en-US" sz="1400" b="1" dirty="0" err="1">
                          <a:latin typeface="Lato" panose="020F0502020204030203" pitchFamily="34" charset="0"/>
                          <a:ea typeface="Lato" panose="020F0502020204030203" pitchFamily="34" charset="0"/>
                          <a:cs typeface="Lato" panose="020F0502020204030203" pitchFamily="34" charset="0"/>
                        </a:rPr>
                        <a:t>Tiêu</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chí</a:t>
                      </a:r>
                      <a:endParaRPr lang="en-US" sz="1400" dirty="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400" b="1">
                          <a:latin typeface="Lato" panose="020F0502020204030203" pitchFamily="34" charset="0"/>
                          <a:ea typeface="Lato" panose="020F0502020204030203" pitchFamily="34" charset="0"/>
                          <a:cs typeface="Lato" panose="020F0502020204030203" pitchFamily="34" charset="0"/>
                        </a:rPr>
                        <a:t>5G Private Network</a:t>
                      </a:r>
                      <a:endParaRPr lang="en-US" sz="140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en-US" sz="1400" b="1" dirty="0">
                          <a:latin typeface="Lato" panose="020F0502020204030203" pitchFamily="34" charset="0"/>
                          <a:ea typeface="Lato" panose="020F0502020204030203" pitchFamily="34" charset="0"/>
                          <a:cs typeface="Lato" panose="020F0502020204030203" pitchFamily="34" charset="0"/>
                        </a:rPr>
                        <a:t>5G Standalone (5G SA)</a:t>
                      </a:r>
                      <a:endParaRPr lang="en-US" sz="1400" dirty="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724480685"/>
                  </a:ext>
                </a:extLst>
              </a:tr>
              <a:tr h="539701">
                <a:tc>
                  <a:txBody>
                    <a:bodyPr/>
                    <a:lstStyle/>
                    <a:p>
                      <a:pPr>
                        <a:buNone/>
                      </a:pPr>
                      <a:r>
                        <a:rPr lang="en-US" sz="1400" b="1">
                          <a:latin typeface="Lato" panose="020F0502020204030203" pitchFamily="34" charset="0"/>
                          <a:ea typeface="Lato" panose="020F0502020204030203" pitchFamily="34" charset="0"/>
                          <a:cs typeface="Lato" panose="020F0502020204030203" pitchFamily="34" charset="0"/>
                        </a:rPr>
                        <a:t>Bản chất</a:t>
                      </a:r>
                      <a:endParaRPr lang="en-US" sz="140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dirty="0" err="1">
                          <a:latin typeface="Lato" panose="020F0502020204030203" pitchFamily="34" charset="0"/>
                          <a:ea typeface="Lato" panose="020F0502020204030203" pitchFamily="34" charset="0"/>
                          <a:cs typeface="Lato" panose="020F0502020204030203" pitchFamily="34" charset="0"/>
                        </a:rPr>
                        <a:t>Là</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mô</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hình</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triển</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khai</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mạ</a:t>
                      </a:r>
                      <a:r>
                        <a:rPr lang="en-US" sz="1400" b="0" dirty="0" err="1">
                          <a:latin typeface="Lato" panose="020F0502020204030203" pitchFamily="34" charset="0"/>
                          <a:ea typeface="Lato" panose="020F0502020204030203" pitchFamily="34" charset="0"/>
                          <a:cs typeface="Lato" panose="020F0502020204030203" pitchFamily="34" charset="0"/>
                        </a:rPr>
                        <a:t>ng</a:t>
                      </a:r>
                      <a:r>
                        <a:rPr lang="en-US" sz="1400" b="0" dirty="0">
                          <a:latin typeface="Lato" panose="020F0502020204030203" pitchFamily="34" charset="0"/>
                          <a:ea typeface="Lato" panose="020F0502020204030203" pitchFamily="34" charset="0"/>
                          <a:cs typeface="Lato" panose="020F0502020204030203" pitchFamily="34" charset="0"/>
                        </a:rPr>
                        <a:t> 5G </a:t>
                      </a:r>
                      <a:r>
                        <a:rPr lang="en-US" sz="1400" b="0" dirty="0" err="1">
                          <a:latin typeface="Lato" panose="020F0502020204030203" pitchFamily="34" charset="0"/>
                          <a:ea typeface="Lato" panose="020F0502020204030203" pitchFamily="34" charset="0"/>
                          <a:cs typeface="Lato" panose="020F0502020204030203" pitchFamily="34" charset="0"/>
                        </a:rPr>
                        <a:t>dành</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riêng</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cho</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một</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doanh</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nghiệp</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tổ</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chức</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hoặc</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khu</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vực</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cụ</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thể</a:t>
                      </a:r>
                      <a:r>
                        <a:rPr lang="en-US" sz="1400" b="0" dirty="0">
                          <a:latin typeface="Lato" panose="020F0502020204030203" pitchFamily="34" charset="0"/>
                          <a:ea typeface="Lato" panose="020F0502020204030203" pitchFamily="34" charset="0"/>
                          <a:cs typeface="Lato" panose="020F0502020204030203" pitchFamily="34" charset="0"/>
                        </a:rPr>
                        <a:t>.</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dirty="0" err="1">
                          <a:latin typeface="Lato" panose="020F0502020204030203" pitchFamily="34" charset="0"/>
                          <a:ea typeface="Lato" panose="020F0502020204030203" pitchFamily="34" charset="0"/>
                          <a:cs typeface="Lato" panose="020F0502020204030203" pitchFamily="34" charset="0"/>
                        </a:rPr>
                        <a:t>Là</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kiến</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trúc</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kỹ</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thuật</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của</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mạng</a:t>
                      </a:r>
                      <a:r>
                        <a:rPr lang="en-US" sz="1400" b="0" dirty="0">
                          <a:latin typeface="Lato" panose="020F0502020204030203" pitchFamily="34" charset="0"/>
                          <a:ea typeface="Lato" panose="020F0502020204030203" pitchFamily="34" charset="0"/>
                          <a:cs typeface="Lato" panose="020F0502020204030203" pitchFamily="34" charset="0"/>
                        </a:rPr>
                        <a:t> 5G, </a:t>
                      </a:r>
                      <a:r>
                        <a:rPr lang="en-US" sz="1400" b="0" dirty="0" err="1">
                          <a:latin typeface="Lato" panose="020F0502020204030203" pitchFamily="34" charset="0"/>
                          <a:ea typeface="Lato" panose="020F0502020204030203" pitchFamily="34" charset="0"/>
                          <a:cs typeface="Lato" panose="020F0502020204030203" pitchFamily="34" charset="0"/>
                        </a:rPr>
                        <a:t>trong</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đó</a:t>
                      </a:r>
                      <a:r>
                        <a:rPr lang="en-US" sz="1400" b="0" dirty="0">
                          <a:latin typeface="Lato" panose="020F0502020204030203" pitchFamily="34" charset="0"/>
                          <a:ea typeface="Lato" panose="020F0502020204030203" pitchFamily="34" charset="0"/>
                          <a:cs typeface="Lato" panose="020F0502020204030203" pitchFamily="34" charset="0"/>
                        </a:rPr>
                        <a:t> 5G RAN </a:t>
                      </a:r>
                      <a:r>
                        <a:rPr lang="en-US" sz="1400" b="0" dirty="0" err="1">
                          <a:latin typeface="Lato" panose="020F0502020204030203" pitchFamily="34" charset="0"/>
                          <a:ea typeface="Lato" panose="020F0502020204030203" pitchFamily="34" charset="0"/>
                          <a:cs typeface="Lato" panose="020F0502020204030203" pitchFamily="34" charset="0"/>
                        </a:rPr>
                        <a:t>kết</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nối</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với</a:t>
                      </a:r>
                      <a:r>
                        <a:rPr lang="en-US" sz="1400" b="0" dirty="0">
                          <a:latin typeface="Lato" panose="020F0502020204030203" pitchFamily="34" charset="0"/>
                          <a:ea typeface="Lato" panose="020F0502020204030203" pitchFamily="34" charset="0"/>
                          <a:cs typeface="Lato" panose="020F0502020204030203" pitchFamily="34" charset="0"/>
                        </a:rPr>
                        <a:t> 5G Core </a:t>
                      </a:r>
                      <a:r>
                        <a:rPr lang="en-US" sz="1400" b="0" dirty="0" err="1">
                          <a:latin typeface="Lato" panose="020F0502020204030203" pitchFamily="34" charset="0"/>
                          <a:ea typeface="Lato" panose="020F0502020204030203" pitchFamily="34" charset="0"/>
                          <a:cs typeface="Lato" panose="020F0502020204030203" pitchFamily="34" charset="0"/>
                        </a:rPr>
                        <a:t>độc</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lập</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không</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phụ</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thuộc</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vào</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mạng</a:t>
                      </a:r>
                      <a:r>
                        <a:rPr lang="en-US" sz="1400" b="0" dirty="0">
                          <a:latin typeface="Lato" panose="020F0502020204030203" pitchFamily="34" charset="0"/>
                          <a:ea typeface="Lato" panose="020F0502020204030203" pitchFamily="34" charset="0"/>
                          <a:cs typeface="Lato" panose="020F0502020204030203" pitchFamily="34" charset="0"/>
                        </a:rPr>
                        <a:t> 4G.</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133628"/>
                  </a:ext>
                </a:extLst>
              </a:tr>
              <a:tr h="539701">
                <a:tc>
                  <a:txBody>
                    <a:bodyPr/>
                    <a:lstStyle/>
                    <a:p>
                      <a:pPr>
                        <a:buNone/>
                      </a:pPr>
                      <a:r>
                        <a:rPr lang="en-US" sz="1400" b="1" dirty="0" err="1">
                          <a:latin typeface="Lato" panose="020F0502020204030203" pitchFamily="34" charset="0"/>
                          <a:ea typeface="Lato" panose="020F0502020204030203" pitchFamily="34" charset="0"/>
                          <a:cs typeface="Lato" panose="020F0502020204030203" pitchFamily="34" charset="0"/>
                        </a:rPr>
                        <a:t>Chủ</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sở</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hữu</a:t>
                      </a:r>
                      <a:r>
                        <a:rPr lang="en-US" sz="1400" b="1" dirty="0">
                          <a:latin typeface="Lato" panose="020F0502020204030203" pitchFamily="34" charset="0"/>
                          <a:ea typeface="Lato" panose="020F0502020204030203" pitchFamily="34" charset="0"/>
                          <a:cs typeface="Lato" panose="020F0502020204030203" pitchFamily="34" charset="0"/>
                        </a:rPr>
                        <a:t> &amp; </a:t>
                      </a:r>
                      <a:r>
                        <a:rPr lang="en-US" sz="1400" b="1" dirty="0" err="1">
                          <a:latin typeface="Lato" panose="020F0502020204030203" pitchFamily="34" charset="0"/>
                          <a:ea typeface="Lato" panose="020F0502020204030203" pitchFamily="34" charset="0"/>
                          <a:cs typeface="Lato" panose="020F0502020204030203" pitchFamily="34" charset="0"/>
                        </a:rPr>
                        <a:t>vận</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hành</a:t>
                      </a:r>
                      <a:endParaRPr lang="en-US" sz="1400" dirty="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dirty="0">
                          <a:latin typeface="Lato" panose="020F0502020204030203" pitchFamily="34" charset="0"/>
                          <a:ea typeface="Lato" panose="020F0502020204030203" pitchFamily="34" charset="0"/>
                          <a:cs typeface="Lato" panose="020F0502020204030203" pitchFamily="34" charset="0"/>
                        </a:rPr>
                        <a:t>Doanh </a:t>
                      </a:r>
                      <a:r>
                        <a:rPr lang="en-US" sz="1400" b="0" dirty="0" err="1">
                          <a:latin typeface="Lato" panose="020F0502020204030203" pitchFamily="34" charset="0"/>
                          <a:ea typeface="Lato" panose="020F0502020204030203" pitchFamily="34" charset="0"/>
                          <a:cs typeface="Lato" panose="020F0502020204030203" pitchFamily="34" charset="0"/>
                        </a:rPr>
                        <a:t>nghiệp</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tổ</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chức</a:t>
                      </a:r>
                      <a:endParaRPr lang="en-US" sz="1400" b="0" dirty="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dirty="0">
                          <a:latin typeface="Lato" panose="020F0502020204030203" pitchFamily="34" charset="0"/>
                          <a:ea typeface="Lato" panose="020F0502020204030203" pitchFamily="34" charset="0"/>
                          <a:cs typeface="Lato" panose="020F0502020204030203" pitchFamily="34" charset="0"/>
                        </a:rPr>
                        <a:t>N</a:t>
                      </a:r>
                      <a:r>
                        <a:rPr lang="vi-VN" sz="1400" b="0" dirty="0">
                          <a:latin typeface="Lato" panose="020F0502020204030203" pitchFamily="34" charset="0"/>
                          <a:ea typeface="Lato" panose="020F0502020204030203" pitchFamily="34" charset="0"/>
                          <a:cs typeface="Lato" panose="020F0502020204030203" pitchFamily="34" charset="0"/>
                        </a:rPr>
                        <a:t>hà mạng (operator)</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1801361"/>
                  </a:ext>
                </a:extLst>
              </a:tr>
              <a:tr h="539701">
                <a:tc>
                  <a:txBody>
                    <a:bodyPr/>
                    <a:lstStyle/>
                    <a:p>
                      <a:pPr>
                        <a:buNone/>
                      </a:pPr>
                      <a:r>
                        <a:rPr lang="en-US" sz="1400" b="1" dirty="0" err="1">
                          <a:latin typeface="Lato" panose="020F0502020204030203" pitchFamily="34" charset="0"/>
                          <a:ea typeface="Lato" panose="020F0502020204030203" pitchFamily="34" charset="0"/>
                          <a:cs typeface="Lato" panose="020F0502020204030203" pitchFamily="34" charset="0"/>
                        </a:rPr>
                        <a:t>Cấu</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trúc</a:t>
                      </a:r>
                      <a:r>
                        <a:rPr lang="en-US" sz="1400" b="1" dirty="0">
                          <a:latin typeface="Lato" panose="020F0502020204030203" pitchFamily="34" charset="0"/>
                          <a:ea typeface="Lato" panose="020F0502020204030203" pitchFamily="34" charset="0"/>
                          <a:cs typeface="Lato" panose="020F0502020204030203" pitchFamily="34" charset="0"/>
                        </a:rPr>
                        <a:t> </a:t>
                      </a:r>
                      <a:r>
                        <a:rPr lang="en-US" sz="1400" b="1" dirty="0" err="1">
                          <a:latin typeface="Lato" panose="020F0502020204030203" pitchFamily="34" charset="0"/>
                          <a:ea typeface="Lato" panose="020F0502020204030203" pitchFamily="34" charset="0"/>
                          <a:cs typeface="Lato" panose="020F0502020204030203" pitchFamily="34" charset="0"/>
                        </a:rPr>
                        <a:t>mạng</a:t>
                      </a:r>
                      <a:endParaRPr lang="en-US" sz="1400" dirty="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400" b="0" dirty="0">
                          <a:latin typeface="Lato" panose="020F0502020204030203" pitchFamily="34" charset="0"/>
                          <a:ea typeface="Lato" panose="020F0502020204030203" pitchFamily="34" charset="0"/>
                          <a:cs typeface="Lato" panose="020F0502020204030203" pitchFamily="34" charset="0"/>
                        </a:rPr>
                        <a:t>Có thể triển khai dưới dạng 5G SA hoặc 5G NSA, nhưng phần lớn dùng SA để độc lập hoàn toàn.</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dirty="0" err="1">
                          <a:latin typeface="Lato" panose="020F0502020204030203" pitchFamily="34" charset="0"/>
                          <a:ea typeface="Lato" panose="020F0502020204030203" pitchFamily="34" charset="0"/>
                          <a:cs typeface="Lato" panose="020F0502020204030203" pitchFamily="34" charset="0"/>
                        </a:rPr>
                        <a:t>Là</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kiến</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trúc</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mạng</a:t>
                      </a:r>
                      <a:r>
                        <a:rPr lang="en-US" sz="1400" b="0" dirty="0">
                          <a:latin typeface="Lato" panose="020F0502020204030203" pitchFamily="34" charset="0"/>
                          <a:ea typeface="Lato" panose="020F0502020204030203" pitchFamily="34" charset="0"/>
                          <a:cs typeface="Lato" panose="020F0502020204030203" pitchFamily="34" charset="0"/>
                        </a:rPr>
                        <a:t> 5G </a:t>
                      </a:r>
                      <a:r>
                        <a:rPr lang="en-US" sz="1400" b="0" dirty="0" err="1">
                          <a:latin typeface="Lato" panose="020F0502020204030203" pitchFamily="34" charset="0"/>
                          <a:ea typeface="Lato" panose="020F0502020204030203" pitchFamily="34" charset="0"/>
                          <a:cs typeface="Lato" panose="020F0502020204030203" pitchFamily="34" charset="0"/>
                        </a:rPr>
                        <a:t>thuần</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túy</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gồm</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gNodeB</a:t>
                      </a:r>
                      <a:r>
                        <a:rPr lang="en-US" sz="1400" b="0" dirty="0">
                          <a:latin typeface="Lato" panose="020F0502020204030203" pitchFamily="34" charset="0"/>
                          <a:ea typeface="Lato" panose="020F0502020204030203" pitchFamily="34" charset="0"/>
                          <a:cs typeface="Lato" panose="020F0502020204030203" pitchFamily="34" charset="0"/>
                        </a:rPr>
                        <a:t> + 5G Core (AMF, SMF, UPF, PCF, NRF, v.v.).</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7306202"/>
                  </a:ext>
                </a:extLst>
              </a:tr>
              <a:tr h="539701">
                <a:tc>
                  <a:txBody>
                    <a:bodyPr/>
                    <a:lstStyle/>
                    <a:p>
                      <a:pPr>
                        <a:buNone/>
                      </a:pPr>
                      <a:r>
                        <a:rPr lang="en-US" sz="1400" b="1">
                          <a:latin typeface="Lato" panose="020F0502020204030203" pitchFamily="34" charset="0"/>
                          <a:ea typeface="Lato" panose="020F0502020204030203" pitchFamily="34" charset="0"/>
                          <a:cs typeface="Lato" panose="020F0502020204030203" pitchFamily="34" charset="0"/>
                        </a:rPr>
                        <a:t>Mục tiêu</a:t>
                      </a:r>
                      <a:endParaRPr lang="en-US" sz="140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dirty="0" err="1">
                          <a:latin typeface="Lato" panose="020F0502020204030203" pitchFamily="34" charset="0"/>
                          <a:ea typeface="Lato" panose="020F0502020204030203" pitchFamily="34" charset="0"/>
                          <a:cs typeface="Lato" panose="020F0502020204030203" pitchFamily="34" charset="0"/>
                        </a:rPr>
                        <a:t>Đảm</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bảo</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bảo</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mật</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độ</a:t>
                      </a:r>
                      <a:r>
                        <a:rPr lang="en-US" sz="1400" b="0" dirty="0">
                          <a:latin typeface="Lato" panose="020F0502020204030203" pitchFamily="34" charset="0"/>
                          <a:ea typeface="Lato" panose="020F0502020204030203" pitchFamily="34" charset="0"/>
                          <a:cs typeface="Lato" panose="020F0502020204030203" pitchFamily="34" charset="0"/>
                        </a:rPr>
                        <a:t> tin </a:t>
                      </a:r>
                      <a:r>
                        <a:rPr lang="en-US" sz="1400" b="0" dirty="0" err="1">
                          <a:latin typeface="Lato" panose="020F0502020204030203" pitchFamily="34" charset="0"/>
                          <a:ea typeface="Lato" panose="020F0502020204030203" pitchFamily="34" charset="0"/>
                          <a:cs typeface="Lato" panose="020F0502020204030203" pitchFamily="34" charset="0"/>
                        </a:rPr>
                        <a:t>cậy</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và</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kiểm</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soát</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dữ</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liệu</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cao</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cho</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các</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ứng</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dụng</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chuyên</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dụng</a:t>
                      </a:r>
                      <a:r>
                        <a:rPr lang="en-US" sz="1400" b="0" dirty="0">
                          <a:latin typeface="Lato" panose="020F0502020204030203" pitchFamily="34" charset="0"/>
                          <a:ea typeface="Lato" panose="020F0502020204030203" pitchFamily="34" charset="0"/>
                          <a:cs typeface="Lato" panose="020F0502020204030203" pitchFamily="34" charset="0"/>
                        </a:rPr>
                        <a:t> (mission-critical, IoT </a:t>
                      </a:r>
                      <a:r>
                        <a:rPr lang="en-US" sz="1400" b="0" dirty="0" err="1">
                          <a:latin typeface="Lato" panose="020F0502020204030203" pitchFamily="34" charset="0"/>
                          <a:ea typeface="Lato" panose="020F0502020204030203" pitchFamily="34" charset="0"/>
                          <a:cs typeface="Lato" panose="020F0502020204030203" pitchFamily="34" charset="0"/>
                        </a:rPr>
                        <a:t>công</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nghiệp</a:t>
                      </a:r>
                      <a:r>
                        <a:rPr lang="en-US" sz="1400" b="0" dirty="0">
                          <a:latin typeface="Lato" panose="020F0502020204030203" pitchFamily="34" charset="0"/>
                          <a:ea typeface="Lato" panose="020F0502020204030203" pitchFamily="34" charset="0"/>
                          <a:cs typeface="Lato" panose="020F0502020204030203" pitchFamily="34" charset="0"/>
                        </a:rPr>
                        <a:t>).</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400" b="0" dirty="0">
                          <a:latin typeface="Lato" panose="020F0502020204030203" pitchFamily="34" charset="0"/>
                          <a:ea typeface="Lato" panose="020F0502020204030203" pitchFamily="34" charset="0"/>
                          <a:cs typeface="Lato" panose="020F0502020204030203" pitchFamily="34" charset="0"/>
                        </a:rPr>
                        <a:t>Đảm bảo toàn bộ tính năng 5G gốc như URLLC, network slicing, MEC, và independent 5G core.</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5455379"/>
                  </a:ext>
                </a:extLst>
              </a:tr>
              <a:tr h="539701">
                <a:tc>
                  <a:txBody>
                    <a:bodyPr/>
                    <a:lstStyle/>
                    <a:p>
                      <a:pPr>
                        <a:buNone/>
                      </a:pPr>
                      <a:r>
                        <a:rPr lang="en-US" sz="1400" b="1">
                          <a:latin typeface="Lato" panose="020F0502020204030203" pitchFamily="34" charset="0"/>
                          <a:ea typeface="Lato" panose="020F0502020204030203" pitchFamily="34" charset="0"/>
                          <a:cs typeface="Lato" panose="020F0502020204030203" pitchFamily="34" charset="0"/>
                        </a:rPr>
                        <a:t>Quyền kiểm soát dữ liệu</a:t>
                      </a:r>
                      <a:endParaRPr lang="en-US" sz="140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a:latin typeface="Lato" panose="020F0502020204030203" pitchFamily="34" charset="0"/>
                          <a:ea typeface="Lato" panose="020F0502020204030203" pitchFamily="34" charset="0"/>
                          <a:cs typeface="Lato" panose="020F0502020204030203" pitchFamily="34" charset="0"/>
                        </a:rPr>
                        <a:t>Do tổ chức sở hữu mạng kiểm soát hoàn toàn, dữ liệu không đi qua mạng công cộng.</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400" b="0" dirty="0">
                          <a:latin typeface="Lato" panose="020F0502020204030203" pitchFamily="34" charset="0"/>
                          <a:ea typeface="Lato" panose="020F0502020204030203" pitchFamily="34" charset="0"/>
                          <a:cs typeface="Lato" panose="020F0502020204030203" pitchFamily="34" charset="0"/>
                        </a:rPr>
                        <a:t>Dữ liệu có thể đi qua mạng công cộng hoặc riêng tùy nhà mạng, ít kiểm soát hơn trong mạng public.</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1545"/>
                  </a:ext>
                </a:extLst>
              </a:tr>
              <a:tr h="438507">
                <a:tc>
                  <a:txBody>
                    <a:bodyPr/>
                    <a:lstStyle/>
                    <a:p>
                      <a:pPr>
                        <a:buNone/>
                      </a:pPr>
                      <a:r>
                        <a:rPr lang="en-US" sz="1400" b="1">
                          <a:latin typeface="Lato" panose="020F0502020204030203" pitchFamily="34" charset="0"/>
                          <a:ea typeface="Lato" panose="020F0502020204030203" pitchFamily="34" charset="0"/>
                          <a:cs typeface="Lato" panose="020F0502020204030203" pitchFamily="34" charset="0"/>
                        </a:rPr>
                        <a:t>Bảo mật</a:t>
                      </a:r>
                      <a:endParaRPr lang="en-US" sz="1400">
                        <a:latin typeface="Lato" panose="020F0502020204030203" pitchFamily="34" charset="0"/>
                        <a:ea typeface="Lato" panose="020F0502020204030203" pitchFamily="34" charset="0"/>
                        <a:cs typeface="Lato" panose="020F0502020204030203" pitchFamily="34" charset="0"/>
                      </a:endParaRP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0" dirty="0" err="1">
                          <a:latin typeface="Lato" panose="020F0502020204030203" pitchFamily="34" charset="0"/>
                          <a:ea typeface="Lato" panose="020F0502020204030203" pitchFamily="34" charset="0"/>
                          <a:cs typeface="Lato" panose="020F0502020204030203" pitchFamily="34" charset="0"/>
                        </a:rPr>
                        <a:t>Rất</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cao</a:t>
                      </a:r>
                      <a:r>
                        <a:rPr lang="en-US" sz="1400" b="0" dirty="0">
                          <a:latin typeface="Lato" panose="020F0502020204030203" pitchFamily="34" charset="0"/>
                          <a:ea typeface="Lato" panose="020F0502020204030203" pitchFamily="34" charset="0"/>
                          <a:cs typeface="Lato" panose="020F0502020204030203" pitchFamily="34" charset="0"/>
                        </a:rPr>
                        <a:t> – </a:t>
                      </a:r>
                      <a:r>
                        <a:rPr lang="en-US" sz="1400" b="0" dirty="0" err="1">
                          <a:latin typeface="Lato" panose="020F0502020204030203" pitchFamily="34" charset="0"/>
                          <a:ea typeface="Lato" panose="020F0502020204030203" pitchFamily="34" charset="0"/>
                          <a:cs typeface="Lato" panose="020F0502020204030203" pitchFamily="34" charset="0"/>
                        </a:rPr>
                        <a:t>mạng</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cách</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ly</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hoàn</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toàn</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có</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thể</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định</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nghĩa</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chính</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sách</a:t>
                      </a:r>
                      <a:r>
                        <a:rPr lang="en-US" sz="1400" b="0" dirty="0">
                          <a:latin typeface="Lato" panose="020F0502020204030203" pitchFamily="34" charset="0"/>
                          <a:ea typeface="Lato" panose="020F0502020204030203" pitchFamily="34" charset="0"/>
                          <a:cs typeface="Lato" panose="020F0502020204030203" pitchFamily="34" charset="0"/>
                        </a:rPr>
                        <a:t> </a:t>
                      </a:r>
                      <a:r>
                        <a:rPr lang="en-US" sz="1400" b="0" dirty="0" err="1">
                          <a:latin typeface="Lato" panose="020F0502020204030203" pitchFamily="34" charset="0"/>
                          <a:ea typeface="Lato" panose="020F0502020204030203" pitchFamily="34" charset="0"/>
                          <a:cs typeface="Lato" panose="020F0502020204030203" pitchFamily="34" charset="0"/>
                        </a:rPr>
                        <a:t>riêng</a:t>
                      </a:r>
                      <a:r>
                        <a:rPr lang="en-US" sz="1400" b="0" dirty="0">
                          <a:latin typeface="Lato" panose="020F0502020204030203" pitchFamily="34" charset="0"/>
                          <a:ea typeface="Lato" panose="020F0502020204030203" pitchFamily="34" charset="0"/>
                          <a:cs typeface="Lato" panose="020F0502020204030203" pitchFamily="34" charset="0"/>
                        </a:rPr>
                        <a:t>.</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400" b="0" dirty="0">
                          <a:latin typeface="Lato" panose="020F0502020204030203" pitchFamily="34" charset="0"/>
                          <a:ea typeface="Lato" panose="020F0502020204030203" pitchFamily="34" charset="0"/>
                          <a:cs typeface="Lato" panose="020F0502020204030203" pitchFamily="34" charset="0"/>
                        </a:rPr>
                        <a:t>Cao – tuân thủ chuẩn 3GPP, nhưng độ bảo mật phụ thuộc người vận hành mạng.</a:t>
                      </a:r>
                    </a:p>
                  </a:txBody>
                  <a:tcPr marL="33731" marR="33731" marT="16866" marB="168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5969345"/>
                  </a:ext>
                </a:extLst>
              </a:tr>
            </a:tbl>
          </a:graphicData>
        </a:graphic>
      </p:graphicFrame>
    </p:spTree>
    <p:extLst>
      <p:ext uri="{BB962C8B-B14F-4D97-AF65-F5344CB8AC3E}">
        <p14:creationId xmlns:p14="http://schemas.microsoft.com/office/powerpoint/2010/main" val="3989835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B75D-A2CD-918B-EF52-60E12DC70D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F20F8C-7B5F-04B8-94FE-F40DF10935CE}"/>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0A8EA51D-1C16-21DC-6BB0-5B4B255BBE52}"/>
              </a:ext>
            </a:extLst>
          </p:cNvPr>
          <p:cNvSpPr>
            <a:spLocks noGrp="1"/>
          </p:cNvSpPr>
          <p:nvPr>
            <p:ph type="title"/>
          </p:nvPr>
        </p:nvSpPr>
        <p:spPr/>
        <p:txBody>
          <a:bodyPr/>
          <a:lstStyle/>
          <a:p>
            <a:r>
              <a:rPr lang="en-US" dirty="0"/>
              <a:t>3. </a:t>
            </a:r>
            <a:r>
              <a:rPr lang="en-US" dirty="0" err="1"/>
              <a:t>Kịch</a:t>
            </a:r>
            <a:r>
              <a:rPr lang="en-US" dirty="0"/>
              <a:t> </a:t>
            </a:r>
            <a:r>
              <a:rPr lang="en-US" dirty="0" err="1"/>
              <a:t>bản</a:t>
            </a:r>
            <a:endParaRPr lang="en-US" dirty="0"/>
          </a:p>
        </p:txBody>
      </p:sp>
      <p:sp>
        <p:nvSpPr>
          <p:cNvPr id="8" name="TextBox 7">
            <a:extLst>
              <a:ext uri="{FF2B5EF4-FFF2-40B4-BE49-F238E27FC236}">
                <a16:creationId xmlns:a16="http://schemas.microsoft.com/office/drawing/2014/main" id="{C024F7FE-530A-0274-ECA9-B32EA4B30A7C}"/>
              </a:ext>
            </a:extLst>
          </p:cNvPr>
          <p:cNvSpPr txBox="1"/>
          <p:nvPr/>
        </p:nvSpPr>
        <p:spPr>
          <a:xfrm>
            <a:off x="9229008" y="2226435"/>
            <a:ext cx="1965734" cy="369332"/>
          </a:xfrm>
          <a:prstGeom prst="rect">
            <a:avLst/>
          </a:prstGeom>
          <a:noFill/>
        </p:spPr>
        <p:txBody>
          <a:bodyPr wrap="square">
            <a:spAutoFit/>
          </a:bodyPr>
          <a:lstStyle/>
          <a:p>
            <a:r>
              <a:rPr lang="en-US" dirty="0"/>
              <a:t>AMF, SMF, UPF</a:t>
            </a:r>
          </a:p>
        </p:txBody>
      </p:sp>
      <p:sp>
        <p:nvSpPr>
          <p:cNvPr id="9" name="Text Placeholder 8">
            <a:extLst>
              <a:ext uri="{FF2B5EF4-FFF2-40B4-BE49-F238E27FC236}">
                <a16:creationId xmlns:a16="http://schemas.microsoft.com/office/drawing/2014/main" id="{B7EC00DE-501F-3C9D-6442-2CA9F2C54B74}"/>
              </a:ext>
            </a:extLst>
          </p:cNvPr>
          <p:cNvSpPr>
            <a:spLocks noGrp="1"/>
          </p:cNvSpPr>
          <p:nvPr>
            <p:ph type="body" sz="quarter" idx="13"/>
          </p:nvPr>
        </p:nvSpPr>
        <p:spPr/>
        <p:txBody>
          <a:bodyPr/>
          <a:lstStyle/>
          <a:p>
            <a:pPr marL="0" indent="0">
              <a:buNone/>
            </a:pPr>
            <a:r>
              <a:rPr lang="en-US" sz="2000" dirty="0" err="1"/>
              <a:t>Thiết</a:t>
            </a:r>
            <a:r>
              <a:rPr lang="en-US" sz="2000" dirty="0"/>
              <a:t> </a:t>
            </a:r>
            <a:r>
              <a:rPr lang="en-US" sz="2000" dirty="0" err="1"/>
              <a:t>lập</a:t>
            </a:r>
            <a:r>
              <a:rPr lang="en-US" sz="2000" dirty="0"/>
              <a:t> </a:t>
            </a:r>
            <a:r>
              <a:rPr lang="en-US" sz="2000" dirty="0" err="1"/>
              <a:t>mô</a:t>
            </a:r>
            <a:r>
              <a:rPr lang="en-US" sz="2000" dirty="0"/>
              <a:t> </a:t>
            </a:r>
            <a:r>
              <a:rPr lang="en-US" sz="2000" dirty="0" err="1"/>
              <a:t>hình</a:t>
            </a:r>
            <a:r>
              <a:rPr lang="en-US" sz="2000" dirty="0"/>
              <a:t> 5G Core mini (AMF, SMF, UPF) </a:t>
            </a:r>
            <a:r>
              <a:rPr lang="en-US" sz="2000" dirty="0" err="1"/>
              <a:t>và</a:t>
            </a:r>
            <a:r>
              <a:rPr lang="en-US" sz="2000" dirty="0"/>
              <a:t> </a:t>
            </a:r>
            <a:r>
              <a:rPr lang="en-US" sz="2000" dirty="0" err="1"/>
              <a:t>gNodeB</a:t>
            </a:r>
            <a:r>
              <a:rPr lang="en-US" sz="2000" dirty="0"/>
              <a:t>.</a:t>
            </a:r>
          </a:p>
          <a:p>
            <a:pPr marL="0" indent="0">
              <a:buNone/>
            </a:pPr>
            <a:endParaRPr lang="en-US" sz="2000" dirty="0"/>
          </a:p>
          <a:p>
            <a:pPr marL="0" indent="0">
              <a:buNone/>
            </a:pPr>
            <a:r>
              <a:rPr lang="en-US" sz="2000" b="1" dirty="0"/>
              <a:t>Các node </a:t>
            </a:r>
            <a:r>
              <a:rPr lang="en-US" sz="2000" b="1" dirty="0" err="1"/>
              <a:t>đại</a:t>
            </a:r>
            <a:r>
              <a:rPr lang="en-US" sz="2000" b="1" dirty="0"/>
              <a:t> </a:t>
            </a:r>
            <a:r>
              <a:rPr lang="en-US" sz="2000" b="1" dirty="0" err="1"/>
              <a:t>diện</a:t>
            </a:r>
            <a:r>
              <a:rPr lang="en-US" sz="2000" b="1" dirty="0"/>
              <a:t> </a:t>
            </a:r>
            <a:r>
              <a:rPr lang="en-US" sz="2000" b="1" dirty="0" err="1"/>
              <a:t>cho</a:t>
            </a:r>
            <a:r>
              <a:rPr lang="en-US" sz="2000" b="1" dirty="0"/>
              <a:t>:</a:t>
            </a:r>
          </a:p>
          <a:p>
            <a:r>
              <a:rPr lang="en-US" sz="2000" dirty="0"/>
              <a:t>UAV </a:t>
            </a:r>
            <a:r>
              <a:rPr lang="en-US" sz="2000" dirty="0" err="1"/>
              <a:t>giám</a:t>
            </a:r>
            <a:r>
              <a:rPr lang="en-US" sz="2000" dirty="0"/>
              <a:t> </a:t>
            </a:r>
            <a:r>
              <a:rPr lang="en-US" sz="2000" dirty="0" err="1"/>
              <a:t>sát</a:t>
            </a:r>
            <a:r>
              <a:rPr lang="en-US" sz="2000" dirty="0"/>
              <a:t> (camera + sensor)</a:t>
            </a:r>
          </a:p>
          <a:p>
            <a:r>
              <a:rPr lang="en-US" sz="2000" dirty="0" err="1"/>
              <a:t>Trạm</a:t>
            </a:r>
            <a:r>
              <a:rPr lang="en-US" sz="2000" dirty="0"/>
              <a:t> </a:t>
            </a:r>
            <a:r>
              <a:rPr lang="en-US" sz="2000" dirty="0" err="1"/>
              <a:t>điều</a:t>
            </a:r>
            <a:r>
              <a:rPr lang="en-US" sz="2000" dirty="0"/>
              <a:t> </a:t>
            </a:r>
            <a:r>
              <a:rPr lang="en-US" sz="2000" dirty="0" err="1"/>
              <a:t>hành</a:t>
            </a:r>
            <a:r>
              <a:rPr lang="en-US" sz="2000" dirty="0"/>
              <a:t> </a:t>
            </a:r>
            <a:r>
              <a:rPr lang="en-US" sz="2000" dirty="0" err="1"/>
              <a:t>cứu</a:t>
            </a:r>
            <a:r>
              <a:rPr lang="en-US" sz="2000" dirty="0"/>
              <a:t> </a:t>
            </a:r>
            <a:r>
              <a:rPr lang="en-US" sz="2000" dirty="0" err="1"/>
              <a:t>hộ</a:t>
            </a:r>
            <a:r>
              <a:rPr lang="en-US" sz="2000" dirty="0"/>
              <a:t> (command center)</a:t>
            </a:r>
          </a:p>
          <a:p>
            <a:r>
              <a:rPr lang="en-US" sz="2000" dirty="0"/>
              <a:t>Edge server </a:t>
            </a:r>
            <a:r>
              <a:rPr lang="en-US" sz="2000" dirty="0" err="1"/>
              <a:t>xử</a:t>
            </a:r>
            <a:r>
              <a:rPr lang="en-US" sz="2000" dirty="0"/>
              <a:t> </a:t>
            </a:r>
            <a:r>
              <a:rPr lang="en-US" sz="2000" dirty="0" err="1"/>
              <a:t>lý</a:t>
            </a:r>
            <a:r>
              <a:rPr lang="en-US" sz="2000" dirty="0"/>
              <a:t> </a:t>
            </a:r>
            <a:r>
              <a:rPr lang="en-US" sz="2000" dirty="0" err="1"/>
              <a:t>hình</a:t>
            </a:r>
            <a:r>
              <a:rPr lang="en-US" sz="2000" dirty="0"/>
              <a:t> </a:t>
            </a:r>
            <a:r>
              <a:rPr lang="en-US" sz="2000" dirty="0" err="1"/>
              <a:t>ảnh</a:t>
            </a:r>
            <a:r>
              <a:rPr lang="en-US" sz="2000" dirty="0"/>
              <a:t>/video</a:t>
            </a:r>
          </a:p>
          <a:p>
            <a:r>
              <a:rPr lang="en-US" sz="2000" dirty="0" err="1"/>
              <a:t>Mô</a:t>
            </a:r>
            <a:r>
              <a:rPr lang="en-US" sz="2000" dirty="0"/>
              <a:t> </a:t>
            </a:r>
            <a:r>
              <a:rPr lang="en-US" sz="2000" dirty="0" err="1"/>
              <a:t>phỏng</a:t>
            </a:r>
            <a:r>
              <a:rPr lang="en-US" sz="2000" dirty="0"/>
              <a:t> </a:t>
            </a:r>
            <a:r>
              <a:rPr lang="en-US" sz="2000" dirty="0" err="1"/>
              <a:t>luồng</a:t>
            </a:r>
            <a:r>
              <a:rPr lang="en-US" sz="2000" dirty="0"/>
              <a:t> </a:t>
            </a:r>
            <a:r>
              <a:rPr lang="en-US" sz="2000" dirty="0" err="1"/>
              <a:t>dữ</a:t>
            </a:r>
            <a:r>
              <a:rPr lang="en-US" sz="2000" dirty="0"/>
              <a:t> </a:t>
            </a:r>
            <a:r>
              <a:rPr lang="en-US" sz="2000" dirty="0" err="1"/>
              <a:t>liệu</a:t>
            </a:r>
            <a:r>
              <a:rPr lang="en-US" sz="2000" dirty="0"/>
              <a:t>: UAV → </a:t>
            </a:r>
            <a:r>
              <a:rPr lang="en-US" sz="2000" dirty="0" err="1"/>
              <a:t>gNodeB</a:t>
            </a:r>
            <a:r>
              <a:rPr lang="en-US" sz="2000" dirty="0"/>
              <a:t> → UPF → Edge → Control Center.</a:t>
            </a:r>
          </a:p>
          <a:p>
            <a:pPr marL="0" indent="0">
              <a:buNone/>
            </a:pPr>
            <a:endParaRPr lang="en-US" sz="2000" dirty="0"/>
          </a:p>
          <a:p>
            <a:pPr marL="0" indent="0">
              <a:buNone/>
            </a:pPr>
            <a:r>
              <a:rPr lang="en-US" sz="2000" b="1" dirty="0" err="1"/>
              <a:t>Đo</a:t>
            </a:r>
            <a:r>
              <a:rPr lang="en-US" sz="2000" b="1" dirty="0"/>
              <a:t> </a:t>
            </a:r>
            <a:r>
              <a:rPr lang="en-US" sz="2000" b="1" dirty="0" err="1"/>
              <a:t>đạc</a:t>
            </a:r>
            <a:r>
              <a:rPr lang="en-US" sz="2000" b="1" dirty="0"/>
              <a:t>:</a:t>
            </a:r>
          </a:p>
          <a:p>
            <a:r>
              <a:rPr lang="en-US" sz="2000" dirty="0" err="1"/>
              <a:t>Độ</a:t>
            </a:r>
            <a:r>
              <a:rPr lang="en-US" sz="2000" dirty="0"/>
              <a:t> </a:t>
            </a:r>
            <a:r>
              <a:rPr lang="en-US" sz="2000" dirty="0" err="1"/>
              <a:t>trễ</a:t>
            </a:r>
            <a:r>
              <a:rPr lang="en-US" sz="2000" dirty="0"/>
              <a:t> </a:t>
            </a:r>
            <a:r>
              <a:rPr lang="en-US" sz="2000" dirty="0" err="1"/>
              <a:t>truyền</a:t>
            </a:r>
            <a:r>
              <a:rPr lang="en-US" sz="2000" dirty="0"/>
              <a:t> </a:t>
            </a:r>
            <a:r>
              <a:rPr lang="en-US" sz="2000" dirty="0" err="1"/>
              <a:t>dữ</a:t>
            </a:r>
            <a:r>
              <a:rPr lang="en-US" sz="2000" dirty="0"/>
              <a:t> </a:t>
            </a:r>
            <a:r>
              <a:rPr lang="en-US" sz="2000" dirty="0" err="1"/>
              <a:t>liệu</a:t>
            </a:r>
            <a:r>
              <a:rPr lang="en-US" sz="2000" dirty="0"/>
              <a:t> (latency).</a:t>
            </a:r>
          </a:p>
          <a:p>
            <a:r>
              <a:rPr lang="en-US" sz="2000" dirty="0" err="1"/>
              <a:t>Độ</a:t>
            </a:r>
            <a:r>
              <a:rPr lang="en-US" sz="2000" dirty="0"/>
              <a:t> tin </a:t>
            </a:r>
            <a:r>
              <a:rPr lang="en-US" sz="2000" dirty="0" err="1"/>
              <a:t>cậy</a:t>
            </a:r>
            <a:r>
              <a:rPr lang="en-US" sz="2000" dirty="0"/>
              <a:t> (packet delivery).</a:t>
            </a:r>
          </a:p>
          <a:p>
            <a:r>
              <a:rPr lang="en-US" sz="2000" dirty="0"/>
              <a:t>Hiệu </a:t>
            </a:r>
            <a:r>
              <a:rPr lang="en-US" sz="2000" dirty="0" err="1"/>
              <a:t>suất</a:t>
            </a:r>
            <a:r>
              <a:rPr lang="en-US" sz="2000" dirty="0"/>
              <a:t> </a:t>
            </a:r>
            <a:r>
              <a:rPr lang="en-US" sz="2000" dirty="0" err="1"/>
              <a:t>khi</a:t>
            </a:r>
            <a:r>
              <a:rPr lang="en-US" sz="2000" dirty="0"/>
              <a:t> </a:t>
            </a:r>
            <a:r>
              <a:rPr lang="en-US" sz="2000" dirty="0" err="1"/>
              <a:t>có</a:t>
            </a:r>
            <a:r>
              <a:rPr lang="en-US" sz="2000" dirty="0"/>
              <a:t> </a:t>
            </a:r>
            <a:r>
              <a:rPr lang="en-US" sz="2000" dirty="0" err="1"/>
              <a:t>nhiều</a:t>
            </a:r>
            <a:r>
              <a:rPr lang="en-US" sz="2000" dirty="0"/>
              <a:t> </a:t>
            </a:r>
            <a:r>
              <a:rPr lang="en-US" sz="2000" dirty="0" err="1"/>
              <a:t>thiết</a:t>
            </a:r>
            <a:r>
              <a:rPr lang="en-US" sz="2000" dirty="0"/>
              <a:t> </a:t>
            </a:r>
            <a:r>
              <a:rPr lang="en-US" sz="2000" dirty="0" err="1"/>
              <a:t>bị</a:t>
            </a:r>
            <a:r>
              <a:rPr lang="en-US" sz="2000" dirty="0"/>
              <a:t> </a:t>
            </a:r>
            <a:r>
              <a:rPr lang="en-US" sz="2000" dirty="0" err="1"/>
              <a:t>cùng</a:t>
            </a:r>
            <a:r>
              <a:rPr lang="en-US" sz="2000" dirty="0"/>
              <a:t> </a:t>
            </a:r>
            <a:r>
              <a:rPr lang="en-US" sz="2000" dirty="0" err="1"/>
              <a:t>truy</a:t>
            </a:r>
            <a:r>
              <a:rPr lang="en-US" sz="2000" dirty="0"/>
              <a:t> </a:t>
            </a:r>
            <a:r>
              <a:rPr lang="en-US" sz="2000" dirty="0" err="1"/>
              <a:t>cập</a:t>
            </a:r>
            <a:r>
              <a:rPr lang="en-US" sz="2000" dirty="0"/>
              <a:t>.</a:t>
            </a:r>
          </a:p>
        </p:txBody>
      </p:sp>
    </p:spTree>
    <p:extLst>
      <p:ext uri="{BB962C8B-B14F-4D97-AF65-F5344CB8AC3E}">
        <p14:creationId xmlns:p14="http://schemas.microsoft.com/office/powerpoint/2010/main" val="3368658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B3102-6322-00A7-3D1A-F82A8CB9EC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08B7B2-2201-26EF-B1EB-8D0104FDB44E}"/>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49FBF8A3-8C96-21F2-311F-0A0A8DB0656F}"/>
              </a:ext>
            </a:extLst>
          </p:cNvPr>
          <p:cNvSpPr>
            <a:spLocks noGrp="1"/>
          </p:cNvSpPr>
          <p:nvPr>
            <p:ph type="title"/>
          </p:nvPr>
        </p:nvSpPr>
        <p:spPr/>
        <p:txBody>
          <a:bodyPr/>
          <a:lstStyle/>
          <a:p>
            <a:r>
              <a:rPr lang="en-US" dirty="0"/>
              <a:t>4. </a:t>
            </a:r>
            <a:r>
              <a:rPr lang="en-US" dirty="0" err="1"/>
              <a:t>Kỳ</a:t>
            </a:r>
            <a:r>
              <a:rPr lang="en-US" dirty="0"/>
              <a:t> </a:t>
            </a:r>
            <a:r>
              <a:rPr lang="en-US" dirty="0" err="1"/>
              <a:t>vọng</a:t>
            </a:r>
            <a:endParaRPr lang="en-US" dirty="0"/>
          </a:p>
        </p:txBody>
      </p:sp>
      <p:sp>
        <p:nvSpPr>
          <p:cNvPr id="8" name="TextBox 7">
            <a:extLst>
              <a:ext uri="{FF2B5EF4-FFF2-40B4-BE49-F238E27FC236}">
                <a16:creationId xmlns:a16="http://schemas.microsoft.com/office/drawing/2014/main" id="{339A797E-5B05-D09C-8419-9E29470399B4}"/>
              </a:ext>
            </a:extLst>
          </p:cNvPr>
          <p:cNvSpPr txBox="1"/>
          <p:nvPr/>
        </p:nvSpPr>
        <p:spPr>
          <a:xfrm>
            <a:off x="9229008" y="2226435"/>
            <a:ext cx="1965734" cy="369332"/>
          </a:xfrm>
          <a:prstGeom prst="rect">
            <a:avLst/>
          </a:prstGeom>
          <a:noFill/>
        </p:spPr>
        <p:txBody>
          <a:bodyPr wrap="square">
            <a:spAutoFit/>
          </a:bodyPr>
          <a:lstStyle/>
          <a:p>
            <a:r>
              <a:rPr lang="en-US" dirty="0"/>
              <a:t>AMF, SMF, UPF</a:t>
            </a:r>
          </a:p>
        </p:txBody>
      </p:sp>
      <p:sp>
        <p:nvSpPr>
          <p:cNvPr id="9" name="Text Placeholder 8">
            <a:extLst>
              <a:ext uri="{FF2B5EF4-FFF2-40B4-BE49-F238E27FC236}">
                <a16:creationId xmlns:a16="http://schemas.microsoft.com/office/drawing/2014/main" id="{BEEF349F-EF89-E2E8-ACB3-12694550DEE3}"/>
              </a:ext>
            </a:extLst>
          </p:cNvPr>
          <p:cNvSpPr>
            <a:spLocks noGrp="1"/>
          </p:cNvSpPr>
          <p:nvPr>
            <p:ph type="body" sz="quarter" idx="13"/>
          </p:nvPr>
        </p:nvSpPr>
        <p:spPr/>
        <p:txBody>
          <a:bodyPr/>
          <a:lstStyle/>
          <a:p>
            <a:pPr marL="0" indent="0">
              <a:buNone/>
            </a:pPr>
            <a:r>
              <a:rPr lang="en-US" sz="2000" dirty="0" err="1"/>
              <a:t>Xây</a:t>
            </a:r>
            <a:r>
              <a:rPr lang="en-US" sz="2000" dirty="0"/>
              <a:t> </a:t>
            </a:r>
            <a:r>
              <a:rPr lang="en-US" sz="2000" dirty="0" err="1"/>
              <a:t>dựng</a:t>
            </a:r>
            <a:r>
              <a:rPr lang="en-US" sz="2000" dirty="0"/>
              <a:t> </a:t>
            </a:r>
            <a:r>
              <a:rPr lang="en-US" sz="2000" dirty="0" err="1"/>
              <a:t>mô</a:t>
            </a:r>
            <a:r>
              <a:rPr lang="en-US" sz="2000" dirty="0"/>
              <a:t> </a:t>
            </a:r>
            <a:r>
              <a:rPr lang="en-US" sz="2000" dirty="0" err="1"/>
              <a:t>hình</a:t>
            </a:r>
            <a:r>
              <a:rPr lang="en-US" sz="2000" dirty="0"/>
              <a:t> </a:t>
            </a:r>
            <a:r>
              <a:rPr lang="en-US" sz="2000" dirty="0" err="1"/>
              <a:t>mô</a:t>
            </a:r>
            <a:r>
              <a:rPr lang="en-US" sz="2000" dirty="0"/>
              <a:t> </a:t>
            </a:r>
            <a:r>
              <a:rPr lang="en-US" sz="2000" dirty="0" err="1"/>
              <a:t>phỏng</a:t>
            </a:r>
            <a:r>
              <a:rPr lang="en-US" sz="2000" dirty="0"/>
              <a:t> 5G Private Network </a:t>
            </a:r>
            <a:r>
              <a:rPr lang="en-US" sz="2000" dirty="0" err="1"/>
              <a:t>cho</a:t>
            </a:r>
            <a:r>
              <a:rPr lang="en-US" sz="2000" dirty="0"/>
              <a:t> </a:t>
            </a:r>
            <a:r>
              <a:rPr lang="en-US" sz="2000" dirty="0" err="1"/>
              <a:t>tình</a:t>
            </a:r>
            <a:r>
              <a:rPr lang="en-US" sz="2000" dirty="0"/>
              <a:t> </a:t>
            </a:r>
            <a:r>
              <a:rPr lang="en-US" sz="2000" dirty="0" err="1"/>
              <a:t>huống</a:t>
            </a:r>
            <a:r>
              <a:rPr lang="en-US" sz="2000" dirty="0"/>
              <a:t> </a:t>
            </a:r>
            <a:r>
              <a:rPr lang="en-US" sz="2000" dirty="0" err="1"/>
              <a:t>cứu</a:t>
            </a:r>
            <a:r>
              <a:rPr lang="en-US" sz="2000" dirty="0"/>
              <a:t> </a:t>
            </a:r>
            <a:r>
              <a:rPr lang="en-US" sz="2000" dirty="0" err="1"/>
              <a:t>hộ</a:t>
            </a:r>
            <a:endParaRPr lang="en-US" sz="2000" dirty="0"/>
          </a:p>
          <a:p>
            <a:pPr>
              <a:buFontTx/>
              <a:buChar char="-"/>
            </a:pPr>
            <a:r>
              <a:rPr lang="en-US" sz="2000" dirty="0" err="1"/>
              <a:t>Truyền</a:t>
            </a:r>
            <a:r>
              <a:rPr lang="en-US" sz="2000" dirty="0"/>
              <a:t> </a:t>
            </a:r>
            <a:r>
              <a:rPr lang="en-US" sz="2000" dirty="0" err="1"/>
              <a:t>dữ</a:t>
            </a:r>
            <a:r>
              <a:rPr lang="en-US" sz="2000" dirty="0"/>
              <a:t> </a:t>
            </a:r>
            <a:r>
              <a:rPr lang="en-US" sz="2000" dirty="0" err="1"/>
              <a:t>liệu</a:t>
            </a:r>
            <a:r>
              <a:rPr lang="en-US" sz="2000" dirty="0"/>
              <a:t> </a:t>
            </a:r>
            <a:r>
              <a:rPr lang="en-US" sz="2000" dirty="0" err="1"/>
              <a:t>cảm</a:t>
            </a:r>
            <a:r>
              <a:rPr lang="en-US" sz="2000" dirty="0"/>
              <a:t> </a:t>
            </a:r>
            <a:r>
              <a:rPr lang="en-US" sz="2000" dirty="0" err="1"/>
              <a:t>biến</a:t>
            </a:r>
            <a:r>
              <a:rPr lang="en-US" sz="2000" dirty="0"/>
              <a:t> </a:t>
            </a:r>
            <a:r>
              <a:rPr lang="en-US" sz="2000" dirty="0" err="1"/>
              <a:t>và</a:t>
            </a:r>
            <a:r>
              <a:rPr lang="en-US" sz="2000" dirty="0"/>
              <a:t> video </a:t>
            </a:r>
            <a:r>
              <a:rPr lang="en-US" sz="2000" dirty="0" err="1"/>
              <a:t>thời</a:t>
            </a:r>
            <a:r>
              <a:rPr lang="en-US" sz="2000" dirty="0"/>
              <a:t> </a:t>
            </a:r>
            <a:r>
              <a:rPr lang="en-US" sz="2000" dirty="0" err="1"/>
              <a:t>gian</a:t>
            </a:r>
            <a:r>
              <a:rPr lang="en-US" sz="2000" dirty="0"/>
              <a:t> </a:t>
            </a:r>
            <a:r>
              <a:rPr lang="en-US" sz="2000" dirty="0" err="1"/>
              <a:t>thực</a:t>
            </a:r>
            <a:r>
              <a:rPr lang="en-US" sz="2000" dirty="0"/>
              <a:t>.</a:t>
            </a:r>
          </a:p>
          <a:p>
            <a:pPr>
              <a:buFontTx/>
              <a:buChar char="-"/>
            </a:pPr>
            <a:r>
              <a:rPr lang="en-US" sz="2000" dirty="0" err="1"/>
              <a:t>Đánh</a:t>
            </a:r>
            <a:r>
              <a:rPr lang="en-US" sz="2000" dirty="0"/>
              <a:t> </a:t>
            </a:r>
            <a:r>
              <a:rPr lang="en-US" sz="2000" dirty="0" err="1"/>
              <a:t>giá</a:t>
            </a:r>
            <a:r>
              <a:rPr lang="en-US" sz="2000" dirty="0"/>
              <a:t> </a:t>
            </a:r>
            <a:r>
              <a:rPr lang="en-US" sz="2000" dirty="0" err="1"/>
              <a:t>hiệu</a:t>
            </a:r>
            <a:r>
              <a:rPr lang="en-US" sz="2000" dirty="0"/>
              <a:t> </a:t>
            </a:r>
            <a:r>
              <a:rPr lang="en-US" sz="2000" dirty="0" err="1"/>
              <a:t>quả</a:t>
            </a:r>
            <a:r>
              <a:rPr lang="en-US" sz="2000" dirty="0"/>
              <a:t> </a:t>
            </a:r>
            <a:r>
              <a:rPr lang="en-US" sz="2000" dirty="0" err="1"/>
              <a:t>mạng</a:t>
            </a:r>
            <a:r>
              <a:rPr lang="en-US" sz="2000" dirty="0"/>
              <a:t> (latency, reliability, throughput) </a:t>
            </a:r>
            <a:r>
              <a:rPr lang="en-US" sz="2000" dirty="0" err="1"/>
              <a:t>trong</a:t>
            </a:r>
            <a:r>
              <a:rPr lang="en-US" sz="2000" dirty="0"/>
              <a:t> </a:t>
            </a:r>
            <a:r>
              <a:rPr lang="en-US" sz="2000" dirty="0" err="1"/>
              <a:t>điều</a:t>
            </a:r>
            <a:r>
              <a:rPr lang="en-US" sz="2000" dirty="0"/>
              <a:t> </a:t>
            </a:r>
            <a:r>
              <a:rPr lang="en-US" sz="2000" dirty="0" err="1"/>
              <a:t>kiện</a:t>
            </a:r>
            <a:r>
              <a:rPr lang="en-US" sz="2000" dirty="0"/>
              <a:t> </a:t>
            </a:r>
            <a:r>
              <a:rPr lang="en-US" sz="2000" dirty="0" err="1"/>
              <a:t>thiên</a:t>
            </a:r>
            <a:r>
              <a:rPr lang="en-US" sz="2000" dirty="0"/>
              <a:t> tai.</a:t>
            </a:r>
          </a:p>
          <a:p>
            <a:pPr>
              <a:buFontTx/>
              <a:buChar char="-"/>
            </a:pPr>
            <a:r>
              <a:rPr lang="en-US" sz="2000" dirty="0" err="1"/>
              <a:t>Đề</a:t>
            </a:r>
            <a:r>
              <a:rPr lang="en-US" sz="2000" dirty="0"/>
              <a:t> </a:t>
            </a:r>
            <a:r>
              <a:rPr lang="en-US" sz="2000" dirty="0" err="1"/>
              <a:t>xuất</a:t>
            </a:r>
            <a:r>
              <a:rPr lang="en-US" sz="2000" dirty="0"/>
              <a:t> </a:t>
            </a:r>
            <a:r>
              <a:rPr lang="en-US" sz="2000" dirty="0" err="1"/>
              <a:t>kiến</a:t>
            </a:r>
            <a:r>
              <a:rPr lang="en-US" sz="2000" dirty="0"/>
              <a:t> </a:t>
            </a:r>
            <a:r>
              <a:rPr lang="en-US" sz="2000" dirty="0" err="1"/>
              <a:t>trúc</a:t>
            </a:r>
            <a:r>
              <a:rPr lang="en-US" sz="2000" dirty="0"/>
              <a:t> </a:t>
            </a:r>
            <a:r>
              <a:rPr lang="en-US" sz="2000" dirty="0" err="1"/>
              <a:t>triển</a:t>
            </a:r>
            <a:r>
              <a:rPr lang="en-US" sz="2000" dirty="0"/>
              <a:t> </a:t>
            </a:r>
            <a:r>
              <a:rPr lang="en-US" sz="2000" dirty="0" err="1"/>
              <a:t>khai</a:t>
            </a:r>
            <a:r>
              <a:rPr lang="en-US" sz="2000" dirty="0"/>
              <a:t> </a:t>
            </a:r>
            <a:r>
              <a:rPr lang="en-US" sz="2000" dirty="0" err="1"/>
              <a:t>thực</a:t>
            </a:r>
            <a:r>
              <a:rPr lang="en-US" sz="2000" dirty="0"/>
              <a:t> </a:t>
            </a:r>
            <a:r>
              <a:rPr lang="en-US" sz="2000" dirty="0" err="1"/>
              <a:t>tế</a:t>
            </a:r>
            <a:r>
              <a:rPr lang="en-US" sz="2000" dirty="0"/>
              <a:t> (portable 5G station, MEC, UAV integration).</a:t>
            </a:r>
          </a:p>
        </p:txBody>
      </p:sp>
    </p:spTree>
    <p:extLst>
      <p:ext uri="{BB962C8B-B14F-4D97-AF65-F5344CB8AC3E}">
        <p14:creationId xmlns:p14="http://schemas.microsoft.com/office/powerpoint/2010/main" val="754081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DCB75-195C-A96A-A494-EC50437531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3A3B70-C9F9-CECF-D36C-920F8E4C1C86}"/>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F60B5D8F-EA0D-9ACD-6A71-10A730BD03AB}"/>
              </a:ext>
            </a:extLst>
          </p:cNvPr>
          <p:cNvSpPr>
            <a:spLocks noGrp="1"/>
          </p:cNvSpPr>
          <p:nvPr>
            <p:ph type="title"/>
          </p:nvPr>
        </p:nvSpPr>
        <p:spPr/>
        <p:txBody>
          <a:bodyPr/>
          <a:lstStyle/>
          <a:p>
            <a:r>
              <a:rPr lang="en-US" dirty="0"/>
              <a:t>4. </a:t>
            </a:r>
            <a:r>
              <a:rPr lang="en-US" dirty="0" err="1"/>
              <a:t>Kiến</a:t>
            </a:r>
            <a:r>
              <a:rPr lang="en-US" dirty="0"/>
              <a:t> </a:t>
            </a:r>
            <a:r>
              <a:rPr lang="en-US" dirty="0" err="1"/>
              <a:t>trúc</a:t>
            </a:r>
            <a:r>
              <a:rPr lang="en-US" dirty="0"/>
              <a:t> 5G SA</a:t>
            </a:r>
          </a:p>
        </p:txBody>
      </p:sp>
      <p:sp>
        <p:nvSpPr>
          <p:cNvPr id="8" name="TextBox 7">
            <a:extLst>
              <a:ext uri="{FF2B5EF4-FFF2-40B4-BE49-F238E27FC236}">
                <a16:creationId xmlns:a16="http://schemas.microsoft.com/office/drawing/2014/main" id="{F10A9437-B6B1-80F7-7253-930FEEA50459}"/>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E192D596-6CCA-98F5-2D49-D89B0AD3210F}"/>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7" name="Rectangle 1">
            <a:extLst>
              <a:ext uri="{FF2B5EF4-FFF2-40B4-BE49-F238E27FC236}">
                <a16:creationId xmlns:a16="http://schemas.microsoft.com/office/drawing/2014/main" id="{7AB59EBE-D495-26E3-0B84-399E04E44AF7}"/>
              </a:ext>
            </a:extLst>
          </p:cNvPr>
          <p:cNvSpPr>
            <a:spLocks noChangeArrowheads="1"/>
          </p:cNvSpPr>
          <p:nvPr/>
        </p:nvSpPr>
        <p:spPr bwMode="auto">
          <a:xfrm>
            <a:off x="731612" y="1091394"/>
            <a:ext cx="7867523" cy="4416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400" b="1" dirty="0">
                <a:latin typeface="Arial" panose="020B0604020202020204" pitchFamily="34" charset="0"/>
              </a:rPr>
              <a:t>DATA FLOW</a:t>
            </a:r>
          </a:p>
          <a:p>
            <a:pPr lvl="0" defTabSz="914400" eaLnBrk="0" fontAlgn="base" hangingPunct="0">
              <a:spcBef>
                <a:spcPct val="0"/>
              </a:spcBef>
              <a:spcAft>
                <a:spcPct val="0"/>
              </a:spcAft>
            </a:pPr>
            <a:endParaRPr lang="en-US" altLang="en-US" sz="1400" b="1" dirty="0">
              <a:latin typeface="Arial" panose="020B0604020202020204" pitchFamily="34" charset="0"/>
            </a:endParaRPr>
          </a:p>
          <a:p>
            <a:pPr marL="228600" lvl="0" indent="-228600" defTabSz="914400" eaLnBrk="0" fontAlgn="base" hangingPunct="0">
              <a:spcBef>
                <a:spcPct val="0"/>
              </a:spcBef>
              <a:spcAft>
                <a:spcPct val="0"/>
              </a:spcAft>
              <a:buAutoNum type="arabicPeriod"/>
            </a:pPr>
            <a:r>
              <a:rPr lang="vi-VN" altLang="en-US" sz="1100" b="1" dirty="0">
                <a:latin typeface="Arial" panose="020B0604020202020204" pitchFamily="34" charset="0"/>
              </a:rPr>
              <a:t>Luồng </a:t>
            </a:r>
            <a:r>
              <a:rPr lang="en-US" altLang="en-US" sz="1100" b="1" dirty="0" err="1">
                <a:latin typeface="Arial" panose="020B0604020202020204" pitchFamily="34" charset="0"/>
              </a:rPr>
              <a:t>Điều</a:t>
            </a:r>
            <a:r>
              <a:rPr lang="en-US" altLang="en-US" sz="1100" b="1" dirty="0">
                <a:latin typeface="Arial" panose="020B0604020202020204" pitchFamily="34" charset="0"/>
              </a:rPr>
              <a:t> </a:t>
            </a:r>
            <a:r>
              <a:rPr lang="en-US" altLang="en-US" sz="1100" b="1" dirty="0" err="1">
                <a:latin typeface="Arial" panose="020B0604020202020204" pitchFamily="34" charset="0"/>
              </a:rPr>
              <a:t>khiển</a:t>
            </a:r>
            <a:r>
              <a:rPr lang="vi-VN" altLang="en-US" sz="1100" b="1" dirty="0">
                <a:latin typeface="Arial" panose="020B0604020202020204" pitchFamily="34" charset="0"/>
              </a:rPr>
              <a:t> (Control Plane Flow) </a:t>
            </a:r>
            <a:endParaRPr lang="en-US" altLang="en-US" sz="1100" b="1" dirty="0">
              <a:latin typeface="Arial" panose="020B0604020202020204" pitchFamily="34" charset="0"/>
            </a:endParaRPr>
          </a:p>
          <a:p>
            <a:pPr lvl="0" defTabSz="914400" eaLnBrk="0" fontAlgn="base" hangingPunct="0">
              <a:spcBef>
                <a:spcPct val="0"/>
              </a:spcBef>
              <a:spcAft>
                <a:spcPct val="0"/>
              </a:spcAft>
            </a:pPr>
            <a:r>
              <a:rPr lang="en-US" altLang="en-US" sz="1100" b="1" dirty="0">
                <a:latin typeface="Arial" panose="020B0604020202020204" pitchFamily="34" charset="0"/>
              </a:rPr>
              <a:t>- </a:t>
            </a:r>
            <a:r>
              <a:rPr lang="vi-VN" altLang="en-US" sz="1100" b="1" dirty="0">
                <a:latin typeface="Arial" panose="020B0604020202020204" pitchFamily="34" charset="0"/>
              </a:rPr>
              <a:t>Khởi tạo (N1/N2):</a:t>
            </a: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Drone bật lên, gửi yêu cầu Registration Request qua sóng vô tuyến đến gNB.</a:t>
            </a: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gNB chuyển tiếp gói tin này qua giao diện N2 đến AMF. (</a:t>
            </a:r>
            <a:r>
              <a:rPr lang="en-US" altLang="en-US" sz="1100" dirty="0">
                <a:latin typeface="Arial" panose="020B0604020202020204" pitchFamily="34" charset="0"/>
              </a:rPr>
              <a:t>AMF </a:t>
            </a:r>
            <a:r>
              <a:rPr lang="en-US" altLang="en-US" sz="1100" dirty="0" err="1">
                <a:latin typeface="Arial" panose="020B0604020202020204" pitchFamily="34" charset="0"/>
              </a:rPr>
              <a:t>có</a:t>
            </a:r>
            <a:r>
              <a:rPr lang="en-US" altLang="en-US" sz="1100" dirty="0">
                <a:latin typeface="Arial" panose="020B0604020202020204" pitchFamily="34" charset="0"/>
              </a:rPr>
              <a:t> </a:t>
            </a:r>
            <a:r>
              <a:rPr lang="en-US" altLang="en-US" sz="1100" dirty="0" err="1">
                <a:latin typeface="Arial" panose="020B0604020202020204" pitchFamily="34" charset="0"/>
              </a:rPr>
              <a:t>vai</a:t>
            </a:r>
            <a:r>
              <a:rPr lang="en-US" altLang="en-US" sz="1100" dirty="0">
                <a:latin typeface="Arial" panose="020B0604020202020204" pitchFamily="34" charset="0"/>
              </a:rPr>
              <a:t> </a:t>
            </a:r>
            <a:r>
              <a:rPr lang="en-US" altLang="en-US" sz="1100" dirty="0" err="1">
                <a:latin typeface="Arial" panose="020B0604020202020204" pitchFamily="34" charset="0"/>
              </a:rPr>
              <a:t>trò</a:t>
            </a:r>
            <a:r>
              <a:rPr lang="en-US" altLang="en-US" sz="1100" dirty="0">
                <a:latin typeface="Arial" panose="020B0604020202020204" pitchFamily="34" charset="0"/>
              </a:rPr>
              <a:t> </a:t>
            </a:r>
            <a:r>
              <a:rPr lang="en-US" altLang="en-US" sz="1100" dirty="0" err="1">
                <a:latin typeface="Arial" panose="020B0604020202020204" pitchFamily="34" charset="0"/>
              </a:rPr>
              <a:t>kiểm</a:t>
            </a:r>
            <a:r>
              <a:rPr lang="en-US" altLang="en-US" sz="1100" dirty="0">
                <a:latin typeface="Arial" panose="020B0604020202020204" pitchFamily="34" charset="0"/>
              </a:rPr>
              <a:t> </a:t>
            </a:r>
            <a:r>
              <a:rPr lang="vi-VN" altLang="en-US" sz="1100" dirty="0">
                <a:latin typeface="Arial" panose="020B0604020202020204" pitchFamily="34" charset="0"/>
              </a:rPr>
              <a:t>soát).</a:t>
            </a:r>
          </a:p>
          <a:p>
            <a:pPr lvl="0" defTabSz="914400" eaLnBrk="0" fontAlgn="base" hangingPunct="0">
              <a:spcBef>
                <a:spcPct val="0"/>
              </a:spcBef>
              <a:spcAft>
                <a:spcPct val="0"/>
              </a:spcAft>
            </a:pPr>
            <a:r>
              <a:rPr lang="en-US" altLang="en-US" sz="1100" dirty="0">
                <a:latin typeface="Arial" panose="020B0604020202020204" pitchFamily="34" charset="0"/>
              </a:rPr>
              <a:t>- </a:t>
            </a:r>
            <a:r>
              <a:rPr lang="vi-VN" altLang="en-US" sz="1100" dirty="0">
                <a:latin typeface="Arial" panose="020B0604020202020204" pitchFamily="34" charset="0"/>
              </a:rPr>
              <a:t>Xác thực &amp; Chính sách (SBA Bus):</a:t>
            </a: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AMF </a:t>
            </a:r>
            <a:r>
              <a:rPr lang="en-US" altLang="en-US" sz="1100" dirty="0" err="1">
                <a:latin typeface="Arial" panose="020B0604020202020204" pitchFamily="34" charset="0"/>
              </a:rPr>
              <a:t>xác</a:t>
            </a:r>
            <a:r>
              <a:rPr lang="en-US" altLang="en-US" sz="1100" dirty="0">
                <a:latin typeface="Arial" panose="020B0604020202020204" pitchFamily="34" charset="0"/>
              </a:rPr>
              <a:t> </a:t>
            </a:r>
            <a:r>
              <a:rPr lang="en-US" altLang="en-US" sz="1100" dirty="0" err="1">
                <a:latin typeface="Arial" panose="020B0604020202020204" pitchFamily="34" charset="0"/>
              </a:rPr>
              <a:t>thực</a:t>
            </a:r>
            <a:r>
              <a:rPr lang="vi-VN" altLang="en-US" sz="1100" dirty="0">
                <a:latin typeface="Arial" panose="020B0604020202020204" pitchFamily="34" charset="0"/>
              </a:rPr>
              <a:t> AUSF/UDM</a:t>
            </a:r>
            <a:r>
              <a:rPr lang="en-US" altLang="en-US" sz="1100" dirty="0">
                <a:latin typeface="Arial" panose="020B0604020202020204" pitchFamily="34" charset="0"/>
              </a:rPr>
              <a:t> </a:t>
            </a:r>
            <a:r>
              <a:rPr lang="en-US" altLang="en-US" sz="1100" dirty="0" err="1">
                <a:latin typeface="Arial" panose="020B0604020202020204" pitchFamily="34" charset="0"/>
              </a:rPr>
              <a:t>về</a:t>
            </a:r>
            <a:r>
              <a:rPr lang="en-US" altLang="en-US" sz="1100" dirty="0">
                <a:latin typeface="Arial" panose="020B0604020202020204" pitchFamily="34" charset="0"/>
              </a:rPr>
              <a:t> </a:t>
            </a:r>
            <a:r>
              <a:rPr lang="en-US" altLang="en-US" sz="1100" dirty="0" err="1">
                <a:latin typeface="Arial" panose="020B0604020202020204" pitchFamily="34" charset="0"/>
              </a:rPr>
              <a:t>sự</a:t>
            </a:r>
            <a:r>
              <a:rPr lang="en-US" altLang="en-US" sz="1100" dirty="0">
                <a:latin typeface="Arial" panose="020B0604020202020204" pitchFamily="34" charset="0"/>
              </a:rPr>
              <a:t> </a:t>
            </a:r>
            <a:r>
              <a:rPr lang="en-US" altLang="en-US" sz="1100" dirty="0" err="1">
                <a:latin typeface="Arial" panose="020B0604020202020204" pitchFamily="34" charset="0"/>
              </a:rPr>
              <a:t>hợp</a:t>
            </a:r>
            <a:r>
              <a:rPr lang="en-US" altLang="en-US" sz="1100" dirty="0">
                <a:latin typeface="Arial" panose="020B0604020202020204" pitchFamily="34" charset="0"/>
              </a:rPr>
              <a:t> </a:t>
            </a:r>
            <a:r>
              <a:rPr lang="en-US" altLang="en-US" sz="1100" dirty="0" err="1">
                <a:latin typeface="Arial" panose="020B0604020202020204" pitchFamily="34" charset="0"/>
              </a:rPr>
              <a:t>lệ</a:t>
            </a:r>
            <a:r>
              <a:rPr lang="en-US" altLang="en-US" sz="1100" dirty="0">
                <a:latin typeface="Arial" panose="020B0604020202020204" pitchFamily="34" charset="0"/>
              </a:rPr>
              <a:t> </a:t>
            </a:r>
            <a:r>
              <a:rPr lang="en-US" altLang="en-US" sz="1100" dirty="0" err="1">
                <a:latin typeface="Arial" panose="020B0604020202020204" pitchFamily="34" charset="0"/>
              </a:rPr>
              <a:t>của</a:t>
            </a:r>
            <a:r>
              <a:rPr lang="en-US" altLang="en-US" sz="1100" dirty="0">
                <a:latin typeface="Arial" panose="020B0604020202020204" pitchFamily="34" charset="0"/>
              </a:rPr>
              <a:t> SIM</a:t>
            </a:r>
            <a:endParaRPr lang="vi-VN" altLang="en-US" sz="1100" dirty="0">
              <a:latin typeface="Arial" panose="020B0604020202020204" pitchFamily="34" charset="0"/>
            </a:endParaRP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AMF </a:t>
            </a:r>
            <a:r>
              <a:rPr lang="en-US" altLang="en-US" sz="1100" dirty="0" err="1">
                <a:latin typeface="Arial" panose="020B0604020202020204" pitchFamily="34" charset="0"/>
              </a:rPr>
              <a:t>xác</a:t>
            </a:r>
            <a:r>
              <a:rPr lang="en-US" altLang="en-US" sz="1100" dirty="0">
                <a:latin typeface="Arial" panose="020B0604020202020204" pitchFamily="34" charset="0"/>
              </a:rPr>
              <a:t> </a:t>
            </a:r>
            <a:r>
              <a:rPr lang="en-US" altLang="en-US" sz="1100" dirty="0" err="1">
                <a:latin typeface="Arial" panose="020B0604020202020204" pitchFamily="34" charset="0"/>
              </a:rPr>
              <a:t>thực</a:t>
            </a:r>
            <a:r>
              <a:rPr lang="vi-VN" altLang="en-US" sz="1100" dirty="0">
                <a:latin typeface="Arial" panose="020B0604020202020204" pitchFamily="34" charset="0"/>
              </a:rPr>
              <a:t> PCF</a:t>
            </a:r>
            <a:r>
              <a:rPr lang="en-US" altLang="en-US" sz="1100" dirty="0">
                <a:latin typeface="Arial" panose="020B0604020202020204" pitchFamily="34" charset="0"/>
              </a:rPr>
              <a:t> </a:t>
            </a:r>
            <a:r>
              <a:rPr lang="en-US" altLang="en-US" sz="1100" dirty="0" err="1">
                <a:latin typeface="Arial" panose="020B0604020202020204" pitchFamily="34" charset="0"/>
              </a:rPr>
              <a:t>về</a:t>
            </a:r>
            <a:r>
              <a:rPr lang="en-US" altLang="en-US" sz="1100" dirty="0">
                <a:latin typeface="Arial" panose="020B0604020202020204" pitchFamily="34" charset="0"/>
              </a:rPr>
              <a:t> QoS </a:t>
            </a:r>
            <a:r>
              <a:rPr lang="en-US" altLang="en-US" sz="1100" dirty="0" err="1">
                <a:latin typeface="Arial" panose="020B0604020202020204" pitchFamily="34" charset="0"/>
              </a:rPr>
              <a:t>của</a:t>
            </a:r>
            <a:r>
              <a:rPr lang="en-US" altLang="en-US" sz="1100" dirty="0">
                <a:latin typeface="Arial" panose="020B0604020202020204" pitchFamily="34" charset="0"/>
              </a:rPr>
              <a:t> Drone</a:t>
            </a:r>
            <a:r>
              <a:rPr lang="vi-VN" altLang="en-US" sz="1100" dirty="0">
                <a:latin typeface="Arial" panose="020B0604020202020204" pitchFamily="34" charset="0"/>
              </a:rPr>
              <a:t>. PCF trả về profile ưu tiên cao (High Priority).</a:t>
            </a:r>
          </a:p>
          <a:p>
            <a:pPr lvl="0" defTabSz="914400" eaLnBrk="0" fontAlgn="base" hangingPunct="0">
              <a:spcBef>
                <a:spcPct val="0"/>
              </a:spcBef>
              <a:spcAft>
                <a:spcPct val="0"/>
              </a:spcAft>
            </a:pPr>
            <a:r>
              <a:rPr lang="en-US" altLang="en-US" sz="1100" dirty="0">
                <a:latin typeface="Arial" panose="020B0604020202020204" pitchFamily="34" charset="0"/>
              </a:rPr>
              <a:t>- </a:t>
            </a:r>
            <a:r>
              <a:rPr lang="vi-VN" altLang="en-US" sz="1100" dirty="0">
                <a:latin typeface="Arial" panose="020B0604020202020204" pitchFamily="34" charset="0"/>
              </a:rPr>
              <a:t>Thiết lập Phiên (N11 &amp; N4):</a:t>
            </a: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AMF ra lệnh cho SMF qua N11</a:t>
            </a:r>
            <a:r>
              <a:rPr lang="en-US" altLang="en-US" sz="1100" dirty="0">
                <a:latin typeface="Arial" panose="020B0604020202020204" pitchFamily="34" charset="0"/>
              </a:rPr>
              <a:t> </a:t>
            </a:r>
            <a:r>
              <a:rPr lang="en-US" altLang="en-US" sz="1100" dirty="0" err="1">
                <a:latin typeface="Arial" panose="020B0604020202020204" pitchFamily="34" charset="0"/>
              </a:rPr>
              <a:t>tạo</a:t>
            </a:r>
            <a:r>
              <a:rPr lang="en-US" altLang="en-US" sz="1100" dirty="0">
                <a:latin typeface="Arial" panose="020B0604020202020204" pitchFamily="34" charset="0"/>
              </a:rPr>
              <a:t> </a:t>
            </a:r>
            <a:r>
              <a:rPr lang="en-US" altLang="en-US" sz="1100" dirty="0" err="1">
                <a:latin typeface="Arial" panose="020B0604020202020204" pitchFamily="34" charset="0"/>
              </a:rPr>
              <a:t>đường</a:t>
            </a:r>
            <a:r>
              <a:rPr lang="en-US" altLang="en-US" sz="1100" dirty="0">
                <a:latin typeface="Arial" panose="020B0604020202020204" pitchFamily="34" charset="0"/>
              </a:rPr>
              <a:t> </a:t>
            </a:r>
            <a:r>
              <a:rPr lang="en-US" altLang="en-US" sz="1100" dirty="0" err="1">
                <a:latin typeface="Arial" panose="020B0604020202020204" pitchFamily="34" charset="0"/>
              </a:rPr>
              <a:t>hầm</a:t>
            </a:r>
            <a:r>
              <a:rPr lang="en-US" altLang="en-US" sz="1100" dirty="0">
                <a:latin typeface="Arial" panose="020B0604020202020204" pitchFamily="34" charset="0"/>
              </a:rPr>
              <a:t> </a:t>
            </a:r>
            <a:r>
              <a:rPr lang="en-US" altLang="en-US" sz="1100" dirty="0" err="1">
                <a:latin typeface="Arial" panose="020B0604020202020204" pitchFamily="34" charset="0"/>
              </a:rPr>
              <a:t>cho</a:t>
            </a:r>
            <a:r>
              <a:rPr lang="en-US" altLang="en-US" sz="1100" dirty="0">
                <a:latin typeface="Arial" panose="020B0604020202020204" pitchFamily="34" charset="0"/>
              </a:rPr>
              <a:t> drone</a:t>
            </a:r>
            <a:endParaRPr lang="vi-VN" altLang="en-US" sz="1100" dirty="0">
              <a:latin typeface="Arial" panose="020B0604020202020204" pitchFamily="34" charset="0"/>
            </a:endParaRP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SMF chọn một UPF phù hợp và gửi lệnh qua giao diện N4 (sử dụng giao thức PFCP): "Hãy mở cổng, chuẩn bị nhận dữ liệu từ Drone này, gán thẻ ưu tiên và chuyển thẳng ra Server nội bộ".</a:t>
            </a:r>
          </a:p>
          <a:p>
            <a:pPr marL="171450" lvl="0" indent="-171450" defTabSz="914400" eaLnBrk="0" fontAlgn="base" hangingPunct="0">
              <a:spcBef>
                <a:spcPct val="0"/>
              </a:spcBef>
              <a:spcAft>
                <a:spcPct val="0"/>
              </a:spcAft>
              <a:buFontTx/>
              <a:buChar char="-"/>
            </a:pPr>
            <a:r>
              <a:rPr lang="vi-VN" altLang="en-US" sz="1100" dirty="0">
                <a:latin typeface="Arial" panose="020B0604020202020204" pitchFamily="34" charset="0"/>
              </a:rPr>
              <a:t>Phản hồi: Mạng báo lại cho Drone: "Đường truyền đã sẵn sàng".</a:t>
            </a:r>
            <a:endParaRPr lang="en-US" altLang="en-US" sz="1100" dirty="0">
              <a:latin typeface="Arial" panose="020B0604020202020204" pitchFamily="34" charset="0"/>
            </a:endParaRPr>
          </a:p>
          <a:p>
            <a:pPr marL="171450" lvl="0" indent="-171450" defTabSz="914400" eaLnBrk="0" fontAlgn="base" hangingPunct="0">
              <a:spcBef>
                <a:spcPct val="0"/>
              </a:spcBef>
              <a:spcAft>
                <a:spcPct val="0"/>
              </a:spcAft>
              <a:buFontTx/>
              <a:buChar char="-"/>
            </a:pPr>
            <a:endParaRPr lang="vi-VN" altLang="en-US" sz="1100" dirty="0">
              <a:latin typeface="Arial" panose="020B0604020202020204" pitchFamily="34" charset="0"/>
            </a:endParaRPr>
          </a:p>
          <a:p>
            <a:pPr lvl="0" defTabSz="914400" eaLnBrk="0" fontAlgn="base" hangingPunct="0">
              <a:spcBef>
                <a:spcPct val="0"/>
              </a:spcBef>
              <a:spcAft>
                <a:spcPct val="0"/>
              </a:spcAft>
            </a:pPr>
            <a:r>
              <a:rPr lang="vi-VN" altLang="en-US" sz="1100" b="1" dirty="0">
                <a:latin typeface="Arial" panose="020B0604020202020204" pitchFamily="34" charset="0"/>
              </a:rPr>
              <a:t>2. Luồng Dữ liệu Người dùng (User Plane Flow</a:t>
            </a:r>
            <a:r>
              <a:rPr lang="en-US" altLang="en-US" sz="1100" b="1" dirty="0">
                <a:latin typeface="Arial" panose="020B0604020202020204" pitchFamily="34" charset="0"/>
              </a:rPr>
              <a:t>)</a:t>
            </a:r>
            <a:endParaRPr lang="vi-VN" altLang="en-US" sz="1100" b="1" dirty="0">
              <a:latin typeface="Arial" panose="020B0604020202020204" pitchFamily="34" charset="0"/>
            </a:endParaRPr>
          </a:p>
          <a:p>
            <a:pPr lvl="0" defTabSz="914400" eaLnBrk="0" fontAlgn="base" hangingPunct="0">
              <a:spcBef>
                <a:spcPct val="0"/>
              </a:spcBef>
              <a:spcAft>
                <a:spcPct val="0"/>
              </a:spcAft>
            </a:pPr>
            <a:r>
              <a:rPr lang="en-US" altLang="en-US" sz="1100" dirty="0">
                <a:latin typeface="Arial" panose="020B0604020202020204" pitchFamily="34" charset="0"/>
              </a:rPr>
              <a:t>- </a:t>
            </a:r>
            <a:r>
              <a:rPr lang="vi-VN" altLang="en-US" sz="1100" dirty="0">
                <a:latin typeface="Arial" panose="020B0604020202020204" pitchFamily="34" charset="0"/>
              </a:rPr>
              <a:t>Từ Drone đến gNB (Radio Interface):</a:t>
            </a:r>
            <a:r>
              <a:rPr lang="en-US" altLang="en-US" sz="1100" dirty="0">
                <a:latin typeface="Arial" panose="020B0604020202020204" pitchFamily="34" charset="0"/>
              </a:rPr>
              <a:t> </a:t>
            </a:r>
            <a:r>
              <a:rPr lang="vi-VN" altLang="en-US" sz="1100" dirty="0">
                <a:latin typeface="Arial" panose="020B0604020202020204" pitchFamily="34" charset="0"/>
              </a:rPr>
              <a:t>Dữ liệu Video được mã hóa và truyền qua giao diện vô tuyến NR-Uu.</a:t>
            </a:r>
          </a:p>
          <a:p>
            <a:pPr lvl="0" defTabSz="914400" eaLnBrk="0" fontAlgn="base" hangingPunct="0">
              <a:spcBef>
                <a:spcPct val="0"/>
              </a:spcBef>
              <a:spcAft>
                <a:spcPct val="0"/>
              </a:spcAft>
            </a:pPr>
            <a:r>
              <a:rPr lang="en-US" altLang="en-US" sz="1100" dirty="0">
                <a:latin typeface="Arial" panose="020B0604020202020204" pitchFamily="34" charset="0"/>
              </a:rPr>
              <a:t>- </a:t>
            </a:r>
            <a:r>
              <a:rPr lang="vi-VN" altLang="en-US" sz="1100" dirty="0">
                <a:latin typeface="Arial" panose="020B0604020202020204" pitchFamily="34" charset="0"/>
              </a:rPr>
              <a:t>Từ gNB đến UPF (Giao diện N3):</a:t>
            </a:r>
            <a:r>
              <a:rPr lang="en-US" altLang="en-US" sz="1100" dirty="0">
                <a:latin typeface="Arial" panose="020B0604020202020204" pitchFamily="34" charset="0"/>
              </a:rPr>
              <a:t> </a:t>
            </a:r>
            <a:r>
              <a:rPr lang="vi-VN" altLang="en-US" sz="1100" dirty="0">
                <a:latin typeface="Arial" panose="020B0604020202020204" pitchFamily="34" charset="0"/>
              </a:rPr>
              <a:t>gNB đóng gói các gói tin IP video vào trong một đường hầm gọi là GTP-U Tunnel (GPRS Tunneling Protocol - User Plane).</a:t>
            </a:r>
          </a:p>
          <a:p>
            <a:pPr lvl="0" defTabSz="914400" eaLnBrk="0" fontAlgn="base" hangingPunct="0">
              <a:spcBef>
                <a:spcPct val="0"/>
              </a:spcBef>
              <a:spcAft>
                <a:spcPct val="0"/>
              </a:spcAft>
            </a:pPr>
            <a:r>
              <a:rPr lang="en-US" altLang="en-US" sz="1100" dirty="0">
                <a:latin typeface="Arial" panose="020B0604020202020204" pitchFamily="34" charset="0"/>
              </a:rPr>
              <a:t>- </a:t>
            </a:r>
            <a:r>
              <a:rPr lang="vi-VN" altLang="en-US" sz="1100" dirty="0">
                <a:latin typeface="Arial" panose="020B0604020202020204" pitchFamily="34" charset="0"/>
              </a:rPr>
              <a:t>Tại UPF (Xử lý &amp; Local Breakout):</a:t>
            </a: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Decapsulation: UPF bóc tách lớp vỏ GTP-U, lấy ra gói tin IP gốc.</a:t>
            </a: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QoS Enforcement: UPF kiểm tra xem gói tin có đúng luật ưu tiên không (dựa trên lệnh từ SMF trước đó).</a:t>
            </a:r>
          </a:p>
          <a:p>
            <a:pPr marL="171450" lvl="0" indent="-171450" defTabSz="914400" eaLnBrk="0" fontAlgn="base" hangingPunct="0">
              <a:spcBef>
                <a:spcPct val="0"/>
              </a:spcBef>
              <a:spcAft>
                <a:spcPct val="0"/>
              </a:spcAft>
              <a:buFont typeface="Arial" panose="020B0604020202020204" pitchFamily="34" charset="0"/>
              <a:buChar char="•"/>
            </a:pPr>
            <a:r>
              <a:rPr lang="vi-VN" altLang="en-US" sz="1100" dirty="0">
                <a:latin typeface="Arial" panose="020B0604020202020204" pitchFamily="34" charset="0"/>
              </a:rPr>
              <a:t>Routing: Thay vì đẩy ra Internet, UPF định tuyến gói tin qua giao diện N6 trực tiếp đến Local Edge Server (Trung tâm chỉ huy).</a:t>
            </a:r>
          </a:p>
          <a:p>
            <a:pPr lvl="0" defTabSz="914400" eaLnBrk="0" fontAlgn="base" hangingPunct="0">
              <a:spcBef>
                <a:spcPct val="0"/>
              </a:spcBef>
              <a:spcAft>
                <a:spcPct val="0"/>
              </a:spcAft>
            </a:pPr>
            <a:r>
              <a:rPr lang="en-US" altLang="en-US" sz="1100" dirty="0">
                <a:latin typeface="Arial" panose="020B0604020202020204" pitchFamily="34" charset="0"/>
              </a:rPr>
              <a:t>- </a:t>
            </a:r>
            <a:r>
              <a:rPr lang="vi-VN" altLang="en-US" sz="1100" dirty="0">
                <a:latin typeface="Arial" panose="020B0604020202020204" pitchFamily="34" charset="0"/>
              </a:rPr>
              <a:t>Tại Trung tâm chỉ huy:</a:t>
            </a:r>
            <a:r>
              <a:rPr lang="en-US" altLang="en-US" sz="1100" dirty="0">
                <a:latin typeface="Arial" panose="020B0604020202020204" pitchFamily="34" charset="0"/>
              </a:rPr>
              <a:t> </a:t>
            </a:r>
            <a:r>
              <a:rPr lang="vi-VN" altLang="en-US" sz="1100" dirty="0">
                <a:latin typeface="Arial" panose="020B0604020202020204" pitchFamily="34" charset="0"/>
              </a:rPr>
              <a:t>Server nhận được luồng video với độ trễ cực </a:t>
            </a:r>
            <a:r>
              <a:rPr lang="en-US" altLang="en-US" sz="1100" dirty="0" err="1">
                <a:latin typeface="Arial" panose="020B0604020202020204" pitchFamily="34" charset="0"/>
              </a:rPr>
              <a:t>thấp</a:t>
            </a:r>
            <a:r>
              <a:rPr lang="en-US" altLang="en-US" sz="1100" dirty="0">
                <a:latin typeface="Arial" panose="020B0604020202020204" pitchFamily="34" charset="0"/>
              </a:rPr>
              <a:t> </a:t>
            </a:r>
            <a:r>
              <a:rPr lang="vi-VN" altLang="en-US" sz="1100" dirty="0">
                <a:latin typeface="Arial" panose="020B0604020202020204" pitchFamily="34" charset="0"/>
              </a:rPr>
              <a:t>và hiển thị lên màn hình.</a:t>
            </a:r>
            <a:endParaRPr lang="en-US" altLang="en-US" sz="1100" dirty="0">
              <a:latin typeface="Arial" panose="020B0604020202020204" pitchFamily="34" charset="0"/>
            </a:endParaRPr>
          </a:p>
        </p:txBody>
      </p:sp>
    </p:spTree>
    <p:extLst>
      <p:ext uri="{BB962C8B-B14F-4D97-AF65-F5344CB8AC3E}">
        <p14:creationId xmlns:p14="http://schemas.microsoft.com/office/powerpoint/2010/main" val="4156093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79A2550-EBFB-38A7-885D-5C5839AECC5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B5EC07-E8E9-4E40-9494-87440F56CCF1}"/>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317C3435-BC70-ADB3-2449-54AB51D58C92}"/>
              </a:ext>
            </a:extLst>
          </p:cNvPr>
          <p:cNvSpPr>
            <a:spLocks noGrp="1"/>
          </p:cNvSpPr>
          <p:nvPr>
            <p:ph type="title"/>
          </p:nvPr>
        </p:nvSpPr>
        <p:spPr/>
        <p:txBody>
          <a:bodyPr/>
          <a:lstStyle/>
          <a:p>
            <a:r>
              <a:rPr lang="en-US" dirty="0"/>
              <a:t>7. Quy </a:t>
            </a:r>
            <a:r>
              <a:rPr lang="en-US" dirty="0" err="1"/>
              <a:t>luật</a:t>
            </a:r>
            <a:r>
              <a:rPr lang="en-US" dirty="0"/>
              <a:t> </a:t>
            </a:r>
            <a:r>
              <a:rPr lang="en-US" dirty="0" err="1"/>
              <a:t>truyền</a:t>
            </a:r>
            <a:r>
              <a:rPr lang="en-US" dirty="0"/>
              <a:t> </a:t>
            </a:r>
            <a:r>
              <a:rPr lang="en-US" dirty="0" err="1"/>
              <a:t>luồng</a:t>
            </a:r>
            <a:r>
              <a:rPr lang="en-US" dirty="0"/>
              <a:t> video</a:t>
            </a:r>
          </a:p>
        </p:txBody>
      </p:sp>
      <p:sp>
        <p:nvSpPr>
          <p:cNvPr id="8" name="TextBox 7">
            <a:extLst>
              <a:ext uri="{FF2B5EF4-FFF2-40B4-BE49-F238E27FC236}">
                <a16:creationId xmlns:a16="http://schemas.microsoft.com/office/drawing/2014/main" id="{E611C412-E51E-5DA3-C0F2-5F66A7B36031}"/>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2CD417B1-B2BA-6C1F-8E7A-210084CE6426}"/>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5" name="TextBox 4">
            <a:extLst>
              <a:ext uri="{FF2B5EF4-FFF2-40B4-BE49-F238E27FC236}">
                <a16:creationId xmlns:a16="http://schemas.microsoft.com/office/drawing/2014/main" id="{36745306-F612-AAA8-1265-5293D22EE347}"/>
              </a:ext>
            </a:extLst>
          </p:cNvPr>
          <p:cNvSpPr txBox="1"/>
          <p:nvPr/>
        </p:nvSpPr>
        <p:spPr>
          <a:xfrm>
            <a:off x="235077" y="863643"/>
            <a:ext cx="8673845" cy="5047536"/>
          </a:xfrm>
          <a:prstGeom prst="rect">
            <a:avLst/>
          </a:prstGeom>
          <a:noFill/>
        </p:spPr>
        <p:txBody>
          <a:bodyPr wrap="square">
            <a:spAutoFit/>
          </a:bodyPr>
          <a:lstStyle/>
          <a:p>
            <a:r>
              <a:rPr lang="en-US" sz="1400" b="1" dirty="0"/>
              <a:t>Video → Frames → Packets</a:t>
            </a:r>
          </a:p>
          <a:p>
            <a:endParaRPr lang="en-US" sz="1400" b="1" kern="1200" dirty="0">
              <a:solidFill>
                <a:schemeClr val="tx1"/>
              </a:solidFill>
              <a:effectLst/>
              <a:latin typeface="Arial" panose="020B0604020202020204" pitchFamily="34" charset="0"/>
              <a:cs typeface="Arial" panose="020B0604020202020204" pitchFamily="34" charset="0"/>
            </a:endParaRPr>
          </a:p>
          <a:p>
            <a:pPr marL="228600" indent="-228600">
              <a:buAutoNum type="arabicPeriod"/>
            </a:pPr>
            <a:r>
              <a:rPr lang="vi-VN" sz="1400" kern="1200" dirty="0">
                <a:solidFill>
                  <a:schemeClr val="tx1"/>
                </a:solidFill>
                <a:effectLst/>
                <a:latin typeface="Arial" panose="020B0604020202020204" pitchFamily="34" charset="0"/>
                <a:cs typeface="Arial" panose="020B0604020202020204" pitchFamily="34" charset="0"/>
              </a:rPr>
              <a:t>Camera tạo các Frame</a:t>
            </a:r>
            <a:r>
              <a:rPr lang="en-US" sz="1400" kern="1200" dirty="0">
                <a:solidFill>
                  <a:schemeClr val="tx1"/>
                </a:solidFill>
                <a:effectLst/>
                <a:latin typeface="Arial" panose="020B0604020202020204" pitchFamily="34" charset="0"/>
                <a:cs typeface="Arial" panose="020B0604020202020204" pitchFamily="34" charset="0"/>
              </a:rPr>
              <a:t>: </a:t>
            </a:r>
            <a:r>
              <a:rPr lang="en-US" sz="1400" kern="1200" dirty="0" err="1">
                <a:solidFill>
                  <a:schemeClr val="tx1"/>
                </a:solidFill>
                <a:effectLst/>
                <a:latin typeface="Arial" panose="020B0604020202020204" pitchFamily="34" charset="0"/>
                <a:cs typeface="Arial" panose="020B0604020202020204" pitchFamily="34" charset="0"/>
              </a:rPr>
              <a:t>mỗi</a:t>
            </a:r>
            <a:r>
              <a:rPr lang="en-US" sz="1400" kern="1200" dirty="0">
                <a:solidFill>
                  <a:schemeClr val="tx1"/>
                </a:solidFill>
                <a:effectLst/>
                <a:latin typeface="Arial" panose="020B0604020202020204" pitchFamily="34" charset="0"/>
                <a:cs typeface="Arial" panose="020B0604020202020204" pitchFamily="34" charset="0"/>
              </a:rPr>
              <a:t> </a:t>
            </a:r>
            <a:r>
              <a:rPr lang="en-US" sz="1400" kern="1200" dirty="0" err="1">
                <a:solidFill>
                  <a:schemeClr val="tx1"/>
                </a:solidFill>
                <a:effectLst/>
                <a:latin typeface="Arial" panose="020B0604020202020204" pitchFamily="34" charset="0"/>
                <a:cs typeface="Arial" panose="020B0604020202020204" pitchFamily="34" charset="0"/>
              </a:rPr>
              <a:t>giây</a:t>
            </a:r>
            <a:r>
              <a:rPr lang="en-US" sz="1400" kern="1200" dirty="0">
                <a:solidFill>
                  <a:schemeClr val="tx1"/>
                </a:solidFill>
                <a:effectLst/>
                <a:latin typeface="Arial" panose="020B0604020202020204" pitchFamily="34" charset="0"/>
                <a:cs typeface="Arial" panose="020B0604020202020204" pitchFamily="34" charset="0"/>
              </a:rPr>
              <a:t> </a:t>
            </a:r>
            <a:r>
              <a:rPr lang="en-US" sz="1400" kern="1200" dirty="0" err="1">
                <a:solidFill>
                  <a:schemeClr val="tx1"/>
                </a:solidFill>
                <a:effectLst/>
                <a:latin typeface="Arial" panose="020B0604020202020204" pitchFamily="34" charset="0"/>
                <a:cs typeface="Arial" panose="020B0604020202020204" pitchFamily="34" charset="0"/>
              </a:rPr>
              <a:t>có</a:t>
            </a:r>
            <a:r>
              <a:rPr lang="en-US" sz="1400" kern="1200" dirty="0">
                <a:solidFill>
                  <a:schemeClr val="tx1"/>
                </a:solidFill>
                <a:effectLst/>
                <a:latin typeface="Arial" panose="020B0604020202020204" pitchFamily="34" charset="0"/>
                <a:cs typeface="Arial" panose="020B0604020202020204" pitchFamily="34" charset="0"/>
              </a:rPr>
              <a:t> 30 frame</a:t>
            </a:r>
          </a:p>
          <a:p>
            <a:r>
              <a:rPr lang="en-US" sz="1400" kern="1200" dirty="0" err="1">
                <a:solidFill>
                  <a:schemeClr val="tx1"/>
                </a:solidFill>
                <a:effectLst/>
                <a:latin typeface="Arial" panose="020B0604020202020204" pitchFamily="34" charset="0"/>
                <a:cs typeface="Arial" panose="020B0604020202020204" pitchFamily="34" charset="0"/>
              </a:rPr>
              <a:t>Mỗi</a:t>
            </a:r>
            <a:r>
              <a:rPr lang="en-US" sz="1400" kern="1200" dirty="0">
                <a:solidFill>
                  <a:schemeClr val="tx1"/>
                </a:solidFill>
                <a:effectLst/>
                <a:latin typeface="Arial" panose="020B0604020202020204" pitchFamily="34" charset="0"/>
                <a:cs typeface="Arial" panose="020B0604020202020204" pitchFamily="34" charset="0"/>
              </a:rPr>
              <a:t> frame </a:t>
            </a:r>
            <a:r>
              <a:rPr lang="en-US" sz="1400" kern="1200" dirty="0" err="1">
                <a:solidFill>
                  <a:schemeClr val="tx1"/>
                </a:solidFill>
                <a:effectLst/>
                <a:latin typeface="Arial" panose="020B0604020202020204" pitchFamily="34" charset="0"/>
                <a:cs typeface="Arial" panose="020B0604020202020204" pitchFamily="34" charset="0"/>
              </a:rPr>
              <a:t>có</a:t>
            </a:r>
            <a:r>
              <a:rPr lang="en-US" sz="1400" kern="1200" dirty="0">
                <a:solidFill>
                  <a:schemeClr val="tx1"/>
                </a:solidFill>
                <a:effectLst/>
                <a:latin typeface="Arial" panose="020B0604020202020204" pitchFamily="34" charset="0"/>
                <a:cs typeface="Arial" panose="020B0604020202020204" pitchFamily="34" charset="0"/>
              </a:rPr>
              <a:t> </a:t>
            </a:r>
            <a:r>
              <a:rPr lang="en-US" sz="1400" kern="1200" dirty="0" err="1">
                <a:solidFill>
                  <a:schemeClr val="tx1"/>
                </a:solidFill>
                <a:effectLst/>
                <a:latin typeface="Arial" panose="020B0604020202020204" pitchFamily="34" charset="0"/>
                <a:cs typeface="Arial" panose="020B0604020202020204" pitchFamily="34" charset="0"/>
              </a:rPr>
              <a:t>kích</a:t>
            </a:r>
            <a:r>
              <a:rPr lang="en-US" sz="1400" kern="1200" dirty="0">
                <a:solidFill>
                  <a:schemeClr val="tx1"/>
                </a:solidFill>
                <a:effectLst/>
                <a:latin typeface="Arial" panose="020B0604020202020204" pitchFamily="34" charset="0"/>
                <a:cs typeface="Arial" panose="020B0604020202020204" pitchFamily="34" charset="0"/>
              </a:rPr>
              <a:t> </a:t>
            </a:r>
            <a:r>
              <a:rPr lang="en-US" sz="1400" kern="1200" dirty="0" err="1">
                <a:solidFill>
                  <a:schemeClr val="tx1"/>
                </a:solidFill>
                <a:effectLst/>
                <a:latin typeface="Arial" panose="020B0604020202020204" pitchFamily="34" charset="0"/>
                <a:cs typeface="Arial" panose="020B0604020202020204" pitchFamily="34" charset="0"/>
              </a:rPr>
              <a:t>thước</a:t>
            </a:r>
            <a:r>
              <a:rPr lang="en-US" sz="1400" kern="1200" dirty="0">
                <a:solidFill>
                  <a:schemeClr val="tx1"/>
                </a:solidFill>
                <a:effectLst/>
                <a:latin typeface="Arial" panose="020B0604020202020204" pitchFamily="34" charset="0"/>
                <a:cs typeface="Arial" panose="020B0604020202020204" pitchFamily="34" charset="0"/>
              </a:rPr>
              <a:t> </a:t>
            </a:r>
            <a:r>
              <a:rPr lang="en-US" sz="1400" kern="1200" dirty="0" err="1">
                <a:solidFill>
                  <a:schemeClr val="tx1"/>
                </a:solidFill>
                <a:effectLst/>
                <a:latin typeface="Arial" panose="020B0604020202020204" pitchFamily="34" charset="0"/>
                <a:cs typeface="Arial" panose="020B0604020202020204" pitchFamily="34" charset="0"/>
              </a:rPr>
              <a:t>tùy</a:t>
            </a:r>
            <a:r>
              <a:rPr lang="en-US" sz="1400" kern="1200" dirty="0">
                <a:solidFill>
                  <a:schemeClr val="tx1"/>
                </a:solidFill>
                <a:effectLst/>
                <a:latin typeface="Arial" panose="020B0604020202020204" pitchFamily="34" charset="0"/>
                <a:cs typeface="Arial" panose="020B0604020202020204" pitchFamily="34" charset="0"/>
              </a:rPr>
              <a:t> bitrate</a:t>
            </a:r>
          </a:p>
          <a:p>
            <a:r>
              <a:rPr lang="en-US" sz="1400" dirty="0">
                <a:latin typeface="Arial" panose="020B0604020202020204" pitchFamily="34" charset="0"/>
                <a:cs typeface="Arial" panose="020B0604020202020204" pitchFamily="34" charset="0"/>
              </a:rPr>
              <a:t>20MBps </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mỗi</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giây</a:t>
            </a:r>
            <a:r>
              <a:rPr lang="en-US" sz="1400" dirty="0">
                <a:latin typeface="Arial" panose="020B0604020202020204" pitchFamily="34" charset="0"/>
                <a:cs typeface="Arial" panose="020B0604020202020204" pitchFamily="34" charset="0"/>
                <a:sym typeface="Wingdings" panose="05000000000000000000" pitchFamily="2" charset="2"/>
              </a:rPr>
              <a:t> 2.5 MB</a:t>
            </a:r>
            <a:endParaRPr lang="en-US" sz="1400" kern="1200" dirty="0">
              <a:solidFill>
                <a:schemeClr val="tx1"/>
              </a:solidFill>
              <a:effectLst/>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2. </a:t>
            </a:r>
            <a:r>
              <a:rPr lang="en-US" sz="1400" dirty="0" err="1">
                <a:latin typeface="Arial" panose="020B0604020202020204" pitchFamily="34" charset="0"/>
                <a:cs typeface="Arial" panose="020B0604020202020204" pitchFamily="34" charset="0"/>
              </a:rPr>
              <a:t>Mỗi</a:t>
            </a:r>
            <a:r>
              <a:rPr lang="en-US" sz="1400" dirty="0">
                <a:latin typeface="Arial" panose="020B0604020202020204" pitchFamily="34" charset="0"/>
                <a:cs typeface="Arial" panose="020B0604020202020204" pitchFamily="34" charset="0"/>
              </a:rPr>
              <a:t> frame </a:t>
            </a:r>
            <a:r>
              <a:rPr lang="en-US" sz="1400" dirty="0" err="1">
                <a:latin typeface="Arial" panose="020B0604020202020204" pitchFamily="34" charset="0"/>
                <a:cs typeface="Arial" panose="020B0604020202020204" pitchFamily="34" charset="0"/>
              </a:rPr>
              <a:t>được</a:t>
            </a:r>
            <a:r>
              <a:rPr lang="en-US" sz="1400" dirty="0">
                <a:latin typeface="Arial" panose="020B0604020202020204" pitchFamily="34" charset="0"/>
                <a:cs typeface="Arial" panose="020B0604020202020204" pitchFamily="34" charset="0"/>
              </a:rPr>
              <a:t> encoder </a:t>
            </a:r>
            <a:r>
              <a:rPr lang="en-US" sz="1400" dirty="0" err="1">
                <a:latin typeface="Arial" panose="020B0604020202020204" pitchFamily="34" charset="0"/>
                <a:cs typeface="Arial" panose="020B0604020202020204" pitchFamily="34" charset="0"/>
              </a:rPr>
              <a:t>nén</a:t>
            </a:r>
            <a:r>
              <a:rPr lang="en-US" sz="1400" dirty="0">
                <a:latin typeface="Arial" panose="020B0604020202020204" pitchFamily="34" charset="0"/>
                <a:cs typeface="Arial" panose="020B0604020202020204" pitchFamily="34" charset="0"/>
              </a:rPr>
              <a:t> (H.264/H.265) </a:t>
            </a:r>
            <a:r>
              <a:rPr lang="en-US" sz="1400" dirty="0">
                <a:latin typeface="Arial" panose="020B0604020202020204" pitchFamily="34" charset="0"/>
                <a:cs typeface="Arial" panose="020B0604020202020204" pitchFamily="34" charset="0"/>
                <a:sym typeface="Wingdings" panose="05000000000000000000" pitchFamily="2" charset="2"/>
              </a:rPr>
              <a:t> 3 </a:t>
            </a:r>
            <a:r>
              <a:rPr lang="en-US" sz="1400" dirty="0" err="1">
                <a:latin typeface="Arial" panose="020B0604020202020204" pitchFamily="34" charset="0"/>
                <a:cs typeface="Arial" panose="020B0604020202020204" pitchFamily="34" charset="0"/>
                <a:sym typeface="Wingdings" panose="05000000000000000000" pitchFamily="2" charset="2"/>
              </a:rPr>
              <a:t>loại</a:t>
            </a:r>
            <a:r>
              <a:rPr lang="en-US" sz="1400" dirty="0">
                <a:latin typeface="Arial" panose="020B0604020202020204" pitchFamily="34" charset="0"/>
                <a:cs typeface="Arial" panose="020B0604020202020204" pitchFamily="34" charset="0"/>
                <a:sym typeface="Wingdings" panose="05000000000000000000" pitchFamily="2" charset="2"/>
              </a:rPr>
              <a:t> frame: I-frame (key frame), P-frame, B-frame</a:t>
            </a:r>
            <a:endParaRPr lang="vi-VN" sz="1400" kern="1200" dirty="0">
              <a:solidFill>
                <a:schemeClr val="tx1"/>
              </a:solidFill>
              <a:effectLst/>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a:t>
            </a:r>
            <a:r>
              <a:rPr lang="en-US" sz="1400" dirty="0" err="1"/>
              <a:t>Luồng</a:t>
            </a:r>
            <a:r>
              <a:rPr lang="en-US" sz="1400" dirty="0"/>
              <a:t> video </a:t>
            </a:r>
            <a:r>
              <a:rPr lang="en-US" sz="1400" dirty="0" err="1"/>
              <a:t>gồm</a:t>
            </a:r>
            <a:r>
              <a:rPr lang="en-US" sz="1400" dirty="0"/>
              <a:t> chu </a:t>
            </a:r>
            <a:r>
              <a:rPr lang="en-US" sz="1400" dirty="0" err="1"/>
              <a:t>kỳ</a:t>
            </a:r>
            <a:r>
              <a:rPr lang="en-US" sz="1400" dirty="0"/>
              <a:t>: </a:t>
            </a:r>
            <a:r>
              <a:rPr lang="en-US" sz="1400" b="1" dirty="0"/>
              <a:t>I — P — B — B — P — B — B — I — …</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3. Frame </a:t>
            </a:r>
            <a:r>
              <a:rPr lang="en-US" sz="1400" dirty="0" err="1">
                <a:latin typeface="Arial" panose="020B0604020202020204" pitchFamily="34" charset="0"/>
                <a:cs typeface="Arial" panose="020B0604020202020204" pitchFamily="34" charset="0"/>
              </a:rPr>
              <a:t>được</a:t>
            </a:r>
            <a:r>
              <a:rPr lang="en-US" sz="1400" dirty="0">
                <a:latin typeface="Arial" panose="020B0604020202020204" pitchFamily="34" charset="0"/>
                <a:cs typeface="Arial" panose="020B0604020202020204" pitchFamily="34" charset="0"/>
              </a:rPr>
              <a:t> chia </a:t>
            </a:r>
            <a:r>
              <a:rPr lang="en-US" sz="1400" dirty="0" err="1">
                <a:latin typeface="Arial" panose="020B0604020202020204" pitchFamily="34" charset="0"/>
                <a:cs typeface="Arial" panose="020B0604020202020204" pitchFamily="34" charset="0"/>
              </a:rPr>
              <a:t>nhỏ</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thành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gói</a:t>
            </a:r>
            <a:r>
              <a:rPr lang="en-US" sz="1400" dirty="0">
                <a:latin typeface="Arial" panose="020B0604020202020204" pitchFamily="34" charset="0"/>
                <a:cs typeface="Arial" panose="020B0604020202020204" pitchFamily="34" charset="0"/>
              </a:rPr>
              <a:t> tin IP (MTU 1500 bytes)</a:t>
            </a:r>
          </a:p>
          <a:p>
            <a:r>
              <a:rPr lang="en-US" sz="1400" dirty="0">
                <a:latin typeface="Arial" panose="020B0604020202020204" pitchFamily="34" charset="0"/>
                <a:cs typeface="Arial" panose="020B0604020202020204" pitchFamily="34" charset="0"/>
              </a:rPr>
              <a:t>4. </a:t>
            </a:r>
            <a:r>
              <a:rPr lang="en-US" sz="1400" dirty="0" err="1">
                <a:latin typeface="Arial" panose="020B0604020202020204" pitchFamily="34" charset="0"/>
                <a:cs typeface="Arial" panose="020B0604020202020204" pitchFamily="34" charset="0"/>
              </a:rPr>
              <a:t>Gửi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theo</a:t>
            </a:r>
            <a:r>
              <a:rPr lang="en-US" sz="1400" dirty="0">
                <a:latin typeface="Arial" panose="020B0604020202020204" pitchFamily="34" charset="0"/>
                <a:cs typeface="Arial" panose="020B0604020202020204" pitchFamily="34" charset="0"/>
              </a:rPr>
              <a:t> UDP (</a:t>
            </a:r>
            <a:r>
              <a:rPr lang="en-US" sz="1400" dirty="0" err="1">
                <a:latin typeface="Arial" panose="020B0604020202020204" pitchFamily="34" charset="0"/>
                <a:cs typeface="Arial" panose="020B0604020202020204" pitchFamily="34" charset="0"/>
              </a:rPr>
              <a:t>theo</a:t>
            </a:r>
            <a:r>
              <a:rPr lang="en-US" sz="1400" dirty="0">
                <a:latin typeface="Arial" panose="020B0604020202020204" pitchFamily="34" charset="0"/>
                <a:cs typeface="Arial" panose="020B0604020202020204" pitchFamily="34" charset="0"/>
              </a:rPr>
              <a:t> drone streaming)</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pPr marL="171450" indent="-171450">
              <a:buFont typeface="Wingdings" panose="05000000000000000000" pitchFamily="2" charset="2"/>
              <a:buChar char="à"/>
            </a:pPr>
            <a:r>
              <a:rPr lang="en-US" sz="1400" b="1" dirty="0" err="1">
                <a:latin typeface="Arial" panose="020B0604020202020204" pitchFamily="34" charset="0"/>
                <a:cs typeface="Arial" panose="020B0604020202020204" pitchFamily="34" charset="0"/>
                <a:sym typeface="Wingdings" panose="05000000000000000000" pitchFamily="2" charset="2"/>
              </a:rPr>
              <a:t>Có</a:t>
            </a:r>
            <a:r>
              <a:rPr lang="en-US" sz="1400" b="1" dirty="0">
                <a:latin typeface="Arial" panose="020B0604020202020204" pitchFamily="34" charset="0"/>
                <a:cs typeface="Arial" panose="020B0604020202020204" pitchFamily="34" charset="0"/>
                <a:sym typeface="Wingdings" panose="05000000000000000000" pitchFamily="2" charset="2"/>
              </a:rPr>
              <a:t> </a:t>
            </a:r>
            <a:r>
              <a:rPr lang="en-US" sz="1400" b="1" dirty="0" err="1">
                <a:latin typeface="Arial" panose="020B0604020202020204" pitchFamily="34" charset="0"/>
                <a:cs typeface="Arial" panose="020B0604020202020204" pitchFamily="34" charset="0"/>
                <a:sym typeface="Wingdings" panose="05000000000000000000" pitchFamily="2" charset="2"/>
              </a:rPr>
              <a:t>thể</a:t>
            </a:r>
            <a:r>
              <a:rPr lang="en-US" sz="1400" b="1" dirty="0">
                <a:latin typeface="Arial" panose="020B0604020202020204" pitchFamily="34" charset="0"/>
                <a:cs typeface="Arial" panose="020B0604020202020204" pitchFamily="34" charset="0"/>
                <a:sym typeface="Wingdings" panose="05000000000000000000" pitchFamily="2" charset="2"/>
              </a:rPr>
              <a:t> </a:t>
            </a:r>
            <a:r>
              <a:rPr lang="en-US" sz="1400" b="1" dirty="0" err="1">
                <a:latin typeface="Arial" panose="020B0604020202020204" pitchFamily="34" charset="0"/>
                <a:cs typeface="Arial" panose="020B0604020202020204" pitchFamily="34" charset="0"/>
                <a:sym typeface="Wingdings" panose="05000000000000000000" pitchFamily="2" charset="2"/>
              </a:rPr>
              <a:t>mô</a:t>
            </a:r>
            <a:r>
              <a:rPr lang="en-US" sz="1400" b="1" dirty="0">
                <a:latin typeface="Arial" panose="020B0604020202020204" pitchFamily="34" charset="0"/>
                <a:cs typeface="Arial" panose="020B0604020202020204" pitchFamily="34" charset="0"/>
                <a:sym typeface="Wingdings" panose="05000000000000000000" pitchFamily="2" charset="2"/>
              </a:rPr>
              <a:t> </a:t>
            </a:r>
            <a:r>
              <a:rPr lang="en-US" sz="1400" b="1" dirty="0" err="1">
                <a:latin typeface="Arial" panose="020B0604020202020204" pitchFamily="34" charset="0"/>
                <a:cs typeface="Arial" panose="020B0604020202020204" pitchFamily="34" charset="0"/>
                <a:sym typeface="Wingdings" panose="05000000000000000000" pitchFamily="2" charset="2"/>
              </a:rPr>
              <a:t>phỏng</a:t>
            </a:r>
            <a:r>
              <a:rPr lang="en-US" sz="1400" b="1" dirty="0">
                <a:latin typeface="Arial" panose="020B0604020202020204" pitchFamily="34" charset="0"/>
                <a:cs typeface="Arial" panose="020B0604020202020204" pitchFamily="34" charset="0"/>
                <a:sym typeface="Wingdings" panose="05000000000000000000" pitchFamily="2" charset="2"/>
              </a:rPr>
              <a:t> </a:t>
            </a:r>
            <a:r>
              <a:rPr lang="en-US" sz="1400" b="1" dirty="0" err="1">
                <a:latin typeface="Arial" panose="020B0604020202020204" pitchFamily="34" charset="0"/>
                <a:cs typeface="Arial" panose="020B0604020202020204" pitchFamily="34" charset="0"/>
                <a:sym typeface="Wingdings" panose="05000000000000000000" pitchFamily="2" charset="2"/>
              </a:rPr>
              <a:t>trong</a:t>
            </a:r>
            <a:r>
              <a:rPr lang="en-US" sz="1400" b="1" dirty="0">
                <a:latin typeface="Arial" panose="020B0604020202020204" pitchFamily="34" charset="0"/>
                <a:cs typeface="Arial" panose="020B0604020202020204" pitchFamily="34" charset="0"/>
                <a:sym typeface="Wingdings" panose="05000000000000000000" pitchFamily="2" charset="2"/>
              </a:rPr>
              <a:t> NS-3 </a:t>
            </a:r>
            <a:r>
              <a:rPr lang="en-US" sz="1400" b="1" dirty="0" err="1">
                <a:latin typeface="Arial" panose="020B0604020202020204" pitchFamily="34" charset="0"/>
                <a:cs typeface="Arial" panose="020B0604020202020204" pitchFamily="34" charset="0"/>
                <a:sym typeface="Wingdings" panose="05000000000000000000" pitchFamily="2" charset="2"/>
              </a:rPr>
              <a:t>bằng</a:t>
            </a:r>
            <a:r>
              <a:rPr lang="en-US" sz="1400" b="1" dirty="0">
                <a:latin typeface="Arial" panose="020B0604020202020204" pitchFamily="34" charset="0"/>
                <a:cs typeface="Arial" panose="020B0604020202020204" pitchFamily="34" charset="0"/>
                <a:sym typeface="Wingdings" panose="05000000000000000000" pitchFamily="2" charset="2"/>
              </a:rPr>
              <a:t> </a:t>
            </a:r>
            <a:r>
              <a:rPr lang="en-US" sz="1400" b="1" dirty="0" err="1">
                <a:latin typeface="Arial" panose="020B0604020202020204" pitchFamily="34" charset="0"/>
                <a:cs typeface="Arial" panose="020B0604020202020204" pitchFamily="34" charset="0"/>
                <a:sym typeface="Wingdings" panose="05000000000000000000" pitchFamily="2" charset="2"/>
              </a:rPr>
              <a:t>cách</a:t>
            </a:r>
            <a:endParaRPr lang="en-US" sz="1400" b="1" dirty="0">
              <a:latin typeface="Arial" panose="020B0604020202020204" pitchFamily="34" charset="0"/>
              <a:cs typeface="Arial" panose="020B0604020202020204" pitchFamily="34" charset="0"/>
              <a:sym typeface="Wingdings" panose="05000000000000000000" pitchFamily="2" charset="2"/>
            </a:endParaRPr>
          </a:p>
          <a:p>
            <a:pPr marL="171450" indent="-171450">
              <a:buFont typeface="Wingdings" panose="05000000000000000000" pitchFamily="2" charset="2"/>
              <a:buChar char="à"/>
            </a:pPr>
            <a:endParaRPr lang="en-US" sz="1400" dirty="0">
              <a:latin typeface="Arial" panose="020B0604020202020204" pitchFamily="34" charset="0"/>
              <a:cs typeface="Arial" panose="020B0604020202020204" pitchFamily="34" charset="0"/>
              <a:sym typeface="Wingdings" panose="05000000000000000000" pitchFamily="2" charset="2"/>
            </a:endParaRPr>
          </a:p>
          <a:p>
            <a:r>
              <a:rPr lang="en-US" sz="1400" dirty="0">
                <a:latin typeface="Arial" panose="020B0604020202020204" pitchFamily="34" charset="0"/>
                <a:cs typeface="Arial" panose="020B0604020202020204" pitchFamily="34" charset="0"/>
                <a:sym typeface="Wingdings" panose="05000000000000000000" pitchFamily="2" charset="2"/>
              </a:rPr>
              <a:t>(1): Packet size = 1472 bytes</a:t>
            </a:r>
          </a:p>
          <a:p>
            <a:r>
              <a:rPr lang="en-US" sz="1400" dirty="0">
                <a:latin typeface="Arial" panose="020B0604020202020204" pitchFamily="34" charset="0"/>
                <a:cs typeface="Arial" panose="020B0604020202020204" pitchFamily="34" charset="0"/>
                <a:sym typeface="Wingdings" panose="05000000000000000000" pitchFamily="2" charset="2"/>
              </a:rPr>
              <a:t>(2): </a:t>
            </a:r>
            <a:r>
              <a:rPr lang="en-US" sz="1400" dirty="0" err="1">
                <a:latin typeface="Arial" panose="020B0604020202020204" pitchFamily="34" charset="0"/>
                <a:cs typeface="Arial" panose="020B0604020202020204" pitchFamily="34" charset="0"/>
                <a:sym typeface="Wingdings" panose="05000000000000000000" pitchFamily="2" charset="2"/>
              </a:rPr>
              <a:t>Gửi</a:t>
            </a:r>
            <a:r>
              <a:rPr lang="en-US" sz="1400" dirty="0">
                <a:latin typeface="Arial" panose="020B0604020202020204" pitchFamily="34" charset="0"/>
                <a:cs typeface="Arial" panose="020B0604020202020204" pitchFamily="34" charset="0"/>
                <a:sym typeface="Wingdings" panose="05000000000000000000" pitchFamily="2" charset="2"/>
              </a:rPr>
              <a:t> packets </a:t>
            </a:r>
            <a:r>
              <a:rPr lang="en-US" sz="1400" dirty="0" err="1">
                <a:latin typeface="Arial" panose="020B0604020202020204" pitchFamily="34" charset="0"/>
                <a:cs typeface="Arial" panose="020B0604020202020204" pitchFamily="34" charset="0"/>
                <a:sym typeface="Wingdings" panose="05000000000000000000" pitchFamily="2" charset="2"/>
              </a:rPr>
              <a:t>theo</a:t>
            </a:r>
            <a:r>
              <a:rPr lang="en-US" sz="1400" dirty="0">
                <a:latin typeface="Arial" panose="020B0604020202020204" pitchFamily="34" charset="0"/>
                <a:cs typeface="Arial" panose="020B0604020202020204" pitchFamily="34" charset="0"/>
                <a:sym typeface="Wingdings" panose="05000000000000000000" pitchFamily="2" charset="2"/>
              </a:rPr>
              <a:t> bitrate (</a:t>
            </a:r>
            <a:r>
              <a:rPr lang="en-US" sz="1400" dirty="0" err="1">
                <a:latin typeface="Arial" panose="020B0604020202020204" pitchFamily="34" charset="0"/>
                <a:cs typeface="Arial" panose="020B0604020202020204" pitchFamily="34" charset="0"/>
                <a:sym typeface="Wingdings" panose="05000000000000000000" pitchFamily="2" charset="2"/>
              </a:rPr>
              <a:t>chọn</a:t>
            </a:r>
            <a:r>
              <a:rPr lang="en-US" sz="1400" dirty="0">
                <a:latin typeface="Arial" panose="020B0604020202020204" pitchFamily="34" charset="0"/>
                <a:cs typeface="Arial" panose="020B0604020202020204" pitchFamily="34" charset="0"/>
                <a:sym typeface="Wingdings" panose="05000000000000000000" pitchFamily="2" charset="2"/>
              </a:rPr>
              <a:t> bitrate = 20 Mbps </a:t>
            </a:r>
            <a:r>
              <a:rPr lang="en-US" sz="1400" dirty="0" err="1">
                <a:latin typeface="Arial" panose="020B0604020202020204" pitchFamily="34" charset="0"/>
                <a:cs typeface="Arial" panose="020B0604020202020204" pitchFamily="34" charset="0"/>
                <a:sym typeface="Wingdings" panose="05000000000000000000" pitchFamily="2" charset="2"/>
              </a:rPr>
              <a:t>cho</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phù</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hợp</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với</a:t>
            </a:r>
            <a:r>
              <a:rPr lang="en-US" sz="1400" dirty="0">
                <a:latin typeface="Arial" panose="020B0604020202020204" pitchFamily="34" charset="0"/>
                <a:cs typeface="Arial" panose="020B0604020202020204" pitchFamily="34" charset="0"/>
                <a:sym typeface="Wingdings" panose="05000000000000000000" pitchFamily="2" charset="2"/>
              </a:rPr>
              <a:t> drone)</a:t>
            </a:r>
          </a:p>
          <a:p>
            <a:r>
              <a:rPr lang="en-US" sz="1400" dirty="0">
                <a:latin typeface="Arial" panose="020B0604020202020204" pitchFamily="34" charset="0"/>
                <a:cs typeface="Arial" panose="020B0604020202020204" pitchFamily="34" charset="0"/>
                <a:sym typeface="Wingdings" panose="05000000000000000000" pitchFamily="2" charset="2"/>
              </a:rPr>
              <a:t>(3): </a:t>
            </a:r>
            <a:r>
              <a:rPr lang="en-US" sz="1400" dirty="0" err="1">
                <a:latin typeface="Arial" panose="020B0604020202020204" pitchFamily="34" charset="0"/>
                <a:cs typeface="Arial" panose="020B0604020202020204" pitchFamily="34" charset="0"/>
                <a:sym typeface="Wingdings" panose="05000000000000000000" pitchFamily="2" charset="2"/>
              </a:rPr>
              <a:t>thỉnh</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thoảng</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gửi</a:t>
            </a:r>
            <a:r>
              <a:rPr lang="en-US" sz="1400" dirty="0">
                <a:latin typeface="Arial" panose="020B0604020202020204" pitchFamily="34" charset="0"/>
                <a:cs typeface="Arial" panose="020B0604020202020204" pitchFamily="34" charset="0"/>
                <a:sym typeface="Wingdings" panose="05000000000000000000" pitchFamily="2" charset="2"/>
              </a:rPr>
              <a:t> burst</a:t>
            </a:r>
          </a:p>
          <a:p>
            <a:pPr marL="171450" indent="-171450">
              <a:buFontTx/>
              <a:buChar char="-"/>
            </a:pPr>
            <a:r>
              <a:rPr lang="en-US" sz="1400" dirty="0" err="1">
                <a:latin typeface="Arial" panose="020B0604020202020204" pitchFamily="34" charset="0"/>
                <a:cs typeface="Arial" panose="020B0604020202020204" pitchFamily="34" charset="0"/>
                <a:sym typeface="Wingdings" panose="05000000000000000000" pitchFamily="2" charset="2"/>
              </a:rPr>
              <a:t>Cứ</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mỗi</a:t>
            </a:r>
            <a:r>
              <a:rPr lang="en-US" sz="1400" dirty="0">
                <a:latin typeface="Arial" panose="020B0604020202020204" pitchFamily="34" charset="0"/>
                <a:cs typeface="Arial" panose="020B0604020202020204" pitchFamily="34" charset="0"/>
                <a:sym typeface="Wingdings" panose="05000000000000000000" pitchFamily="2" charset="2"/>
              </a:rPr>
              <a:t> 1 </a:t>
            </a:r>
            <a:r>
              <a:rPr lang="en-US" sz="1400" dirty="0" err="1">
                <a:latin typeface="Arial" panose="020B0604020202020204" pitchFamily="34" charset="0"/>
                <a:cs typeface="Arial" panose="020B0604020202020204" pitchFamily="34" charset="0"/>
                <a:sym typeface="Wingdings" panose="05000000000000000000" pitchFamily="2" charset="2"/>
              </a:rPr>
              <a:t>giây</a:t>
            </a:r>
            <a:r>
              <a:rPr lang="en-US" sz="1400" dirty="0">
                <a:latin typeface="Arial" panose="020B0604020202020204" pitchFamily="34" charset="0"/>
                <a:cs typeface="Arial" panose="020B0604020202020204" pitchFamily="34" charset="0"/>
                <a:sym typeface="Wingdings" panose="05000000000000000000" pitchFamily="2" charset="2"/>
              </a:rPr>
              <a:t>  </a:t>
            </a:r>
            <a:r>
              <a:rPr lang="en-US" sz="1400" dirty="0" err="1">
                <a:latin typeface="Arial" panose="020B0604020202020204" pitchFamily="34" charset="0"/>
                <a:cs typeface="Arial" panose="020B0604020202020204" pitchFamily="34" charset="0"/>
                <a:sym typeface="Wingdings" panose="05000000000000000000" pitchFamily="2" charset="2"/>
              </a:rPr>
              <a:t>tăng</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gửi</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gói</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thành</a:t>
            </a:r>
            <a:r>
              <a:rPr lang="en-US" sz="1400" dirty="0">
                <a:latin typeface="Arial" panose="020B0604020202020204" pitchFamily="34" charset="0"/>
                <a:cs typeface="Arial" panose="020B0604020202020204" pitchFamily="34" charset="0"/>
                <a:sym typeface="Wingdings" panose="05000000000000000000" pitchFamily="2" charset="2"/>
              </a:rPr>
              <a:t> 200 – 300 packets burst</a:t>
            </a:r>
          </a:p>
          <a:p>
            <a:r>
              <a:rPr lang="en-US" sz="1400" dirty="0">
                <a:latin typeface="Arial" panose="020B0604020202020204" pitchFamily="34" charset="0"/>
                <a:cs typeface="Arial" panose="020B0604020202020204" pitchFamily="34" charset="0"/>
                <a:sym typeface="Wingdings" panose="05000000000000000000" pitchFamily="2" charset="2"/>
              </a:rPr>
              <a:t>(4) </a:t>
            </a:r>
            <a:r>
              <a:rPr lang="en-US" sz="1400" dirty="0" err="1">
                <a:latin typeface="Arial" panose="020B0604020202020204" pitchFamily="34" charset="0"/>
                <a:cs typeface="Arial" panose="020B0604020202020204" pitchFamily="34" charset="0"/>
                <a:sym typeface="Wingdings" panose="05000000000000000000" pitchFamily="2" charset="2"/>
              </a:rPr>
              <a:t>Mô</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phỏng</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độ</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trễ</a:t>
            </a:r>
            <a:r>
              <a:rPr lang="en-US" sz="1400" dirty="0">
                <a:latin typeface="Arial" panose="020B0604020202020204" pitchFamily="34" charset="0"/>
                <a:cs typeface="Arial" panose="020B0604020202020204" pitchFamily="34" charset="0"/>
                <a:sym typeface="Wingdings" panose="05000000000000000000" pitchFamily="2" charset="2"/>
              </a:rPr>
              <a:t>, jitter, packet loss</a:t>
            </a:r>
          </a:p>
          <a:p>
            <a:r>
              <a:rPr lang="en-US" sz="1400" dirty="0" err="1">
                <a:latin typeface="Arial" panose="020B0604020202020204" pitchFamily="34" charset="0"/>
                <a:cs typeface="Arial" panose="020B0604020202020204" pitchFamily="34" charset="0"/>
                <a:sym typeface="Wingdings" panose="05000000000000000000" pitchFamily="2" charset="2"/>
              </a:rPr>
              <a:t>Với</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gói</a:t>
            </a:r>
            <a:r>
              <a:rPr lang="en-US" sz="1400" dirty="0">
                <a:latin typeface="Arial" panose="020B0604020202020204" pitchFamily="34" charset="0"/>
                <a:cs typeface="Arial" panose="020B0604020202020204" pitchFamily="34" charset="0"/>
                <a:sym typeface="Wingdings" panose="05000000000000000000" pitchFamily="2" charset="2"/>
              </a:rPr>
              <a:t> tin </a:t>
            </a:r>
            <a:r>
              <a:rPr lang="en-US" sz="1400" dirty="0" err="1">
                <a:latin typeface="Arial" panose="020B0604020202020204" pitchFamily="34" charset="0"/>
                <a:cs typeface="Arial" panose="020B0604020202020204" pitchFamily="34" charset="0"/>
                <a:sym typeface="Wingdings" panose="05000000000000000000" pitchFamily="2" charset="2"/>
              </a:rPr>
              <a:t>nhỏ</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và</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tốc</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độ</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cao</a:t>
            </a:r>
            <a:r>
              <a:rPr lang="en-US" sz="1400" dirty="0">
                <a:latin typeface="Arial" panose="020B0604020202020204" pitchFamily="34" charset="0"/>
                <a:cs typeface="Arial" panose="020B0604020202020204" pitchFamily="34" charset="0"/>
                <a:sym typeface="Wingdings" panose="05000000000000000000" pitchFamily="2" charset="2"/>
              </a:rPr>
              <a:t>, NS-3 </a:t>
            </a:r>
            <a:r>
              <a:rPr lang="en-US" sz="1400" dirty="0" err="1">
                <a:latin typeface="Arial" panose="020B0604020202020204" pitchFamily="34" charset="0"/>
                <a:cs typeface="Arial" panose="020B0604020202020204" pitchFamily="34" charset="0"/>
                <a:sym typeface="Wingdings" panose="05000000000000000000" pitchFamily="2" charset="2"/>
              </a:rPr>
              <a:t>sẽ</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sinh</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ra</a:t>
            </a:r>
            <a:r>
              <a:rPr lang="en-US" sz="1400" dirty="0">
                <a:latin typeface="Arial" panose="020B0604020202020204" pitchFamily="34" charset="0"/>
                <a:cs typeface="Arial" panose="020B0604020202020204" pitchFamily="34" charset="0"/>
                <a:sym typeface="Wingdings" panose="05000000000000000000" pitchFamily="2" charset="2"/>
              </a:rPr>
              <a:t>:</a:t>
            </a:r>
          </a:p>
          <a:p>
            <a:pPr marL="171450" indent="-171450">
              <a:buFontTx/>
              <a:buChar char="-"/>
            </a:pPr>
            <a:r>
              <a:rPr lang="en-US" sz="1400" dirty="0">
                <a:latin typeface="Arial" panose="020B0604020202020204" pitchFamily="34" charset="0"/>
                <a:cs typeface="Arial" panose="020B0604020202020204" pitchFamily="34" charset="0"/>
                <a:sym typeface="Wingdings" panose="05000000000000000000" pitchFamily="2" charset="2"/>
              </a:rPr>
              <a:t>Jitter </a:t>
            </a:r>
            <a:r>
              <a:rPr lang="en-US" sz="1400" dirty="0" err="1">
                <a:latin typeface="Arial" panose="020B0604020202020204" pitchFamily="34" charset="0"/>
                <a:cs typeface="Arial" panose="020B0604020202020204" pitchFamily="34" charset="0"/>
                <a:sym typeface="Wingdings" panose="05000000000000000000" pitchFamily="2" charset="2"/>
              </a:rPr>
              <a:t>biến</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thiên</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theo</a:t>
            </a:r>
            <a:r>
              <a:rPr lang="en-US" sz="1400" dirty="0">
                <a:latin typeface="Arial" panose="020B0604020202020204" pitchFamily="34" charset="0"/>
                <a:cs typeface="Arial" panose="020B0604020202020204" pitchFamily="34" charset="0"/>
                <a:sym typeface="Wingdings" panose="05000000000000000000" pitchFamily="2" charset="2"/>
              </a:rPr>
              <a:t> load</a:t>
            </a:r>
          </a:p>
          <a:p>
            <a:pPr marL="171450" indent="-171450">
              <a:buFontTx/>
              <a:buChar char="-"/>
            </a:pPr>
            <a:r>
              <a:rPr lang="en-US" sz="1400" dirty="0">
                <a:latin typeface="Arial" panose="020B0604020202020204" pitchFamily="34" charset="0"/>
                <a:cs typeface="Arial" panose="020B0604020202020204" pitchFamily="34" charset="0"/>
                <a:sym typeface="Wingdings" panose="05000000000000000000" pitchFamily="2" charset="2"/>
              </a:rPr>
              <a:t>Loss </a:t>
            </a:r>
            <a:r>
              <a:rPr lang="en-US" sz="1400" dirty="0" err="1">
                <a:latin typeface="Arial" panose="020B0604020202020204" pitchFamily="34" charset="0"/>
                <a:cs typeface="Arial" panose="020B0604020202020204" pitchFamily="34" charset="0"/>
                <a:sym typeface="Wingdings" panose="05000000000000000000" pitchFamily="2" charset="2"/>
              </a:rPr>
              <a:t>tăng</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khi</a:t>
            </a:r>
            <a:r>
              <a:rPr lang="en-US" sz="1400" dirty="0">
                <a:latin typeface="Arial" panose="020B0604020202020204" pitchFamily="34" charset="0"/>
                <a:cs typeface="Arial" panose="020B0604020202020204" pitchFamily="34" charset="0"/>
                <a:sym typeface="Wingdings" panose="05000000000000000000" pitchFamily="2" charset="2"/>
              </a:rPr>
              <a:t> buffer </a:t>
            </a:r>
            <a:r>
              <a:rPr lang="en-US" sz="1400" dirty="0" err="1">
                <a:latin typeface="Arial" panose="020B0604020202020204" pitchFamily="34" charset="0"/>
                <a:cs typeface="Arial" panose="020B0604020202020204" pitchFamily="34" charset="0"/>
                <a:sym typeface="Wingdings" panose="05000000000000000000" pitchFamily="2" charset="2"/>
              </a:rPr>
              <a:t>đầy</a:t>
            </a:r>
            <a:endParaRPr lang="en-US" sz="1400" dirty="0">
              <a:latin typeface="Arial" panose="020B0604020202020204" pitchFamily="34" charset="0"/>
              <a:cs typeface="Arial" panose="020B0604020202020204" pitchFamily="34" charset="0"/>
              <a:sym typeface="Wingdings" panose="05000000000000000000" pitchFamily="2" charset="2"/>
            </a:endParaRPr>
          </a:p>
          <a:p>
            <a:pPr marL="171450" indent="-171450">
              <a:buFontTx/>
              <a:buChar char="-"/>
            </a:pPr>
            <a:r>
              <a:rPr lang="en-US" sz="1400" dirty="0">
                <a:latin typeface="Arial" panose="020B0604020202020204" pitchFamily="34" charset="0"/>
                <a:cs typeface="Arial" panose="020B0604020202020204" pitchFamily="34" charset="0"/>
                <a:sym typeface="Wingdings" panose="05000000000000000000" pitchFamily="2" charset="2"/>
              </a:rPr>
              <a:t>Delay </a:t>
            </a:r>
            <a:r>
              <a:rPr lang="en-US" sz="1400" dirty="0" err="1">
                <a:latin typeface="Arial" panose="020B0604020202020204" pitchFamily="34" charset="0"/>
                <a:cs typeface="Arial" panose="020B0604020202020204" pitchFamily="34" charset="0"/>
                <a:sym typeface="Wingdings" panose="05000000000000000000" pitchFamily="2" charset="2"/>
              </a:rPr>
              <a:t>tăng</a:t>
            </a:r>
            <a:r>
              <a:rPr lang="en-US" sz="1400" dirty="0">
                <a:latin typeface="Arial" panose="020B0604020202020204" pitchFamily="34" charset="0"/>
                <a:cs typeface="Arial" panose="020B0604020202020204" pitchFamily="34" charset="0"/>
                <a:sym typeface="Wingdings" panose="05000000000000000000" pitchFamily="2" charset="2"/>
              </a:rPr>
              <a:t> </a:t>
            </a:r>
            <a:r>
              <a:rPr lang="en-US" sz="1400" dirty="0" err="1">
                <a:latin typeface="Arial" panose="020B0604020202020204" pitchFamily="34" charset="0"/>
                <a:cs typeface="Arial" panose="020B0604020202020204" pitchFamily="34" charset="0"/>
                <a:sym typeface="Wingdings" panose="05000000000000000000" pitchFamily="2" charset="2"/>
              </a:rPr>
              <a:t>khi</a:t>
            </a:r>
            <a:r>
              <a:rPr lang="en-US" sz="1400" dirty="0">
                <a:latin typeface="Arial" panose="020B0604020202020204" pitchFamily="34" charset="0"/>
                <a:cs typeface="Arial" panose="020B0604020202020204" pitchFamily="34" charset="0"/>
                <a:sym typeface="Wingdings" panose="05000000000000000000" pitchFamily="2" charset="2"/>
              </a:rPr>
              <a:t> cell </a:t>
            </a:r>
            <a:r>
              <a:rPr lang="en-US" sz="1400" dirty="0" err="1">
                <a:latin typeface="Arial" panose="020B0604020202020204" pitchFamily="34" charset="0"/>
                <a:cs typeface="Arial" panose="020B0604020202020204" pitchFamily="34" charset="0"/>
                <a:sym typeface="Wingdings" panose="05000000000000000000" pitchFamily="2" charset="2"/>
              </a:rPr>
              <a:t>bị</a:t>
            </a:r>
            <a:r>
              <a:rPr lang="en-US" sz="1400" dirty="0">
                <a:latin typeface="Arial" panose="020B0604020202020204" pitchFamily="34" charset="0"/>
                <a:cs typeface="Arial" panose="020B0604020202020204" pitchFamily="34" charset="0"/>
                <a:sym typeface="Wingdings" panose="05000000000000000000" pitchFamily="2" charset="2"/>
              </a:rPr>
              <a:t> congestion</a:t>
            </a:r>
          </a:p>
          <a:p>
            <a:pPr marL="171450" indent="-171450">
              <a:buFontTx/>
              <a:buChar char="-"/>
            </a:pPr>
            <a:r>
              <a:rPr lang="en-US" sz="1400" dirty="0">
                <a:latin typeface="Arial" panose="020B0604020202020204" pitchFamily="34" charset="0"/>
                <a:cs typeface="Arial" panose="020B0604020202020204" pitchFamily="34" charset="0"/>
                <a:sym typeface="Wingdings" panose="05000000000000000000" pitchFamily="2" charset="2"/>
              </a:rPr>
              <a:t>Throughput drop </a:t>
            </a:r>
            <a:r>
              <a:rPr lang="en-US" sz="1400" dirty="0" err="1">
                <a:latin typeface="Arial" panose="020B0604020202020204" pitchFamily="34" charset="0"/>
                <a:cs typeface="Arial" panose="020B0604020202020204" pitchFamily="34" charset="0"/>
                <a:sym typeface="Wingdings" panose="05000000000000000000" pitchFamily="2" charset="2"/>
              </a:rPr>
              <a:t>khi</a:t>
            </a:r>
            <a:r>
              <a:rPr lang="en-US" sz="1400" dirty="0">
                <a:latin typeface="Arial" panose="020B0604020202020204" pitchFamily="34" charset="0"/>
                <a:cs typeface="Arial" panose="020B0604020202020204" pitchFamily="34" charset="0"/>
                <a:sym typeface="Wingdings" panose="05000000000000000000" pitchFamily="2" charset="2"/>
              </a:rPr>
              <a:t> SINR </a:t>
            </a:r>
            <a:r>
              <a:rPr lang="en-US" sz="1400" dirty="0" err="1">
                <a:latin typeface="Arial" panose="020B0604020202020204" pitchFamily="34" charset="0"/>
                <a:cs typeface="Arial" panose="020B0604020202020204" pitchFamily="34" charset="0"/>
                <a:sym typeface="Wingdings" panose="05000000000000000000" pitchFamily="2" charset="2"/>
              </a:rPr>
              <a:t>thấp</a:t>
            </a:r>
            <a:endParaRPr lang="en-US" sz="1400" dirty="0">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1100993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89F1-205A-8C08-2BE9-D1F009D29B9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F83C6B-0412-1045-A7D7-C34525D79A79}"/>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5E6CCF55-56A1-C1AC-35F8-6CA665ED5C68}"/>
              </a:ext>
            </a:extLst>
          </p:cNvPr>
          <p:cNvSpPr>
            <a:spLocks noGrp="1"/>
          </p:cNvSpPr>
          <p:nvPr>
            <p:ph type="title"/>
          </p:nvPr>
        </p:nvSpPr>
        <p:spPr/>
        <p:txBody>
          <a:bodyPr/>
          <a:lstStyle/>
          <a:p>
            <a:r>
              <a:rPr lang="en-US" dirty="0"/>
              <a:t>4. </a:t>
            </a:r>
            <a:r>
              <a:rPr lang="en-US" dirty="0" err="1"/>
              <a:t>Kiến</a:t>
            </a:r>
            <a:r>
              <a:rPr lang="en-US" dirty="0"/>
              <a:t> </a:t>
            </a:r>
            <a:r>
              <a:rPr lang="en-US" dirty="0" err="1"/>
              <a:t>trúc</a:t>
            </a:r>
            <a:r>
              <a:rPr lang="en-US" dirty="0"/>
              <a:t> NSA</a:t>
            </a:r>
          </a:p>
        </p:txBody>
      </p:sp>
      <p:sp>
        <p:nvSpPr>
          <p:cNvPr id="8" name="TextBox 7">
            <a:extLst>
              <a:ext uri="{FF2B5EF4-FFF2-40B4-BE49-F238E27FC236}">
                <a16:creationId xmlns:a16="http://schemas.microsoft.com/office/drawing/2014/main" id="{EFCD326B-2F96-1396-9064-1F49D8456BDB}"/>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grpSp>
        <p:nvGrpSpPr>
          <p:cNvPr id="16" name="Group 15">
            <a:extLst>
              <a:ext uri="{FF2B5EF4-FFF2-40B4-BE49-F238E27FC236}">
                <a16:creationId xmlns:a16="http://schemas.microsoft.com/office/drawing/2014/main" id="{CAA1F21F-6020-BD18-2ED2-8CDE3F621E65}"/>
              </a:ext>
            </a:extLst>
          </p:cNvPr>
          <p:cNvGrpSpPr/>
          <p:nvPr/>
        </p:nvGrpSpPr>
        <p:grpSpPr>
          <a:xfrm>
            <a:off x="-186988" y="1179173"/>
            <a:ext cx="9016214" cy="5042258"/>
            <a:chOff x="56594" y="830983"/>
            <a:chExt cx="9016214" cy="5042258"/>
          </a:xfrm>
        </p:grpSpPr>
        <p:grpSp>
          <p:nvGrpSpPr>
            <p:cNvPr id="12" name="Group 11">
              <a:extLst>
                <a:ext uri="{FF2B5EF4-FFF2-40B4-BE49-F238E27FC236}">
                  <a16:creationId xmlns:a16="http://schemas.microsoft.com/office/drawing/2014/main" id="{39F6A86D-90FA-9274-C928-4CE9A2FAD1E4}"/>
                </a:ext>
              </a:extLst>
            </p:cNvPr>
            <p:cNvGrpSpPr/>
            <p:nvPr/>
          </p:nvGrpSpPr>
          <p:grpSpPr>
            <a:xfrm>
              <a:off x="56594" y="830983"/>
              <a:ext cx="9016214" cy="4889857"/>
              <a:chOff x="235077" y="994477"/>
              <a:chExt cx="9016214" cy="4889857"/>
            </a:xfrm>
          </p:grpSpPr>
          <p:pic>
            <p:nvPicPr>
              <p:cNvPr id="5" name="Picture 4">
                <a:extLst>
                  <a:ext uri="{FF2B5EF4-FFF2-40B4-BE49-F238E27FC236}">
                    <a16:creationId xmlns:a16="http://schemas.microsoft.com/office/drawing/2014/main" id="{D10180ED-47C3-426E-FB0B-D3019AB3AB26}"/>
                  </a:ext>
                </a:extLst>
              </p:cNvPr>
              <p:cNvPicPr>
                <a:picLocks noChangeAspect="1"/>
              </p:cNvPicPr>
              <p:nvPr/>
            </p:nvPicPr>
            <p:blipFill>
              <a:blip r:embed="rId2"/>
              <a:stretch>
                <a:fillRect/>
              </a:stretch>
            </p:blipFill>
            <p:spPr>
              <a:xfrm>
                <a:off x="235077" y="1148253"/>
                <a:ext cx="8860014" cy="4736081"/>
              </a:xfrm>
              <a:prstGeom prst="rect">
                <a:avLst/>
              </a:prstGeom>
            </p:spPr>
          </p:pic>
          <p:pic>
            <p:nvPicPr>
              <p:cNvPr id="9" name="Picture 8">
                <a:extLst>
                  <a:ext uri="{FF2B5EF4-FFF2-40B4-BE49-F238E27FC236}">
                    <a16:creationId xmlns:a16="http://schemas.microsoft.com/office/drawing/2014/main" id="{D7D9161D-AA85-E897-EFD9-C41CEE5EEC1F}"/>
                  </a:ext>
                </a:extLst>
              </p:cNvPr>
              <p:cNvPicPr>
                <a:picLocks noChangeAspect="1"/>
              </p:cNvPicPr>
              <p:nvPr/>
            </p:nvPicPr>
            <p:blipFill>
              <a:blip r:embed="rId3"/>
              <a:stretch>
                <a:fillRect/>
              </a:stretch>
            </p:blipFill>
            <p:spPr>
              <a:xfrm>
                <a:off x="235077" y="1148253"/>
                <a:ext cx="5471456" cy="1878754"/>
              </a:xfrm>
              <a:prstGeom prst="rect">
                <a:avLst/>
              </a:prstGeom>
            </p:spPr>
          </p:pic>
          <p:pic>
            <p:nvPicPr>
              <p:cNvPr id="10" name="Picture 9">
                <a:extLst>
                  <a:ext uri="{FF2B5EF4-FFF2-40B4-BE49-F238E27FC236}">
                    <a16:creationId xmlns:a16="http://schemas.microsoft.com/office/drawing/2014/main" id="{6AA0157B-9297-5525-9612-4825661283DE}"/>
                  </a:ext>
                </a:extLst>
              </p:cNvPr>
              <p:cNvPicPr>
                <a:picLocks noChangeAspect="1"/>
              </p:cNvPicPr>
              <p:nvPr/>
            </p:nvPicPr>
            <p:blipFill>
              <a:blip r:embed="rId3"/>
              <a:stretch>
                <a:fillRect/>
              </a:stretch>
            </p:blipFill>
            <p:spPr>
              <a:xfrm>
                <a:off x="235077" y="2443614"/>
                <a:ext cx="3906447" cy="1341371"/>
              </a:xfrm>
              <a:prstGeom prst="rect">
                <a:avLst/>
              </a:prstGeom>
            </p:spPr>
          </p:pic>
          <p:pic>
            <p:nvPicPr>
              <p:cNvPr id="13" name="Picture 12">
                <a:extLst>
                  <a:ext uri="{FF2B5EF4-FFF2-40B4-BE49-F238E27FC236}">
                    <a16:creationId xmlns:a16="http://schemas.microsoft.com/office/drawing/2014/main" id="{9593443D-2C6F-C464-BE03-87FE68414BB3}"/>
                  </a:ext>
                </a:extLst>
              </p:cNvPr>
              <p:cNvPicPr>
                <a:picLocks noChangeAspect="1"/>
              </p:cNvPicPr>
              <p:nvPr/>
            </p:nvPicPr>
            <p:blipFill>
              <a:blip r:embed="rId3"/>
              <a:stretch>
                <a:fillRect/>
              </a:stretch>
            </p:blipFill>
            <p:spPr>
              <a:xfrm>
                <a:off x="7467945" y="994477"/>
                <a:ext cx="1783346" cy="612354"/>
              </a:xfrm>
              <a:prstGeom prst="rect">
                <a:avLst/>
              </a:prstGeom>
            </p:spPr>
          </p:pic>
        </p:grpSp>
        <p:sp>
          <p:nvSpPr>
            <p:cNvPr id="15" name="Cloud 14">
              <a:extLst>
                <a:ext uri="{FF2B5EF4-FFF2-40B4-BE49-F238E27FC236}">
                  <a16:creationId xmlns:a16="http://schemas.microsoft.com/office/drawing/2014/main" id="{5ABA331A-89C4-07C2-71AA-4AB9EFC27EC2}"/>
                </a:ext>
              </a:extLst>
            </p:cNvPr>
            <p:cNvSpPr/>
            <p:nvPr/>
          </p:nvSpPr>
          <p:spPr>
            <a:xfrm>
              <a:off x="7141437" y="4555067"/>
              <a:ext cx="1858630" cy="1318174"/>
            </a:xfrm>
            <a:prstGeom prst="cloud">
              <a:avLst/>
            </a:prstGeom>
            <a:solidFill>
              <a:schemeClr val="bg1"/>
            </a:solidFill>
            <a:ln w="19050">
              <a:solidFill>
                <a:srgbClr val="0E0E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Local command center/ Application server</a:t>
              </a:r>
            </a:p>
          </p:txBody>
        </p:sp>
      </p:grpSp>
      <p:sp>
        <p:nvSpPr>
          <p:cNvPr id="17" name="Rectangle 16">
            <a:extLst>
              <a:ext uri="{FF2B5EF4-FFF2-40B4-BE49-F238E27FC236}">
                <a16:creationId xmlns:a16="http://schemas.microsoft.com/office/drawing/2014/main" id="{A7781288-6264-EDD9-1E37-19D59B692546}"/>
              </a:ext>
            </a:extLst>
          </p:cNvPr>
          <p:cNvSpPr/>
          <p:nvPr/>
        </p:nvSpPr>
        <p:spPr>
          <a:xfrm>
            <a:off x="4168719" y="1954742"/>
            <a:ext cx="3640667" cy="2664497"/>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99168C8-7458-CA07-59E9-6B6ADDD033C8}"/>
              </a:ext>
            </a:extLst>
          </p:cNvPr>
          <p:cNvSpPr txBox="1"/>
          <p:nvPr/>
        </p:nvSpPr>
        <p:spPr>
          <a:xfrm>
            <a:off x="4206383" y="1902994"/>
            <a:ext cx="1634067" cy="369332"/>
          </a:xfrm>
          <a:prstGeom prst="rect">
            <a:avLst/>
          </a:prstGeom>
          <a:noFill/>
        </p:spPr>
        <p:txBody>
          <a:bodyPr wrap="square" rtlCol="0">
            <a:spAutoFit/>
          </a:bodyPr>
          <a:lstStyle/>
          <a:p>
            <a:r>
              <a:rPr lang="en-US" dirty="0"/>
              <a:t>On-premise</a:t>
            </a:r>
          </a:p>
        </p:txBody>
      </p:sp>
      <p:sp>
        <p:nvSpPr>
          <p:cNvPr id="6" name="TextBox 5">
            <a:extLst>
              <a:ext uri="{FF2B5EF4-FFF2-40B4-BE49-F238E27FC236}">
                <a16:creationId xmlns:a16="http://schemas.microsoft.com/office/drawing/2014/main" id="{0882FFAA-753E-941B-179D-46F5FE8F3CAB}"/>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7" name="Rectangle 1">
            <a:extLst>
              <a:ext uri="{FF2B5EF4-FFF2-40B4-BE49-F238E27FC236}">
                <a16:creationId xmlns:a16="http://schemas.microsoft.com/office/drawing/2014/main" id="{86278E8D-D3A6-3391-ECC1-62F39FFDDFE9}"/>
              </a:ext>
            </a:extLst>
          </p:cNvPr>
          <p:cNvSpPr>
            <a:spLocks noChangeArrowheads="1"/>
          </p:cNvSpPr>
          <p:nvPr/>
        </p:nvSpPr>
        <p:spPr bwMode="auto">
          <a:xfrm>
            <a:off x="205547" y="1080544"/>
            <a:ext cx="3833300"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defTabSz="914400" eaLnBrk="0" fontAlgn="base" hangingPunct="0">
              <a:spcBef>
                <a:spcPct val="0"/>
              </a:spcBef>
              <a:spcAft>
                <a:spcPct val="0"/>
              </a:spcAft>
              <a:buFont typeface="Arial" panose="020B0604020202020204" pitchFamily="34" charset="0"/>
              <a:buChar char="•"/>
            </a:pPr>
            <a:r>
              <a:rPr lang="en-US" altLang="en-US" sz="1100" b="1" dirty="0">
                <a:latin typeface="Arial" panose="020B0604020202020204" pitchFamily="34" charset="0"/>
              </a:rPr>
              <a:t>MME (Mobility Management Entity): </a:t>
            </a:r>
            <a:r>
              <a:rPr lang="en-US" altLang="en-US" sz="1100" dirty="0" err="1">
                <a:latin typeface="Arial" panose="020B0604020202020204" pitchFamily="34" charset="0"/>
              </a:rPr>
              <a:t>Xử</a:t>
            </a:r>
            <a:r>
              <a:rPr lang="en-US" altLang="en-US" sz="1100" dirty="0">
                <a:latin typeface="Arial" panose="020B0604020202020204" pitchFamily="34" charset="0"/>
              </a:rPr>
              <a:t> </a:t>
            </a:r>
            <a:r>
              <a:rPr lang="en-US" altLang="en-US" sz="1100" dirty="0" err="1">
                <a:latin typeface="Arial" panose="020B0604020202020204" pitchFamily="34" charset="0"/>
              </a:rPr>
              <a:t>lý</a:t>
            </a:r>
            <a:r>
              <a:rPr lang="en-US" altLang="en-US" sz="1100" dirty="0">
                <a:latin typeface="Arial" panose="020B0604020202020204" pitchFamily="34" charset="0"/>
              </a:rPr>
              <a:t> </a:t>
            </a:r>
            <a:r>
              <a:rPr lang="en-US" altLang="en-US" sz="1100" dirty="0" err="1">
                <a:latin typeface="Arial" panose="020B0604020202020204" pitchFamily="34" charset="0"/>
              </a:rPr>
              <a:t>việc</a:t>
            </a:r>
            <a:r>
              <a:rPr lang="en-US" altLang="en-US" sz="1100" dirty="0">
                <a:latin typeface="Arial" panose="020B0604020202020204" pitchFamily="34" charset="0"/>
              </a:rPr>
              <a:t> </a:t>
            </a:r>
            <a:r>
              <a:rPr lang="en-US" altLang="en-US" sz="1100" dirty="0" err="1">
                <a:latin typeface="Arial" panose="020B0604020202020204" pitchFamily="34" charset="0"/>
              </a:rPr>
              <a:t>xác</a:t>
            </a:r>
            <a:r>
              <a:rPr lang="en-US" altLang="en-US" sz="1100" dirty="0">
                <a:latin typeface="Arial" panose="020B0604020202020204" pitchFamily="34" charset="0"/>
              </a:rPr>
              <a:t> </a:t>
            </a:r>
            <a:r>
              <a:rPr lang="en-US" altLang="en-US" sz="1100" dirty="0" err="1">
                <a:latin typeface="Arial" panose="020B0604020202020204" pitchFamily="34" charset="0"/>
              </a:rPr>
              <a:t>thực</a:t>
            </a:r>
            <a:r>
              <a:rPr lang="en-US" altLang="en-US" sz="1100" dirty="0">
                <a:latin typeface="Arial" panose="020B0604020202020204" pitchFamily="34" charset="0"/>
              </a:rPr>
              <a:t> </a:t>
            </a:r>
            <a:r>
              <a:rPr lang="en-US" altLang="en-US" sz="1100" dirty="0" err="1">
                <a:latin typeface="Arial" panose="020B0604020202020204" pitchFamily="34" charset="0"/>
              </a:rPr>
              <a:t>thiết</a:t>
            </a:r>
            <a:r>
              <a:rPr lang="en-US" altLang="en-US" sz="1100" dirty="0">
                <a:latin typeface="Arial" panose="020B0604020202020204" pitchFamily="34" charset="0"/>
              </a:rPr>
              <a:t> </a:t>
            </a:r>
            <a:r>
              <a:rPr lang="en-US" altLang="en-US" sz="1100" dirty="0" err="1">
                <a:latin typeface="Arial" panose="020B0604020202020204" pitchFamily="34" charset="0"/>
              </a:rPr>
              <a:t>bị</a:t>
            </a:r>
            <a:r>
              <a:rPr lang="en-US" altLang="en-US" sz="1100" dirty="0">
                <a:latin typeface="Arial" panose="020B0604020202020204" pitchFamily="34" charset="0"/>
              </a:rPr>
              <a:t>, </a:t>
            </a:r>
            <a:r>
              <a:rPr lang="en-US" altLang="en-US" sz="1100" dirty="0" err="1">
                <a:latin typeface="Arial" panose="020B0604020202020204" pitchFamily="34" charset="0"/>
              </a:rPr>
              <a:t>quản</a:t>
            </a:r>
            <a:r>
              <a:rPr lang="en-US" altLang="en-US" sz="1100" dirty="0">
                <a:latin typeface="Arial" panose="020B0604020202020204" pitchFamily="34" charset="0"/>
              </a:rPr>
              <a:t> </a:t>
            </a:r>
            <a:r>
              <a:rPr lang="en-US" altLang="en-US" sz="1100" dirty="0" err="1">
                <a:latin typeface="Arial" panose="020B0604020202020204" pitchFamily="34" charset="0"/>
              </a:rPr>
              <a:t>lý</a:t>
            </a:r>
            <a:r>
              <a:rPr lang="en-US" altLang="en-US" sz="1100" dirty="0">
                <a:latin typeface="Arial" panose="020B0604020202020204" pitchFamily="34" charset="0"/>
              </a:rPr>
              <a:t> </a:t>
            </a:r>
            <a:r>
              <a:rPr lang="en-US" altLang="en-US" sz="1100" dirty="0" err="1">
                <a:latin typeface="Arial" panose="020B0604020202020204" pitchFamily="34" charset="0"/>
              </a:rPr>
              <a:t>việc</a:t>
            </a:r>
            <a:r>
              <a:rPr lang="en-US" altLang="en-US" sz="1100" dirty="0">
                <a:latin typeface="Arial" panose="020B0604020202020204" pitchFamily="34" charset="0"/>
              </a:rPr>
              <a:t> di </a:t>
            </a:r>
            <a:r>
              <a:rPr lang="en-US" altLang="en-US" sz="1100" dirty="0" err="1">
                <a:latin typeface="Arial" panose="020B0604020202020204" pitchFamily="34" charset="0"/>
              </a:rPr>
              <a:t>chuyển</a:t>
            </a:r>
            <a:r>
              <a:rPr lang="en-US" altLang="en-US" sz="1100" dirty="0">
                <a:latin typeface="Arial" panose="020B0604020202020204" pitchFamily="34" charset="0"/>
              </a:rPr>
              <a:t> </a:t>
            </a:r>
            <a:r>
              <a:rPr lang="en-US" altLang="en-US" sz="1100" dirty="0" err="1">
                <a:latin typeface="Arial" panose="020B0604020202020204" pitchFamily="34" charset="0"/>
              </a:rPr>
              <a:t>của</a:t>
            </a:r>
            <a:r>
              <a:rPr lang="en-US" altLang="en-US" sz="1100" dirty="0">
                <a:latin typeface="Arial" panose="020B0604020202020204" pitchFamily="34" charset="0"/>
              </a:rPr>
              <a:t> UE. </a:t>
            </a:r>
          </a:p>
          <a:p>
            <a:pPr marL="171450" lvl="0" indent="-171450" defTabSz="914400" eaLnBrk="0" fontAlgn="base" hangingPunct="0">
              <a:spcBef>
                <a:spcPct val="0"/>
              </a:spcBef>
              <a:spcAft>
                <a:spcPct val="0"/>
              </a:spcAft>
              <a:buFont typeface="Arial" panose="020B0604020202020204" pitchFamily="34" charset="0"/>
              <a:buChar char="•"/>
            </a:pPr>
            <a:r>
              <a:rPr lang="en-US" altLang="en-US" sz="1100" b="1" dirty="0">
                <a:latin typeface="Arial" panose="020B0604020202020204" pitchFamily="34" charset="0"/>
              </a:rPr>
              <a:t>HSS (Home Subscriber Server): </a:t>
            </a:r>
            <a:r>
              <a:rPr lang="en-US" altLang="en-US" sz="1100" dirty="0">
                <a:latin typeface="Arial" panose="020B0604020202020204" pitchFamily="34" charset="0"/>
              </a:rPr>
              <a:t>Lưu </a:t>
            </a:r>
            <a:r>
              <a:rPr lang="en-US" altLang="en-US" sz="1100" dirty="0" err="1">
                <a:latin typeface="Arial" panose="020B0604020202020204" pitchFamily="34" charset="0"/>
              </a:rPr>
              <a:t>trữ</a:t>
            </a:r>
            <a:r>
              <a:rPr lang="en-US" altLang="en-US" sz="1100" dirty="0">
                <a:latin typeface="Arial" panose="020B0604020202020204" pitchFamily="34" charset="0"/>
              </a:rPr>
              <a:t> </a:t>
            </a:r>
            <a:r>
              <a:rPr lang="en-US" altLang="en-US" sz="1100" dirty="0" err="1">
                <a:latin typeface="Arial" panose="020B0604020202020204" pitchFamily="34" charset="0"/>
              </a:rPr>
              <a:t>thông</a:t>
            </a:r>
            <a:r>
              <a:rPr lang="en-US" altLang="en-US" sz="1100" dirty="0">
                <a:latin typeface="Arial" panose="020B0604020202020204" pitchFamily="34" charset="0"/>
              </a:rPr>
              <a:t> tin SIM </a:t>
            </a:r>
            <a:r>
              <a:rPr lang="en-US" altLang="en-US" sz="1100" dirty="0" err="1">
                <a:latin typeface="Arial" panose="020B0604020202020204" pitchFamily="34" charset="0"/>
              </a:rPr>
              <a:t>của</a:t>
            </a:r>
            <a:r>
              <a:rPr lang="en-US" altLang="en-US" sz="1100" dirty="0">
                <a:latin typeface="Arial" panose="020B0604020202020204" pitchFamily="34" charset="0"/>
              </a:rPr>
              <a:t> </a:t>
            </a:r>
            <a:r>
              <a:rPr lang="en-US" altLang="en-US" sz="1100" dirty="0" err="1">
                <a:latin typeface="Arial" panose="020B0604020202020204" pitchFamily="34" charset="0"/>
              </a:rPr>
              <a:t>đội</a:t>
            </a:r>
            <a:r>
              <a:rPr lang="en-US" altLang="en-US" sz="1100" dirty="0">
                <a:latin typeface="Arial" panose="020B0604020202020204" pitchFamily="34" charset="0"/>
              </a:rPr>
              <a:t> </a:t>
            </a:r>
            <a:r>
              <a:rPr lang="en-US" altLang="en-US" sz="1100" dirty="0" err="1">
                <a:latin typeface="Arial" panose="020B0604020202020204" pitchFamily="34" charset="0"/>
              </a:rPr>
              <a:t>cứu</a:t>
            </a:r>
            <a:r>
              <a:rPr lang="en-US" altLang="en-US" sz="1100" dirty="0">
                <a:latin typeface="Arial" panose="020B0604020202020204" pitchFamily="34" charset="0"/>
              </a:rPr>
              <a:t> </a:t>
            </a:r>
            <a:r>
              <a:rPr lang="en-US" altLang="en-US" sz="1100" dirty="0" err="1">
                <a:latin typeface="Arial" panose="020B0604020202020204" pitchFamily="34" charset="0"/>
              </a:rPr>
              <a:t>hộ</a:t>
            </a:r>
            <a:r>
              <a:rPr lang="en-US" altLang="en-US" sz="1100" dirty="0">
                <a:latin typeface="Arial" panose="020B0604020202020204" pitchFamily="34" charset="0"/>
              </a:rPr>
              <a:t>. HSS </a:t>
            </a:r>
            <a:r>
              <a:rPr lang="en-US" altLang="en-US" sz="1100" dirty="0" err="1">
                <a:latin typeface="Arial" panose="020B0604020202020204" pitchFamily="34" charset="0"/>
              </a:rPr>
              <a:t>này</a:t>
            </a:r>
            <a:r>
              <a:rPr lang="en-US" altLang="en-US" sz="1100" dirty="0">
                <a:latin typeface="Arial" panose="020B0604020202020204" pitchFamily="34" charset="0"/>
              </a:rPr>
              <a:t> </a:t>
            </a:r>
            <a:r>
              <a:rPr lang="en-US" altLang="en-US" sz="1100" dirty="0" err="1">
                <a:latin typeface="Arial" panose="020B0604020202020204" pitchFamily="34" charset="0"/>
              </a:rPr>
              <a:t>chỉ</a:t>
            </a:r>
            <a:r>
              <a:rPr lang="en-US" altLang="en-US" sz="1100" dirty="0">
                <a:latin typeface="Arial" panose="020B0604020202020204" pitchFamily="34" charset="0"/>
              </a:rPr>
              <a:t> </a:t>
            </a:r>
            <a:r>
              <a:rPr lang="en-US" altLang="en-US" sz="1100" dirty="0" err="1">
                <a:latin typeface="Arial" panose="020B0604020202020204" pitchFamily="34" charset="0"/>
              </a:rPr>
              <a:t>chứa</a:t>
            </a:r>
            <a:r>
              <a:rPr lang="en-US" altLang="en-US" sz="1100" dirty="0">
                <a:latin typeface="Arial" panose="020B0604020202020204" pitchFamily="34" charset="0"/>
              </a:rPr>
              <a:t> </a:t>
            </a:r>
            <a:r>
              <a:rPr lang="en-US" altLang="en-US" sz="1100" dirty="0" err="1">
                <a:latin typeface="Arial" panose="020B0604020202020204" pitchFamily="34" charset="0"/>
              </a:rPr>
              <a:t>danh</a:t>
            </a:r>
            <a:r>
              <a:rPr lang="en-US" altLang="en-US" sz="1100" dirty="0">
                <a:latin typeface="Arial" panose="020B0604020202020204" pitchFamily="34" charset="0"/>
              </a:rPr>
              <a:t> </a:t>
            </a:r>
            <a:r>
              <a:rPr lang="en-US" altLang="en-US" sz="1100" dirty="0" err="1">
                <a:latin typeface="Arial" panose="020B0604020202020204" pitchFamily="34" charset="0"/>
              </a:rPr>
              <a:t>sách</a:t>
            </a:r>
            <a:r>
              <a:rPr lang="en-US" altLang="en-US" sz="1100" dirty="0">
                <a:latin typeface="Arial" panose="020B0604020202020204" pitchFamily="34" charset="0"/>
              </a:rPr>
              <a:t> </a:t>
            </a:r>
            <a:r>
              <a:rPr lang="en-US" altLang="en-US" sz="1100" dirty="0" err="1">
                <a:latin typeface="Arial" panose="020B0604020202020204" pitchFamily="34" charset="0"/>
              </a:rPr>
              <a:t>các</a:t>
            </a:r>
            <a:r>
              <a:rPr lang="en-US" altLang="en-US" sz="1100" dirty="0">
                <a:latin typeface="Arial" panose="020B0604020202020204" pitchFamily="34" charset="0"/>
              </a:rPr>
              <a:t> SIM </a:t>
            </a:r>
            <a:r>
              <a:rPr lang="en-US" altLang="en-US" sz="1100" dirty="0" err="1">
                <a:latin typeface="Arial" panose="020B0604020202020204" pitchFamily="34" charset="0"/>
              </a:rPr>
              <a:t>được</a:t>
            </a:r>
            <a:r>
              <a:rPr lang="en-US" altLang="en-US" sz="1100" dirty="0">
                <a:latin typeface="Arial" panose="020B0604020202020204" pitchFamily="34" charset="0"/>
              </a:rPr>
              <a:t> </a:t>
            </a:r>
            <a:r>
              <a:rPr lang="en-US" altLang="en-US" sz="1100" dirty="0" err="1">
                <a:latin typeface="Arial" panose="020B0604020202020204" pitchFamily="34" charset="0"/>
              </a:rPr>
              <a:t>cấp</a:t>
            </a:r>
            <a:r>
              <a:rPr lang="en-US" altLang="en-US" sz="1100" dirty="0">
                <a:latin typeface="Arial" panose="020B0604020202020204" pitchFamily="34" charset="0"/>
              </a:rPr>
              <a:t> </a:t>
            </a:r>
            <a:r>
              <a:rPr lang="en-US" altLang="en-US" sz="1100" dirty="0" err="1">
                <a:latin typeface="Arial" panose="020B0604020202020204" pitchFamily="34" charset="0"/>
              </a:rPr>
              <a:t>phép</a:t>
            </a:r>
            <a:r>
              <a:rPr lang="en-US" altLang="en-US" sz="1100" dirty="0">
                <a:latin typeface="Arial" panose="020B0604020202020204" pitchFamily="34" charset="0"/>
              </a:rPr>
              <a:t> </a:t>
            </a:r>
            <a:r>
              <a:rPr lang="en-US" altLang="en-US" sz="1100" dirty="0" err="1">
                <a:latin typeface="Arial" panose="020B0604020202020204" pitchFamily="34" charset="0"/>
              </a:rPr>
              <a:t>cứu</a:t>
            </a:r>
            <a:r>
              <a:rPr lang="en-US" altLang="en-US" sz="1100" dirty="0">
                <a:latin typeface="Arial" panose="020B0604020202020204" pitchFamily="34" charset="0"/>
              </a:rPr>
              <a:t> </a:t>
            </a:r>
            <a:r>
              <a:rPr lang="en-US" altLang="en-US" sz="1100" dirty="0" err="1">
                <a:latin typeface="Arial" panose="020B0604020202020204" pitchFamily="34" charset="0"/>
              </a:rPr>
              <a:t>hộ</a:t>
            </a:r>
            <a:r>
              <a:rPr lang="en-US" altLang="en-US" sz="1100" dirty="0">
                <a:latin typeface="Arial" panose="020B0604020202020204" pitchFamily="34" charset="0"/>
              </a:rPr>
              <a:t>, </a:t>
            </a:r>
            <a:r>
              <a:rPr lang="en-US" altLang="en-US" sz="1100" dirty="0" err="1">
                <a:latin typeface="Arial" panose="020B0604020202020204" pitchFamily="34" charset="0"/>
              </a:rPr>
              <a:t>người</a:t>
            </a:r>
            <a:r>
              <a:rPr lang="en-US" altLang="en-US" sz="1100" dirty="0">
                <a:latin typeface="Arial" panose="020B0604020202020204" pitchFamily="34" charset="0"/>
              </a:rPr>
              <a:t> </a:t>
            </a:r>
            <a:r>
              <a:rPr lang="en-US" altLang="en-US" sz="1100" dirty="0" err="1">
                <a:latin typeface="Arial" panose="020B0604020202020204" pitchFamily="34" charset="0"/>
              </a:rPr>
              <a:t>ngoài</a:t>
            </a:r>
            <a:r>
              <a:rPr lang="en-US" altLang="en-US" sz="1100" dirty="0">
                <a:latin typeface="Arial" panose="020B0604020202020204" pitchFamily="34" charset="0"/>
              </a:rPr>
              <a:t> </a:t>
            </a:r>
            <a:r>
              <a:rPr lang="en-US" altLang="en-US" sz="1100" dirty="0" err="1">
                <a:latin typeface="Arial" panose="020B0604020202020204" pitchFamily="34" charset="0"/>
              </a:rPr>
              <a:t>không</a:t>
            </a:r>
            <a:r>
              <a:rPr lang="en-US" altLang="en-US" sz="1100" dirty="0">
                <a:latin typeface="Arial" panose="020B0604020202020204" pitchFamily="34" charset="0"/>
              </a:rPr>
              <a:t> </a:t>
            </a:r>
            <a:r>
              <a:rPr lang="en-US" altLang="en-US" sz="1100" dirty="0" err="1">
                <a:latin typeface="Arial" panose="020B0604020202020204" pitchFamily="34" charset="0"/>
              </a:rPr>
              <a:t>thể</a:t>
            </a:r>
            <a:r>
              <a:rPr lang="en-US" altLang="en-US" sz="1100" dirty="0">
                <a:latin typeface="Arial" panose="020B0604020202020204" pitchFamily="34" charset="0"/>
              </a:rPr>
              <a:t> </a:t>
            </a:r>
            <a:r>
              <a:rPr lang="en-US" altLang="en-US" sz="1100" dirty="0" err="1">
                <a:latin typeface="Arial" panose="020B0604020202020204" pitchFamily="34" charset="0"/>
              </a:rPr>
              <a:t>truy</a:t>
            </a:r>
            <a:r>
              <a:rPr lang="en-US" altLang="en-US" sz="1100" dirty="0">
                <a:latin typeface="Arial" panose="020B0604020202020204" pitchFamily="34" charset="0"/>
              </a:rPr>
              <a:t> </a:t>
            </a:r>
            <a:r>
              <a:rPr lang="en-US" altLang="en-US" sz="1100" dirty="0" err="1">
                <a:latin typeface="Arial" panose="020B0604020202020204" pitchFamily="34" charset="0"/>
              </a:rPr>
              <a:t>cập</a:t>
            </a:r>
            <a:r>
              <a:rPr lang="en-US" altLang="en-US" sz="1100" dirty="0">
                <a:latin typeface="Arial" panose="020B0604020202020204" pitchFamily="34" charset="0"/>
              </a:rPr>
              <a:t>.</a:t>
            </a:r>
          </a:p>
          <a:p>
            <a:pPr marL="171450" lvl="0" indent="-171450" defTabSz="914400" eaLnBrk="0" fontAlgn="base" hangingPunct="0">
              <a:spcBef>
                <a:spcPct val="0"/>
              </a:spcBef>
              <a:spcAft>
                <a:spcPct val="0"/>
              </a:spcAft>
              <a:buFont typeface="Arial" panose="020B0604020202020204" pitchFamily="34" charset="0"/>
              <a:buChar char="•"/>
            </a:pPr>
            <a:r>
              <a:rPr lang="en-US" altLang="en-US" sz="1100" b="1" dirty="0">
                <a:latin typeface="Arial" panose="020B0604020202020204" pitchFamily="34" charset="0"/>
              </a:rPr>
              <a:t>PCRF (Policy and Charging Rules Function): </a:t>
            </a:r>
            <a:r>
              <a:rPr lang="en-US" altLang="en-US" sz="1100" dirty="0" err="1">
                <a:latin typeface="Arial" panose="020B0604020202020204" pitchFamily="34" charset="0"/>
              </a:rPr>
              <a:t>Quyết</a:t>
            </a:r>
            <a:r>
              <a:rPr lang="en-US" altLang="en-US" sz="1100" dirty="0">
                <a:latin typeface="Arial" panose="020B0604020202020204" pitchFamily="34" charset="0"/>
              </a:rPr>
              <a:t> </a:t>
            </a:r>
            <a:r>
              <a:rPr lang="en-US" altLang="en-US" sz="1100" dirty="0" err="1">
                <a:latin typeface="Arial" panose="020B0604020202020204" pitchFamily="34" charset="0"/>
              </a:rPr>
              <a:t>định</a:t>
            </a:r>
            <a:r>
              <a:rPr lang="en-US" altLang="en-US" sz="1100" dirty="0">
                <a:latin typeface="Arial" panose="020B0604020202020204" pitchFamily="34" charset="0"/>
              </a:rPr>
              <a:t> </a:t>
            </a:r>
            <a:r>
              <a:rPr lang="en-US" altLang="en-US" sz="1100" dirty="0" err="1">
                <a:latin typeface="Arial" panose="020B0604020202020204" pitchFamily="34" charset="0"/>
              </a:rPr>
              <a:t>chất</a:t>
            </a:r>
            <a:r>
              <a:rPr lang="en-US" altLang="en-US" sz="1100" dirty="0">
                <a:latin typeface="Arial" panose="020B0604020202020204" pitchFamily="34" charset="0"/>
              </a:rPr>
              <a:t> </a:t>
            </a:r>
            <a:r>
              <a:rPr lang="en-US" altLang="en-US" sz="1100" dirty="0" err="1">
                <a:latin typeface="Arial" panose="020B0604020202020204" pitchFamily="34" charset="0"/>
              </a:rPr>
              <a:t>lượng</a:t>
            </a:r>
            <a:r>
              <a:rPr lang="en-US" altLang="en-US" sz="1100" dirty="0">
                <a:latin typeface="Arial" panose="020B0604020202020204" pitchFamily="34" charset="0"/>
              </a:rPr>
              <a:t> </a:t>
            </a:r>
            <a:r>
              <a:rPr lang="en-US" altLang="en-US" sz="1100" dirty="0" err="1">
                <a:latin typeface="Arial" panose="020B0604020202020204" pitchFamily="34" charset="0"/>
              </a:rPr>
              <a:t>dịch</a:t>
            </a:r>
            <a:r>
              <a:rPr lang="en-US" altLang="en-US" sz="1100" dirty="0">
                <a:latin typeface="Arial" panose="020B0604020202020204" pitchFamily="34" charset="0"/>
              </a:rPr>
              <a:t> </a:t>
            </a:r>
            <a:r>
              <a:rPr lang="en-US" altLang="en-US" sz="1100" dirty="0" err="1">
                <a:latin typeface="Arial" panose="020B0604020202020204" pitchFamily="34" charset="0"/>
              </a:rPr>
              <a:t>vụ</a:t>
            </a:r>
            <a:r>
              <a:rPr lang="en-US" altLang="en-US" sz="1100" dirty="0">
                <a:latin typeface="Arial" panose="020B0604020202020204" pitchFamily="34" charset="0"/>
              </a:rPr>
              <a:t> (QoS). </a:t>
            </a:r>
            <a:r>
              <a:rPr lang="en-US" altLang="en-US" sz="1100" dirty="0" err="1">
                <a:latin typeface="Arial" panose="020B0604020202020204" pitchFamily="34" charset="0"/>
              </a:rPr>
              <a:t>Đây</a:t>
            </a:r>
            <a:r>
              <a:rPr lang="en-US" altLang="en-US" sz="1100" dirty="0">
                <a:latin typeface="Arial" panose="020B0604020202020204" pitchFamily="34" charset="0"/>
              </a:rPr>
              <a:t> </a:t>
            </a:r>
            <a:r>
              <a:rPr lang="en-US" altLang="en-US" sz="1100" dirty="0" err="1">
                <a:latin typeface="Arial" panose="020B0604020202020204" pitchFamily="34" charset="0"/>
              </a:rPr>
              <a:t>là</a:t>
            </a:r>
            <a:r>
              <a:rPr lang="en-US" altLang="en-US" sz="1100" dirty="0">
                <a:latin typeface="Arial" panose="020B0604020202020204" pitchFamily="34" charset="0"/>
              </a:rPr>
              <a:t> node </a:t>
            </a:r>
            <a:r>
              <a:rPr lang="en-US" altLang="en-US" sz="1100" dirty="0" err="1">
                <a:latin typeface="Arial" panose="020B0604020202020204" pitchFamily="34" charset="0"/>
              </a:rPr>
              <a:t>quan</a:t>
            </a:r>
            <a:r>
              <a:rPr lang="en-US" altLang="en-US" sz="1100" dirty="0">
                <a:latin typeface="Arial" panose="020B0604020202020204" pitchFamily="34" charset="0"/>
              </a:rPr>
              <a:t> </a:t>
            </a:r>
            <a:r>
              <a:rPr lang="en-US" altLang="en-US" sz="1100" dirty="0" err="1">
                <a:latin typeface="Arial" panose="020B0604020202020204" pitchFamily="34" charset="0"/>
              </a:rPr>
              <a:t>trọng</a:t>
            </a:r>
            <a:r>
              <a:rPr lang="en-US" altLang="en-US" sz="1100" dirty="0">
                <a:latin typeface="Arial" panose="020B0604020202020204" pitchFamily="34" charset="0"/>
              </a:rPr>
              <a:t> </a:t>
            </a:r>
            <a:r>
              <a:rPr lang="en-US" altLang="en-US" sz="1100" dirty="0" err="1">
                <a:latin typeface="Arial" panose="020B0604020202020204" pitchFamily="34" charset="0"/>
              </a:rPr>
              <a:t>nhất</a:t>
            </a:r>
            <a:r>
              <a:rPr lang="en-US" altLang="en-US" sz="1100" dirty="0">
                <a:latin typeface="Arial" panose="020B0604020202020204" pitchFamily="34" charset="0"/>
              </a:rPr>
              <a:t> </a:t>
            </a:r>
            <a:r>
              <a:rPr lang="en-US" altLang="en-US" sz="1100" dirty="0" err="1">
                <a:latin typeface="Arial" panose="020B0604020202020204" pitchFamily="34" charset="0"/>
              </a:rPr>
              <a:t>để</a:t>
            </a:r>
            <a:r>
              <a:rPr lang="en-US" altLang="en-US" sz="1100" dirty="0">
                <a:latin typeface="Arial" panose="020B0604020202020204" pitchFamily="34" charset="0"/>
              </a:rPr>
              <a:t> </a:t>
            </a:r>
            <a:r>
              <a:rPr lang="en-US" altLang="en-US" sz="1100" dirty="0" err="1">
                <a:latin typeface="Arial" panose="020B0604020202020204" pitchFamily="34" charset="0"/>
              </a:rPr>
              <a:t>thực</a:t>
            </a:r>
            <a:r>
              <a:rPr lang="en-US" altLang="en-US" sz="1100" dirty="0">
                <a:latin typeface="Arial" panose="020B0604020202020204" pitchFamily="34" charset="0"/>
              </a:rPr>
              <a:t> </a:t>
            </a:r>
            <a:r>
              <a:rPr lang="en-US" altLang="en-US" sz="1100" dirty="0" err="1">
                <a:latin typeface="Arial" panose="020B0604020202020204" pitchFamily="34" charset="0"/>
              </a:rPr>
              <a:t>hiện</a:t>
            </a:r>
            <a:r>
              <a:rPr lang="en-US" altLang="en-US" sz="1100" dirty="0">
                <a:latin typeface="Arial" panose="020B0604020202020204" pitchFamily="34" charset="0"/>
              </a:rPr>
              <a:t> Network Slicing.</a:t>
            </a:r>
          </a:p>
          <a:p>
            <a:pPr marL="171450" lvl="0" indent="-171450" defTabSz="914400" eaLnBrk="0" fontAlgn="base" hangingPunct="0">
              <a:spcBef>
                <a:spcPct val="0"/>
              </a:spcBef>
              <a:spcAft>
                <a:spcPct val="0"/>
              </a:spcAft>
              <a:buFont typeface="Arial" panose="020B0604020202020204" pitchFamily="34" charset="0"/>
              <a:buChar char="•"/>
            </a:pPr>
            <a:r>
              <a:rPr lang="en-US" altLang="en-US" sz="1100" b="1" dirty="0">
                <a:latin typeface="Arial" panose="020B0604020202020204" pitchFamily="34" charset="0"/>
              </a:rPr>
              <a:t>SGW/PGW-CP (Control Plane): </a:t>
            </a:r>
            <a:r>
              <a:rPr lang="en-US" altLang="en-US" sz="1100" dirty="0" err="1">
                <a:latin typeface="Arial" panose="020B0604020202020204" pitchFamily="34" charset="0"/>
              </a:rPr>
              <a:t>Thiết</a:t>
            </a:r>
            <a:r>
              <a:rPr lang="en-US" altLang="en-US" sz="1100" dirty="0">
                <a:latin typeface="Arial" panose="020B0604020202020204" pitchFamily="34" charset="0"/>
              </a:rPr>
              <a:t> </a:t>
            </a:r>
            <a:r>
              <a:rPr lang="en-US" altLang="en-US" sz="1100" dirty="0" err="1">
                <a:latin typeface="Arial" panose="020B0604020202020204" pitchFamily="34" charset="0"/>
              </a:rPr>
              <a:t>lập</a:t>
            </a:r>
            <a:r>
              <a:rPr lang="en-US" altLang="en-US" sz="1100" dirty="0">
                <a:latin typeface="Arial" panose="020B0604020202020204" pitchFamily="34" charset="0"/>
              </a:rPr>
              <a:t> </a:t>
            </a:r>
            <a:r>
              <a:rPr lang="en-US" altLang="en-US" sz="1100" dirty="0" err="1">
                <a:latin typeface="Arial" panose="020B0604020202020204" pitchFamily="34" charset="0"/>
              </a:rPr>
              <a:t>đường</a:t>
            </a:r>
            <a:r>
              <a:rPr lang="en-US" altLang="en-US" sz="1100" dirty="0">
                <a:latin typeface="Arial" panose="020B0604020202020204" pitchFamily="34" charset="0"/>
              </a:rPr>
              <a:t> </a:t>
            </a:r>
            <a:r>
              <a:rPr lang="en-US" altLang="en-US" sz="1100" dirty="0" err="1">
                <a:latin typeface="Arial" panose="020B0604020202020204" pitchFamily="34" charset="0"/>
              </a:rPr>
              <a:t>hầm</a:t>
            </a:r>
            <a:r>
              <a:rPr lang="en-US" altLang="en-US" sz="1100" dirty="0">
                <a:latin typeface="Arial" panose="020B0604020202020204" pitchFamily="34" charset="0"/>
              </a:rPr>
              <a:t> (tunnel) </a:t>
            </a:r>
            <a:r>
              <a:rPr lang="en-US" altLang="en-US" sz="1100" dirty="0" err="1">
                <a:latin typeface="Arial" panose="020B0604020202020204" pitchFamily="34" charset="0"/>
              </a:rPr>
              <a:t>để</a:t>
            </a:r>
            <a:r>
              <a:rPr lang="en-US" altLang="en-US" sz="1100" dirty="0">
                <a:latin typeface="Arial" panose="020B0604020202020204" pitchFamily="34" charset="0"/>
              </a:rPr>
              <a:t> </a:t>
            </a:r>
            <a:r>
              <a:rPr lang="en-US" altLang="en-US" sz="1100" dirty="0" err="1">
                <a:latin typeface="Arial" panose="020B0604020202020204" pitchFamily="34" charset="0"/>
              </a:rPr>
              <a:t>chuẩn</a:t>
            </a:r>
            <a:r>
              <a:rPr lang="en-US" altLang="en-US" sz="1100" dirty="0">
                <a:latin typeface="Arial" panose="020B0604020202020204" pitchFamily="34" charset="0"/>
              </a:rPr>
              <a:t> </a:t>
            </a:r>
            <a:r>
              <a:rPr lang="en-US" altLang="en-US" sz="1100" dirty="0" err="1">
                <a:latin typeface="Arial" panose="020B0604020202020204" pitchFamily="34" charset="0"/>
              </a:rPr>
              <a:t>bị</a:t>
            </a:r>
            <a:r>
              <a:rPr lang="en-US" altLang="en-US" sz="1100" dirty="0">
                <a:latin typeface="Arial" panose="020B0604020202020204" pitchFamily="34" charset="0"/>
              </a:rPr>
              <a:t> </a:t>
            </a:r>
            <a:r>
              <a:rPr lang="en-US" altLang="en-US" sz="1100" dirty="0" err="1">
                <a:latin typeface="Arial" panose="020B0604020202020204" pitchFamily="34" charset="0"/>
              </a:rPr>
              <a:t>cho</a:t>
            </a:r>
            <a:r>
              <a:rPr lang="en-US" altLang="en-US" sz="1100" dirty="0">
                <a:latin typeface="Arial" panose="020B0604020202020204" pitchFamily="34" charset="0"/>
              </a:rPr>
              <a:t> </a:t>
            </a:r>
            <a:r>
              <a:rPr lang="en-US" altLang="en-US" sz="1100" dirty="0" err="1">
                <a:latin typeface="Arial" panose="020B0604020202020204" pitchFamily="34" charset="0"/>
              </a:rPr>
              <a:t>dữ</a:t>
            </a:r>
            <a:r>
              <a:rPr lang="en-US" altLang="en-US" sz="1100" dirty="0">
                <a:latin typeface="Arial" panose="020B0604020202020204" pitchFamily="34" charset="0"/>
              </a:rPr>
              <a:t> </a:t>
            </a:r>
            <a:r>
              <a:rPr lang="en-US" altLang="en-US" sz="1100" dirty="0" err="1">
                <a:latin typeface="Arial" panose="020B0604020202020204" pitchFamily="34" charset="0"/>
              </a:rPr>
              <a:t>liệu</a:t>
            </a:r>
            <a:r>
              <a:rPr lang="en-US" altLang="en-US" sz="1100" dirty="0">
                <a:latin typeface="Arial" panose="020B0604020202020204" pitchFamily="34" charset="0"/>
              </a:rPr>
              <a:t> </a:t>
            </a:r>
            <a:r>
              <a:rPr lang="en-US" altLang="en-US" sz="1100" dirty="0" err="1">
                <a:latin typeface="Arial" panose="020B0604020202020204" pitchFamily="34" charset="0"/>
              </a:rPr>
              <a:t>đi</a:t>
            </a:r>
            <a:r>
              <a:rPr lang="en-US" altLang="en-US" sz="1100" dirty="0">
                <a:latin typeface="Arial" panose="020B0604020202020204" pitchFamily="34" charset="0"/>
              </a:rPr>
              <a:t> qua. </a:t>
            </a:r>
          </a:p>
          <a:p>
            <a:pPr marL="171450" lvl="0" indent="-171450" defTabSz="914400" eaLnBrk="0" fontAlgn="base" hangingPunct="0">
              <a:spcBef>
                <a:spcPct val="0"/>
              </a:spcBef>
              <a:spcAft>
                <a:spcPct val="0"/>
              </a:spcAft>
              <a:buFont typeface="Arial" panose="020B0604020202020204" pitchFamily="34" charset="0"/>
              <a:buChar char="•"/>
            </a:pPr>
            <a:r>
              <a:rPr lang="en-US" sz="1100" b="1" dirty="0"/>
              <a:t>SGW/PGW-U (User Plane): </a:t>
            </a:r>
            <a:r>
              <a:rPr lang="en-US" sz="1100" dirty="0" err="1"/>
              <a:t>Nhận</a:t>
            </a:r>
            <a:r>
              <a:rPr lang="en-US" sz="1100" dirty="0"/>
              <a:t> </a:t>
            </a:r>
            <a:r>
              <a:rPr lang="en-US" sz="1100" dirty="0" err="1"/>
              <a:t>gói</a:t>
            </a:r>
            <a:r>
              <a:rPr lang="en-US" sz="1100" dirty="0"/>
              <a:t> tin </a:t>
            </a:r>
            <a:r>
              <a:rPr lang="en-US" sz="1100" dirty="0" err="1"/>
              <a:t>thực</a:t>
            </a:r>
            <a:r>
              <a:rPr lang="en-US" sz="1100" dirty="0"/>
              <a:t> </a:t>
            </a:r>
            <a:r>
              <a:rPr lang="en-US" sz="1100" dirty="0" err="1"/>
              <a:t>tế</a:t>
            </a:r>
            <a:r>
              <a:rPr lang="en-US" sz="1100" dirty="0"/>
              <a:t> (Video, </a:t>
            </a:r>
            <a:r>
              <a:rPr lang="en-US" sz="1100" dirty="0" err="1"/>
              <a:t>Lệnh</a:t>
            </a:r>
            <a:r>
              <a:rPr lang="en-US" sz="1100" dirty="0"/>
              <a:t>) </a:t>
            </a:r>
            <a:r>
              <a:rPr lang="en-US" sz="1100" dirty="0" err="1"/>
              <a:t>từ</a:t>
            </a:r>
            <a:r>
              <a:rPr lang="en-US" sz="1100" dirty="0"/>
              <a:t> </a:t>
            </a:r>
            <a:r>
              <a:rPr lang="en-US" sz="1100" dirty="0" err="1"/>
              <a:t>trạm</a:t>
            </a:r>
            <a:r>
              <a:rPr lang="en-US" sz="1100" dirty="0"/>
              <a:t> 5G </a:t>
            </a:r>
            <a:r>
              <a:rPr lang="en-US" sz="1100" dirty="0" err="1"/>
              <a:t>và</a:t>
            </a:r>
            <a:r>
              <a:rPr lang="en-US" sz="1100" dirty="0"/>
              <a:t> </a:t>
            </a:r>
            <a:r>
              <a:rPr lang="en-US" sz="1100" dirty="0" err="1"/>
              <a:t>chuyển</a:t>
            </a:r>
            <a:r>
              <a:rPr lang="en-US" sz="1100" dirty="0"/>
              <a:t> </a:t>
            </a:r>
            <a:r>
              <a:rPr lang="en-US" sz="1100" dirty="0" err="1"/>
              <a:t>thẳng</a:t>
            </a:r>
            <a:r>
              <a:rPr lang="en-US" sz="1100" dirty="0"/>
              <a:t> </a:t>
            </a:r>
            <a:r>
              <a:rPr lang="en-US" sz="1100" dirty="0" err="1"/>
              <a:t>đến</a:t>
            </a:r>
            <a:r>
              <a:rPr lang="en-US" sz="1100" dirty="0"/>
              <a:t> Server. </a:t>
            </a:r>
            <a:endParaRPr lang="en-US" altLang="en-US" sz="1100" dirty="0">
              <a:latin typeface="Arial" panose="020B0604020202020204" pitchFamily="34" charset="0"/>
            </a:endParaRPr>
          </a:p>
          <a:p>
            <a:pPr marL="171450" lvl="0" indent="-171450" defTabSz="914400" eaLnBrk="0" fontAlgn="base" hangingPunct="0">
              <a:spcBef>
                <a:spcPct val="0"/>
              </a:spcBef>
              <a:spcAft>
                <a:spcPct val="0"/>
              </a:spcAft>
              <a:buFont typeface="Arial" panose="020B0604020202020204" pitchFamily="34" charset="0"/>
              <a:buChar char="•"/>
            </a:pPr>
            <a:endParaRPr lang="en-US" altLang="en-US" sz="1100" dirty="0">
              <a:latin typeface="Arial" panose="020B0604020202020204" pitchFamily="34" charset="0"/>
            </a:endParaRPr>
          </a:p>
        </p:txBody>
      </p:sp>
      <p:sp>
        <p:nvSpPr>
          <p:cNvPr id="11" name="Rectangle 1">
            <a:extLst>
              <a:ext uri="{FF2B5EF4-FFF2-40B4-BE49-F238E27FC236}">
                <a16:creationId xmlns:a16="http://schemas.microsoft.com/office/drawing/2014/main" id="{4F44D79A-84C1-2CD0-877F-71AA585852ED}"/>
              </a:ext>
            </a:extLst>
          </p:cNvPr>
          <p:cNvSpPr>
            <a:spLocks noChangeArrowheads="1"/>
          </p:cNvSpPr>
          <p:nvPr/>
        </p:nvSpPr>
        <p:spPr bwMode="auto">
          <a:xfrm>
            <a:off x="6478625" y="997515"/>
            <a:ext cx="178334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100" dirty="0">
                <a:latin typeface="Arial" panose="020B0604020202020204" pitchFamily="34" charset="0"/>
              </a:rPr>
              <a:t>Control plane </a:t>
            </a:r>
          </a:p>
          <a:p>
            <a:pPr lvl="0" defTabSz="914400" eaLnBrk="0" fontAlgn="base" hangingPunct="0">
              <a:spcBef>
                <a:spcPct val="0"/>
              </a:spcBef>
              <a:spcAft>
                <a:spcPct val="0"/>
              </a:spcAft>
            </a:pPr>
            <a:r>
              <a:rPr lang="en-US" altLang="en-US" sz="1100" dirty="0">
                <a:latin typeface="Arial" panose="020B0604020202020204" pitchFamily="34" charset="0"/>
              </a:rPr>
              <a:t>User plane</a:t>
            </a:r>
          </a:p>
        </p:txBody>
      </p:sp>
      <p:cxnSp>
        <p:nvCxnSpPr>
          <p:cNvPr id="19" name="Straight Connector 18">
            <a:extLst>
              <a:ext uri="{FF2B5EF4-FFF2-40B4-BE49-F238E27FC236}">
                <a16:creationId xmlns:a16="http://schemas.microsoft.com/office/drawing/2014/main" id="{01CCE7E4-29D0-3BD1-5873-BD97D3A6359D}"/>
              </a:ext>
            </a:extLst>
          </p:cNvPr>
          <p:cNvCxnSpPr/>
          <p:nvPr/>
        </p:nvCxnSpPr>
        <p:spPr>
          <a:xfrm>
            <a:off x="7621265" y="1128371"/>
            <a:ext cx="870799" cy="0"/>
          </a:xfrm>
          <a:prstGeom prst="line">
            <a:avLst/>
          </a:prstGeom>
          <a:ln w="19050">
            <a:solidFill>
              <a:srgbClr val="0E0E0E"/>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1A6ED08-6591-18D2-7F8C-6AFB0E1C06F1}"/>
              </a:ext>
            </a:extLst>
          </p:cNvPr>
          <p:cNvCxnSpPr/>
          <p:nvPr/>
        </p:nvCxnSpPr>
        <p:spPr>
          <a:xfrm>
            <a:off x="7621265" y="1332949"/>
            <a:ext cx="870799" cy="0"/>
          </a:xfrm>
          <a:prstGeom prst="line">
            <a:avLst/>
          </a:prstGeom>
          <a:ln w="19050">
            <a:solidFill>
              <a:srgbClr val="0E0E0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691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1F6616-803C-956D-0CCD-E68EBB39C4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80F798-0BD4-CF42-25B3-BF7FAFD7DC56}"/>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91800238-69AA-077E-E4BF-6176A5F396B5}"/>
              </a:ext>
            </a:extLst>
          </p:cNvPr>
          <p:cNvSpPr>
            <a:spLocks noGrp="1"/>
          </p:cNvSpPr>
          <p:nvPr>
            <p:ph type="title"/>
          </p:nvPr>
        </p:nvSpPr>
        <p:spPr/>
        <p:txBody>
          <a:bodyPr/>
          <a:lstStyle/>
          <a:p>
            <a:r>
              <a:rPr lang="en-US" dirty="0"/>
              <a:t>4. </a:t>
            </a:r>
            <a:r>
              <a:rPr lang="en-US" dirty="0" err="1"/>
              <a:t>Dựng</a:t>
            </a:r>
            <a:r>
              <a:rPr lang="en-US" dirty="0"/>
              <a:t> </a:t>
            </a:r>
            <a:r>
              <a:rPr lang="en-US" dirty="0" err="1"/>
              <a:t>hệ</a:t>
            </a:r>
            <a:r>
              <a:rPr lang="en-US" dirty="0"/>
              <a:t> </a:t>
            </a:r>
            <a:r>
              <a:rPr lang="en-US" dirty="0" err="1"/>
              <a:t>thống</a:t>
            </a:r>
            <a:r>
              <a:rPr lang="en-US" dirty="0"/>
              <a:t> </a:t>
            </a:r>
            <a:r>
              <a:rPr lang="en-US" dirty="0" err="1"/>
              <a:t>mô</a:t>
            </a:r>
            <a:r>
              <a:rPr lang="en-US" dirty="0"/>
              <a:t> </a:t>
            </a:r>
            <a:r>
              <a:rPr lang="en-US" dirty="0" err="1"/>
              <a:t>phỏng</a:t>
            </a:r>
            <a:endParaRPr lang="en-US" dirty="0"/>
          </a:p>
        </p:txBody>
      </p:sp>
      <p:sp>
        <p:nvSpPr>
          <p:cNvPr id="8" name="TextBox 7">
            <a:extLst>
              <a:ext uri="{FF2B5EF4-FFF2-40B4-BE49-F238E27FC236}">
                <a16:creationId xmlns:a16="http://schemas.microsoft.com/office/drawing/2014/main" id="{5070B07F-A48E-1F08-0200-E7049F9D13B8}"/>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B7C880F4-D3E0-2A16-AAC0-1C0AC1DA496F}"/>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7" name="Rectangle 1">
            <a:extLst>
              <a:ext uri="{FF2B5EF4-FFF2-40B4-BE49-F238E27FC236}">
                <a16:creationId xmlns:a16="http://schemas.microsoft.com/office/drawing/2014/main" id="{2168466B-AC16-8AFB-DA52-C332B3F41473}"/>
              </a:ext>
            </a:extLst>
          </p:cNvPr>
          <p:cNvSpPr>
            <a:spLocks noChangeArrowheads="1"/>
          </p:cNvSpPr>
          <p:nvPr/>
        </p:nvSpPr>
        <p:spPr bwMode="auto">
          <a:xfrm>
            <a:off x="402167" y="1240664"/>
            <a:ext cx="3833300"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100" dirty="0">
                <a:latin typeface="Arial" panose="020B0604020202020204" pitchFamily="34" charset="0"/>
              </a:rPr>
              <a:t>Flow 1 (1.0.0.2:49153 -&gt; 7.0.0.2:1234) proto UDP</a:t>
            </a:r>
          </a:p>
          <a:p>
            <a:pPr lvl="0" defTabSz="914400" eaLnBrk="0" fontAlgn="base" hangingPunct="0">
              <a:spcBef>
                <a:spcPct val="0"/>
              </a:spcBef>
              <a:spcAft>
                <a:spcPct val="0"/>
              </a:spcAft>
            </a:pPr>
            <a:r>
              <a:rPr lang="en-US" altLang="en-US" sz="1100" dirty="0">
                <a:latin typeface="Arial" panose="020B0604020202020204" pitchFamily="34" charset="0"/>
              </a:rPr>
              <a:t>  Tx Packets: 9200</a:t>
            </a:r>
          </a:p>
          <a:p>
            <a:pPr lvl="0" defTabSz="914400" eaLnBrk="0" fontAlgn="base" hangingPunct="0">
              <a:spcBef>
                <a:spcPct val="0"/>
              </a:spcBef>
              <a:spcAft>
                <a:spcPct val="0"/>
              </a:spcAft>
            </a:pPr>
            <a:r>
              <a:rPr lang="en-US" altLang="en-US" sz="1100" dirty="0">
                <a:latin typeface="Arial" panose="020B0604020202020204" pitchFamily="34" charset="0"/>
              </a:rPr>
              <a:t>  Tx Bytes:   1177600</a:t>
            </a:r>
          </a:p>
          <a:p>
            <a:pPr lvl="0" defTabSz="914400" eaLnBrk="0" fontAlgn="base" hangingPunct="0">
              <a:spcBef>
                <a:spcPct val="0"/>
              </a:spcBef>
              <a:spcAft>
                <a:spcPct val="0"/>
              </a:spcAft>
            </a:pPr>
            <a:r>
              <a:rPr lang="en-US" altLang="en-US" sz="1100" dirty="0">
                <a:latin typeface="Arial" panose="020B0604020202020204" pitchFamily="34" charset="0"/>
              </a:rPr>
              <a:t>  </a:t>
            </a:r>
            <a:r>
              <a:rPr lang="en-US" altLang="en-US" sz="1100" dirty="0" err="1">
                <a:latin typeface="Arial" panose="020B0604020202020204" pitchFamily="34" charset="0"/>
              </a:rPr>
              <a:t>TxOffered</a:t>
            </a:r>
            <a:r>
              <a:rPr lang="en-US" altLang="en-US" sz="1100" dirty="0">
                <a:latin typeface="Arial" panose="020B0604020202020204" pitchFamily="34" charset="0"/>
              </a:rPr>
              <a:t>:  2.048000 Mbps</a:t>
            </a:r>
          </a:p>
          <a:p>
            <a:pPr lvl="0" defTabSz="914400" eaLnBrk="0" fontAlgn="base" hangingPunct="0">
              <a:spcBef>
                <a:spcPct val="0"/>
              </a:spcBef>
              <a:spcAft>
                <a:spcPct val="0"/>
              </a:spcAft>
            </a:pPr>
            <a:r>
              <a:rPr lang="en-US" altLang="en-US" sz="1100" dirty="0">
                <a:latin typeface="Arial" panose="020B0604020202020204" pitchFamily="34" charset="0"/>
              </a:rPr>
              <a:t>  Rx Bytes:   1176832</a:t>
            </a:r>
          </a:p>
          <a:p>
            <a:pPr lvl="0" defTabSz="914400" eaLnBrk="0" fontAlgn="base" hangingPunct="0">
              <a:spcBef>
                <a:spcPct val="0"/>
              </a:spcBef>
              <a:spcAft>
                <a:spcPct val="0"/>
              </a:spcAft>
            </a:pPr>
            <a:r>
              <a:rPr lang="en-US" altLang="en-US" sz="1100" dirty="0">
                <a:latin typeface="Arial" panose="020B0604020202020204" pitchFamily="34" charset="0"/>
              </a:rPr>
              <a:t>  Throughput: 2.046664 Mbps</a:t>
            </a:r>
          </a:p>
          <a:p>
            <a:pPr lvl="0" defTabSz="914400" eaLnBrk="0" fontAlgn="base" hangingPunct="0">
              <a:spcBef>
                <a:spcPct val="0"/>
              </a:spcBef>
              <a:spcAft>
                <a:spcPct val="0"/>
              </a:spcAft>
            </a:pPr>
            <a:r>
              <a:rPr lang="en-US" altLang="en-US" sz="1100" dirty="0">
                <a:latin typeface="Arial" panose="020B0604020202020204" pitchFamily="34" charset="0"/>
              </a:rPr>
              <a:t>  Mean delay:  2.993041 </a:t>
            </a:r>
            <a:r>
              <a:rPr lang="en-US" altLang="en-US" sz="1100" dirty="0" err="1">
                <a:latin typeface="Arial" panose="020B0604020202020204" pitchFamily="34" charset="0"/>
              </a:rPr>
              <a:t>ms</a:t>
            </a:r>
            <a:endParaRPr lang="en-US" altLang="en-US" sz="1100" dirty="0">
              <a:latin typeface="Arial" panose="020B0604020202020204" pitchFamily="34" charset="0"/>
            </a:endParaRPr>
          </a:p>
          <a:p>
            <a:pPr lvl="0" defTabSz="914400" eaLnBrk="0" fontAlgn="base" hangingPunct="0">
              <a:spcBef>
                <a:spcPct val="0"/>
              </a:spcBef>
              <a:spcAft>
                <a:spcPct val="0"/>
              </a:spcAft>
            </a:pPr>
            <a:r>
              <a:rPr lang="en-US" altLang="en-US" sz="1100" dirty="0">
                <a:latin typeface="Arial" panose="020B0604020202020204" pitchFamily="34" charset="0"/>
              </a:rPr>
              <a:t>  Mean jitter:  0.499930 </a:t>
            </a:r>
            <a:r>
              <a:rPr lang="en-US" altLang="en-US" sz="1100" dirty="0" err="1">
                <a:latin typeface="Arial" panose="020B0604020202020204" pitchFamily="34" charset="0"/>
              </a:rPr>
              <a:t>ms</a:t>
            </a:r>
            <a:endParaRPr lang="en-US" altLang="en-US" sz="1100" dirty="0">
              <a:latin typeface="Arial" panose="020B0604020202020204" pitchFamily="34" charset="0"/>
            </a:endParaRPr>
          </a:p>
          <a:p>
            <a:pPr lvl="0" defTabSz="914400" eaLnBrk="0" fontAlgn="base" hangingPunct="0">
              <a:spcBef>
                <a:spcPct val="0"/>
              </a:spcBef>
              <a:spcAft>
                <a:spcPct val="0"/>
              </a:spcAft>
            </a:pPr>
            <a:r>
              <a:rPr lang="en-US" altLang="en-US" sz="1100" dirty="0">
                <a:latin typeface="Arial" panose="020B0604020202020204" pitchFamily="34" charset="0"/>
              </a:rPr>
              <a:t>  Rx Packets: 9194</a:t>
            </a:r>
          </a:p>
          <a:p>
            <a:pPr lvl="0" defTabSz="914400" eaLnBrk="0" fontAlgn="base" hangingPunct="0">
              <a:spcBef>
                <a:spcPct val="0"/>
              </a:spcBef>
              <a:spcAft>
                <a:spcPct val="0"/>
              </a:spcAft>
            </a:pPr>
            <a:endParaRPr lang="en-US" altLang="en-US" sz="1100" dirty="0">
              <a:latin typeface="Arial" panose="020B0604020202020204" pitchFamily="34" charset="0"/>
            </a:endParaRPr>
          </a:p>
          <a:p>
            <a:pPr lvl="0" defTabSz="914400" eaLnBrk="0" fontAlgn="base" hangingPunct="0">
              <a:spcBef>
                <a:spcPct val="0"/>
              </a:spcBef>
              <a:spcAft>
                <a:spcPct val="0"/>
              </a:spcAft>
            </a:pPr>
            <a:endParaRPr lang="en-US" altLang="en-US" sz="1100" dirty="0">
              <a:latin typeface="Arial" panose="020B0604020202020204" pitchFamily="34" charset="0"/>
            </a:endParaRPr>
          </a:p>
          <a:p>
            <a:pPr lvl="0" defTabSz="914400" eaLnBrk="0" fontAlgn="base" hangingPunct="0">
              <a:spcBef>
                <a:spcPct val="0"/>
              </a:spcBef>
              <a:spcAft>
                <a:spcPct val="0"/>
              </a:spcAft>
            </a:pPr>
            <a:r>
              <a:rPr lang="en-US" altLang="en-US" sz="1100" dirty="0">
                <a:latin typeface="Arial" panose="020B0604020202020204" pitchFamily="34" charset="0"/>
              </a:rPr>
              <a:t>  Mean flow throughput: 2.046664</a:t>
            </a:r>
          </a:p>
          <a:p>
            <a:pPr lvl="0" defTabSz="914400" eaLnBrk="0" fontAlgn="base" hangingPunct="0">
              <a:spcBef>
                <a:spcPct val="0"/>
              </a:spcBef>
              <a:spcAft>
                <a:spcPct val="0"/>
              </a:spcAft>
            </a:pPr>
            <a:r>
              <a:rPr lang="en-US" altLang="en-US" sz="1100" dirty="0">
                <a:latin typeface="Arial" panose="020B0604020202020204" pitchFamily="34" charset="0"/>
              </a:rPr>
              <a:t>  Mean flow delay: 2.993041</a:t>
            </a:r>
          </a:p>
        </p:txBody>
      </p:sp>
      <p:sp>
        <p:nvSpPr>
          <p:cNvPr id="14" name="TextBox 13">
            <a:extLst>
              <a:ext uri="{FF2B5EF4-FFF2-40B4-BE49-F238E27FC236}">
                <a16:creationId xmlns:a16="http://schemas.microsoft.com/office/drawing/2014/main" id="{89484CD8-DABD-B57C-6750-B6D990F8DDD9}"/>
              </a:ext>
            </a:extLst>
          </p:cNvPr>
          <p:cNvSpPr txBox="1"/>
          <p:nvPr/>
        </p:nvSpPr>
        <p:spPr>
          <a:xfrm>
            <a:off x="402167" y="913065"/>
            <a:ext cx="5596466" cy="279244"/>
          </a:xfrm>
          <a:prstGeom prst="rect">
            <a:avLst/>
          </a:prstGeom>
          <a:noFill/>
        </p:spPr>
        <p:txBody>
          <a:bodyPr wrap="square">
            <a:spAutoFit/>
          </a:bodyPr>
          <a:lstStyle/>
          <a:p>
            <a:pPr>
              <a:lnSpc>
                <a:spcPts val="1425"/>
              </a:lnSpc>
              <a:buNone/>
            </a:pPr>
            <a:r>
              <a:rPr lang="en-US" b="0" dirty="0">
                <a:solidFill>
                  <a:srgbClr val="9CDCFE"/>
                </a:solidFill>
                <a:effectLst/>
                <a:latin typeface="Droid Sans Mono"/>
              </a:rPr>
              <a:t>numerologyBwp1</a:t>
            </a:r>
            <a:r>
              <a:rPr lang="en-US" b="0" dirty="0">
                <a:solidFill>
                  <a:srgbClr val="CCCCCC"/>
                </a:solidFill>
                <a:effectLst/>
                <a:latin typeface="Droid Sans Mono"/>
              </a:rPr>
              <a:t> </a:t>
            </a:r>
            <a:r>
              <a:rPr lang="en-US" b="0" dirty="0">
                <a:solidFill>
                  <a:srgbClr val="D4D4D4"/>
                </a:solidFill>
                <a:effectLst/>
                <a:latin typeface="Droid Sans Mono"/>
              </a:rPr>
              <a:t>=</a:t>
            </a:r>
            <a:r>
              <a:rPr lang="en-US" b="0" dirty="0">
                <a:solidFill>
                  <a:srgbClr val="CCCCCC"/>
                </a:solidFill>
                <a:effectLst/>
                <a:latin typeface="Droid Sans Mono"/>
              </a:rPr>
              <a:t> </a:t>
            </a:r>
            <a:r>
              <a:rPr lang="en-US" b="0" dirty="0">
                <a:solidFill>
                  <a:srgbClr val="B5CEA8"/>
                </a:solidFill>
                <a:effectLst/>
                <a:latin typeface="Droid Sans Mono"/>
              </a:rPr>
              <a:t>0</a:t>
            </a:r>
            <a:r>
              <a:rPr lang="en-US" b="0" dirty="0">
                <a:solidFill>
                  <a:srgbClr val="CCCCCC"/>
                </a:solidFill>
                <a:effectLst/>
                <a:latin typeface="Droid Sans Mono"/>
              </a:rPr>
              <a:t>;</a:t>
            </a:r>
          </a:p>
        </p:txBody>
      </p:sp>
      <p:sp>
        <p:nvSpPr>
          <p:cNvPr id="22" name="TextBox 21">
            <a:extLst>
              <a:ext uri="{FF2B5EF4-FFF2-40B4-BE49-F238E27FC236}">
                <a16:creationId xmlns:a16="http://schemas.microsoft.com/office/drawing/2014/main" id="{9BE04BC0-0D27-7E10-2E37-B6E43A81EC74}"/>
              </a:ext>
            </a:extLst>
          </p:cNvPr>
          <p:cNvSpPr txBox="1"/>
          <p:nvPr/>
        </p:nvSpPr>
        <p:spPr>
          <a:xfrm>
            <a:off x="3936999" y="1260607"/>
            <a:ext cx="4457699" cy="2292935"/>
          </a:xfrm>
          <a:prstGeom prst="rect">
            <a:avLst/>
          </a:prstGeom>
          <a:noFill/>
        </p:spPr>
        <p:txBody>
          <a:bodyPr wrap="square">
            <a:spAutoFit/>
          </a:bodyPr>
          <a:lstStyle/>
          <a:p>
            <a:r>
              <a:rPr lang="en-US" sz="1100" dirty="0"/>
              <a:t>Flow 1 (1.0.0.2:49153 -&gt; 7.0.0.2:1234) proto UDP</a:t>
            </a:r>
          </a:p>
          <a:p>
            <a:r>
              <a:rPr lang="en-US" sz="1100" dirty="0"/>
              <a:t>  Tx Packets: 9200</a:t>
            </a:r>
          </a:p>
          <a:p>
            <a:r>
              <a:rPr lang="en-US" sz="1100" dirty="0"/>
              <a:t>  Tx Bytes:   1177600</a:t>
            </a:r>
          </a:p>
          <a:p>
            <a:r>
              <a:rPr lang="en-US" sz="1100" dirty="0"/>
              <a:t>  </a:t>
            </a:r>
            <a:r>
              <a:rPr lang="en-US" sz="1100" dirty="0" err="1"/>
              <a:t>TxOffered</a:t>
            </a:r>
            <a:r>
              <a:rPr lang="en-US" sz="1100" dirty="0"/>
              <a:t>:  2.048000 Mbps</a:t>
            </a:r>
          </a:p>
          <a:p>
            <a:r>
              <a:rPr lang="en-US" sz="1100" dirty="0"/>
              <a:t>  Rx Bytes:   1177216</a:t>
            </a:r>
          </a:p>
          <a:p>
            <a:r>
              <a:rPr lang="en-US" sz="1100" dirty="0"/>
              <a:t>  Throughput: 2.047332 Mbps</a:t>
            </a:r>
          </a:p>
          <a:p>
            <a:r>
              <a:rPr lang="en-US" sz="1100" dirty="0"/>
              <a:t>  Mean delay:  1.671474 </a:t>
            </a:r>
            <a:r>
              <a:rPr lang="en-US" sz="1100" dirty="0" err="1"/>
              <a:t>ms</a:t>
            </a:r>
            <a:endParaRPr lang="en-US" sz="1100" dirty="0"/>
          </a:p>
          <a:p>
            <a:r>
              <a:rPr lang="en-US" sz="1100" dirty="0"/>
              <a:t>  Mean jitter:  0.000008 </a:t>
            </a:r>
            <a:r>
              <a:rPr lang="en-US" sz="1100" dirty="0" err="1"/>
              <a:t>ms</a:t>
            </a:r>
            <a:endParaRPr lang="en-US" sz="1100" dirty="0"/>
          </a:p>
          <a:p>
            <a:r>
              <a:rPr lang="en-US" sz="1100" dirty="0"/>
              <a:t>  Rx Packets: 9197</a:t>
            </a:r>
          </a:p>
          <a:p>
            <a:endParaRPr lang="en-US" sz="1100" dirty="0"/>
          </a:p>
          <a:p>
            <a:endParaRPr lang="en-US" sz="1100" dirty="0"/>
          </a:p>
          <a:p>
            <a:r>
              <a:rPr lang="en-US" sz="1100" dirty="0"/>
              <a:t>  Mean flow throughput: 2.047332</a:t>
            </a:r>
          </a:p>
          <a:p>
            <a:r>
              <a:rPr lang="en-US" sz="1100" dirty="0"/>
              <a:t>  Mean flow delay: 1.671474</a:t>
            </a:r>
          </a:p>
        </p:txBody>
      </p:sp>
      <p:sp>
        <p:nvSpPr>
          <p:cNvPr id="23" name="TextBox 22">
            <a:extLst>
              <a:ext uri="{FF2B5EF4-FFF2-40B4-BE49-F238E27FC236}">
                <a16:creationId xmlns:a16="http://schemas.microsoft.com/office/drawing/2014/main" id="{AAEA7534-7B7F-E514-E805-451D49E1AACC}"/>
              </a:ext>
            </a:extLst>
          </p:cNvPr>
          <p:cNvSpPr txBox="1"/>
          <p:nvPr/>
        </p:nvSpPr>
        <p:spPr>
          <a:xfrm>
            <a:off x="3936999" y="933008"/>
            <a:ext cx="5596466" cy="279244"/>
          </a:xfrm>
          <a:prstGeom prst="rect">
            <a:avLst/>
          </a:prstGeom>
          <a:noFill/>
        </p:spPr>
        <p:txBody>
          <a:bodyPr wrap="square">
            <a:spAutoFit/>
          </a:bodyPr>
          <a:lstStyle/>
          <a:p>
            <a:pPr>
              <a:lnSpc>
                <a:spcPts val="1425"/>
              </a:lnSpc>
              <a:buNone/>
            </a:pPr>
            <a:r>
              <a:rPr lang="en-US" b="0" dirty="0">
                <a:solidFill>
                  <a:srgbClr val="9CDCFE"/>
                </a:solidFill>
                <a:effectLst/>
                <a:latin typeface="Droid Sans Mono"/>
              </a:rPr>
              <a:t>numerologyBwp1</a:t>
            </a:r>
            <a:r>
              <a:rPr lang="en-US" b="0" dirty="0">
                <a:solidFill>
                  <a:srgbClr val="CCCCCC"/>
                </a:solidFill>
                <a:effectLst/>
                <a:latin typeface="Droid Sans Mono"/>
              </a:rPr>
              <a:t> </a:t>
            </a:r>
            <a:r>
              <a:rPr lang="en-US" b="0" dirty="0">
                <a:solidFill>
                  <a:srgbClr val="D4D4D4"/>
                </a:solidFill>
                <a:effectLst/>
                <a:latin typeface="Droid Sans Mono"/>
              </a:rPr>
              <a:t>=</a:t>
            </a:r>
            <a:r>
              <a:rPr lang="en-US" b="0" dirty="0">
                <a:solidFill>
                  <a:srgbClr val="CCCCCC"/>
                </a:solidFill>
                <a:effectLst/>
                <a:latin typeface="Droid Sans Mono"/>
              </a:rPr>
              <a:t> </a:t>
            </a:r>
            <a:r>
              <a:rPr lang="en-US" dirty="0">
                <a:solidFill>
                  <a:srgbClr val="B5CEA8"/>
                </a:solidFill>
                <a:latin typeface="Droid Sans Mono"/>
              </a:rPr>
              <a:t>1</a:t>
            </a:r>
            <a:r>
              <a:rPr lang="en-US" b="0" dirty="0">
                <a:solidFill>
                  <a:srgbClr val="CCCCCC"/>
                </a:solidFill>
                <a:effectLst/>
                <a:latin typeface="Droid Sans Mono"/>
              </a:rPr>
              <a:t>;</a:t>
            </a:r>
          </a:p>
        </p:txBody>
      </p:sp>
      <p:sp>
        <p:nvSpPr>
          <p:cNvPr id="25" name="TextBox 24">
            <a:extLst>
              <a:ext uri="{FF2B5EF4-FFF2-40B4-BE49-F238E27FC236}">
                <a16:creationId xmlns:a16="http://schemas.microsoft.com/office/drawing/2014/main" id="{4D4A4C20-D4F1-232B-7280-B73F66BB9714}"/>
              </a:ext>
            </a:extLst>
          </p:cNvPr>
          <p:cNvSpPr txBox="1"/>
          <p:nvPr/>
        </p:nvSpPr>
        <p:spPr>
          <a:xfrm>
            <a:off x="470974" y="4123734"/>
            <a:ext cx="5596466" cy="2292935"/>
          </a:xfrm>
          <a:prstGeom prst="rect">
            <a:avLst/>
          </a:prstGeom>
          <a:noFill/>
        </p:spPr>
        <p:txBody>
          <a:bodyPr wrap="square">
            <a:spAutoFit/>
          </a:bodyPr>
          <a:lstStyle/>
          <a:p>
            <a:r>
              <a:rPr lang="en-US" sz="1100" dirty="0"/>
              <a:t>Flow 1 (1.0.0.2:49153 -&gt; 7.0.0.2:1234) proto UDP</a:t>
            </a:r>
          </a:p>
          <a:p>
            <a:r>
              <a:rPr lang="en-US" sz="1100" dirty="0"/>
              <a:t>  Tx Packets: 9200</a:t>
            </a:r>
          </a:p>
          <a:p>
            <a:r>
              <a:rPr lang="en-US" sz="1100" dirty="0"/>
              <a:t>  Tx Bytes:   1177600</a:t>
            </a:r>
          </a:p>
          <a:p>
            <a:r>
              <a:rPr lang="en-US" sz="1100" dirty="0"/>
              <a:t>  </a:t>
            </a:r>
            <a:r>
              <a:rPr lang="en-US" sz="1100" dirty="0" err="1"/>
              <a:t>TxOffered</a:t>
            </a:r>
            <a:r>
              <a:rPr lang="en-US" sz="1100" dirty="0"/>
              <a:t>:  2.048000 Mbps</a:t>
            </a:r>
          </a:p>
          <a:p>
            <a:r>
              <a:rPr lang="en-US" sz="1100" dirty="0"/>
              <a:t>  Rx Bytes:   1177472</a:t>
            </a:r>
          </a:p>
          <a:p>
            <a:r>
              <a:rPr lang="en-US" sz="1100" dirty="0"/>
              <a:t>  Throughput: 2.047777 Mbps</a:t>
            </a:r>
          </a:p>
          <a:p>
            <a:r>
              <a:rPr lang="en-US" sz="1100" dirty="0"/>
              <a:t>  Mean delay:  0.885736 </a:t>
            </a:r>
            <a:r>
              <a:rPr lang="en-US" sz="1100" dirty="0" err="1"/>
              <a:t>ms</a:t>
            </a:r>
            <a:endParaRPr lang="en-US" sz="1100" dirty="0"/>
          </a:p>
          <a:p>
            <a:r>
              <a:rPr lang="en-US" sz="1100" dirty="0"/>
              <a:t>  Mean jitter:  0.000008 </a:t>
            </a:r>
            <a:r>
              <a:rPr lang="en-US" sz="1100" dirty="0" err="1"/>
              <a:t>ms</a:t>
            </a:r>
            <a:endParaRPr lang="en-US" sz="1100" dirty="0"/>
          </a:p>
          <a:p>
            <a:r>
              <a:rPr lang="en-US" sz="1100" dirty="0"/>
              <a:t>  Rx Packets: 9199</a:t>
            </a:r>
          </a:p>
          <a:p>
            <a:endParaRPr lang="en-US" sz="1100" dirty="0"/>
          </a:p>
          <a:p>
            <a:endParaRPr lang="en-US" sz="1100" dirty="0"/>
          </a:p>
          <a:p>
            <a:r>
              <a:rPr lang="en-US" sz="1100" dirty="0"/>
              <a:t>  Mean flow throughput: 2.047777</a:t>
            </a:r>
          </a:p>
          <a:p>
            <a:r>
              <a:rPr lang="en-US" sz="1100" dirty="0"/>
              <a:t>  Mean flow delay: 0.885736</a:t>
            </a:r>
          </a:p>
        </p:txBody>
      </p:sp>
      <p:sp>
        <p:nvSpPr>
          <p:cNvPr id="26" name="TextBox 25">
            <a:extLst>
              <a:ext uri="{FF2B5EF4-FFF2-40B4-BE49-F238E27FC236}">
                <a16:creationId xmlns:a16="http://schemas.microsoft.com/office/drawing/2014/main" id="{F52D3577-325D-861A-9E77-8A0754DD002D}"/>
              </a:ext>
            </a:extLst>
          </p:cNvPr>
          <p:cNvSpPr txBox="1"/>
          <p:nvPr/>
        </p:nvSpPr>
        <p:spPr>
          <a:xfrm>
            <a:off x="402167" y="3864433"/>
            <a:ext cx="5596466" cy="279244"/>
          </a:xfrm>
          <a:prstGeom prst="rect">
            <a:avLst/>
          </a:prstGeom>
          <a:noFill/>
        </p:spPr>
        <p:txBody>
          <a:bodyPr wrap="square">
            <a:spAutoFit/>
          </a:bodyPr>
          <a:lstStyle/>
          <a:p>
            <a:pPr>
              <a:lnSpc>
                <a:spcPts val="1425"/>
              </a:lnSpc>
              <a:buNone/>
            </a:pPr>
            <a:r>
              <a:rPr lang="en-US" b="0" dirty="0">
                <a:solidFill>
                  <a:srgbClr val="9CDCFE"/>
                </a:solidFill>
                <a:effectLst/>
                <a:latin typeface="Droid Sans Mono"/>
              </a:rPr>
              <a:t>numerologyBwp1</a:t>
            </a:r>
            <a:r>
              <a:rPr lang="en-US" b="0" dirty="0">
                <a:solidFill>
                  <a:srgbClr val="CCCCCC"/>
                </a:solidFill>
                <a:effectLst/>
                <a:latin typeface="Droid Sans Mono"/>
              </a:rPr>
              <a:t> </a:t>
            </a:r>
            <a:r>
              <a:rPr lang="en-US" b="0" dirty="0">
                <a:solidFill>
                  <a:srgbClr val="D4D4D4"/>
                </a:solidFill>
                <a:effectLst/>
                <a:latin typeface="Droid Sans Mono"/>
              </a:rPr>
              <a:t>=</a:t>
            </a:r>
            <a:r>
              <a:rPr lang="en-US" b="0" dirty="0">
                <a:solidFill>
                  <a:srgbClr val="CCCCCC"/>
                </a:solidFill>
                <a:effectLst/>
                <a:latin typeface="Droid Sans Mono"/>
              </a:rPr>
              <a:t> </a:t>
            </a:r>
            <a:r>
              <a:rPr lang="en-US" dirty="0">
                <a:solidFill>
                  <a:srgbClr val="B5CEA8"/>
                </a:solidFill>
                <a:latin typeface="Droid Sans Mono"/>
              </a:rPr>
              <a:t>2</a:t>
            </a:r>
            <a:r>
              <a:rPr lang="en-US" b="0" dirty="0">
                <a:solidFill>
                  <a:srgbClr val="CCCCCC"/>
                </a:solidFill>
                <a:effectLst/>
                <a:latin typeface="Droid Sans Mono"/>
              </a:rPr>
              <a:t>;</a:t>
            </a:r>
          </a:p>
        </p:txBody>
      </p:sp>
      <p:sp>
        <p:nvSpPr>
          <p:cNvPr id="28" name="TextBox 27">
            <a:extLst>
              <a:ext uri="{FF2B5EF4-FFF2-40B4-BE49-F238E27FC236}">
                <a16:creationId xmlns:a16="http://schemas.microsoft.com/office/drawing/2014/main" id="{8CEC7DB0-4E96-4E5E-0288-8A695E92CCE4}"/>
              </a:ext>
            </a:extLst>
          </p:cNvPr>
          <p:cNvSpPr txBox="1"/>
          <p:nvPr/>
        </p:nvSpPr>
        <p:spPr>
          <a:xfrm>
            <a:off x="4135966" y="4103791"/>
            <a:ext cx="5596466" cy="2292935"/>
          </a:xfrm>
          <a:prstGeom prst="rect">
            <a:avLst/>
          </a:prstGeom>
          <a:noFill/>
        </p:spPr>
        <p:txBody>
          <a:bodyPr wrap="square">
            <a:spAutoFit/>
          </a:bodyPr>
          <a:lstStyle/>
          <a:p>
            <a:r>
              <a:rPr lang="en-US" sz="1100" dirty="0"/>
              <a:t>Flow 1 (1.0.0.2:49153 -&gt; 7.0.0.2:1234) proto UDP</a:t>
            </a:r>
          </a:p>
          <a:p>
            <a:r>
              <a:rPr lang="en-US" sz="1100" dirty="0"/>
              <a:t>  Tx Packets: 9200</a:t>
            </a:r>
          </a:p>
          <a:p>
            <a:r>
              <a:rPr lang="en-US" sz="1100" dirty="0"/>
              <a:t>  Tx Bytes:   1177600</a:t>
            </a:r>
          </a:p>
          <a:p>
            <a:r>
              <a:rPr lang="en-US" sz="1100" dirty="0"/>
              <a:t>  </a:t>
            </a:r>
            <a:r>
              <a:rPr lang="en-US" sz="1100" dirty="0" err="1"/>
              <a:t>TxOffered</a:t>
            </a:r>
            <a:r>
              <a:rPr lang="en-US" sz="1100" dirty="0"/>
              <a:t>:  2.048000 Mbps</a:t>
            </a:r>
          </a:p>
          <a:p>
            <a:r>
              <a:rPr lang="en-US" sz="1100" dirty="0"/>
              <a:t>  Rx Bytes:   1177600</a:t>
            </a:r>
          </a:p>
          <a:p>
            <a:r>
              <a:rPr lang="en-US" sz="1100" dirty="0"/>
              <a:t>  Throughput: 2.048000 Mbps</a:t>
            </a:r>
          </a:p>
          <a:p>
            <a:r>
              <a:rPr lang="en-US" sz="1100" dirty="0"/>
              <a:t>  Mean delay:  0.492872 </a:t>
            </a:r>
            <a:r>
              <a:rPr lang="en-US" sz="1100" dirty="0" err="1"/>
              <a:t>ms</a:t>
            </a:r>
            <a:endParaRPr lang="en-US" sz="1100" dirty="0"/>
          </a:p>
          <a:p>
            <a:r>
              <a:rPr lang="en-US" sz="1100" dirty="0"/>
              <a:t>  Mean jitter:  0.000009 </a:t>
            </a:r>
            <a:r>
              <a:rPr lang="en-US" sz="1100" dirty="0" err="1"/>
              <a:t>ms</a:t>
            </a:r>
            <a:endParaRPr lang="en-US" sz="1100" dirty="0"/>
          </a:p>
          <a:p>
            <a:r>
              <a:rPr lang="en-US" sz="1100" dirty="0"/>
              <a:t>  Rx Packets: 9200</a:t>
            </a:r>
          </a:p>
          <a:p>
            <a:endParaRPr lang="en-US" sz="1100" dirty="0"/>
          </a:p>
          <a:p>
            <a:endParaRPr lang="en-US" sz="1100" dirty="0"/>
          </a:p>
          <a:p>
            <a:r>
              <a:rPr lang="en-US" sz="1100" dirty="0"/>
              <a:t>  Mean flow throughput: 2.048000</a:t>
            </a:r>
          </a:p>
          <a:p>
            <a:r>
              <a:rPr lang="en-US" sz="1100" dirty="0"/>
              <a:t>  Mean flow delay: 0.492872</a:t>
            </a:r>
          </a:p>
        </p:txBody>
      </p:sp>
      <p:sp>
        <p:nvSpPr>
          <p:cNvPr id="29" name="TextBox 28">
            <a:extLst>
              <a:ext uri="{FF2B5EF4-FFF2-40B4-BE49-F238E27FC236}">
                <a16:creationId xmlns:a16="http://schemas.microsoft.com/office/drawing/2014/main" id="{1A4D0F5D-B246-E3A4-B7B3-C66CE0A3C913}"/>
              </a:ext>
            </a:extLst>
          </p:cNvPr>
          <p:cNvSpPr txBox="1"/>
          <p:nvPr/>
        </p:nvSpPr>
        <p:spPr>
          <a:xfrm>
            <a:off x="4069150" y="3744754"/>
            <a:ext cx="5596466" cy="279244"/>
          </a:xfrm>
          <a:prstGeom prst="rect">
            <a:avLst/>
          </a:prstGeom>
          <a:noFill/>
        </p:spPr>
        <p:txBody>
          <a:bodyPr wrap="square">
            <a:spAutoFit/>
          </a:bodyPr>
          <a:lstStyle/>
          <a:p>
            <a:pPr>
              <a:lnSpc>
                <a:spcPts val="1425"/>
              </a:lnSpc>
              <a:buNone/>
            </a:pPr>
            <a:r>
              <a:rPr lang="en-US" b="0" dirty="0">
                <a:solidFill>
                  <a:srgbClr val="9CDCFE"/>
                </a:solidFill>
                <a:effectLst/>
                <a:latin typeface="Droid Sans Mono"/>
              </a:rPr>
              <a:t>numerologyBwp1</a:t>
            </a:r>
            <a:r>
              <a:rPr lang="en-US" b="0" dirty="0">
                <a:solidFill>
                  <a:srgbClr val="CCCCCC"/>
                </a:solidFill>
                <a:effectLst/>
                <a:latin typeface="Droid Sans Mono"/>
              </a:rPr>
              <a:t> </a:t>
            </a:r>
            <a:r>
              <a:rPr lang="en-US" b="0" dirty="0">
                <a:solidFill>
                  <a:srgbClr val="D4D4D4"/>
                </a:solidFill>
                <a:effectLst/>
                <a:latin typeface="Droid Sans Mono"/>
              </a:rPr>
              <a:t>=</a:t>
            </a:r>
            <a:r>
              <a:rPr lang="en-US" b="0" dirty="0">
                <a:solidFill>
                  <a:srgbClr val="CCCCCC"/>
                </a:solidFill>
                <a:effectLst/>
                <a:latin typeface="Droid Sans Mono"/>
              </a:rPr>
              <a:t> </a:t>
            </a:r>
            <a:r>
              <a:rPr lang="en-US" b="0" dirty="0">
                <a:solidFill>
                  <a:srgbClr val="B5CEA8"/>
                </a:solidFill>
                <a:effectLst/>
                <a:latin typeface="Droid Sans Mono"/>
              </a:rPr>
              <a:t>3</a:t>
            </a:r>
            <a:r>
              <a:rPr lang="en-US" b="0" dirty="0">
                <a:solidFill>
                  <a:srgbClr val="CCCCCC"/>
                </a:solidFill>
                <a:effectLst/>
                <a:latin typeface="Droid Sans Mono"/>
              </a:rPr>
              <a:t>;</a:t>
            </a:r>
          </a:p>
        </p:txBody>
      </p:sp>
    </p:spTree>
    <p:extLst>
      <p:ext uri="{BB962C8B-B14F-4D97-AF65-F5344CB8AC3E}">
        <p14:creationId xmlns:p14="http://schemas.microsoft.com/office/powerpoint/2010/main" val="3346839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5A827B-A5F7-79D3-815C-2BCEF0B07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CD06AF-3947-BA86-FE57-E02E832BDCFC}"/>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34246FC4-0D6F-1D7F-2A12-B7EE42E4C410}"/>
              </a:ext>
            </a:extLst>
          </p:cNvPr>
          <p:cNvSpPr>
            <a:spLocks noGrp="1"/>
          </p:cNvSpPr>
          <p:nvPr>
            <p:ph type="title"/>
          </p:nvPr>
        </p:nvSpPr>
        <p:spPr/>
        <p:txBody>
          <a:bodyPr/>
          <a:lstStyle/>
          <a:p>
            <a:r>
              <a:rPr lang="en-US" dirty="0"/>
              <a:t>4. </a:t>
            </a:r>
            <a:r>
              <a:rPr lang="en-US" dirty="0" err="1"/>
              <a:t>Dựng</a:t>
            </a:r>
            <a:r>
              <a:rPr lang="en-US" dirty="0"/>
              <a:t> </a:t>
            </a:r>
            <a:r>
              <a:rPr lang="en-US" dirty="0" err="1"/>
              <a:t>hệ</a:t>
            </a:r>
            <a:r>
              <a:rPr lang="en-US" dirty="0"/>
              <a:t> </a:t>
            </a:r>
            <a:r>
              <a:rPr lang="en-US" dirty="0" err="1"/>
              <a:t>thống</a:t>
            </a:r>
            <a:r>
              <a:rPr lang="en-US" dirty="0"/>
              <a:t> </a:t>
            </a:r>
            <a:r>
              <a:rPr lang="en-US" dirty="0" err="1"/>
              <a:t>mô</a:t>
            </a:r>
            <a:r>
              <a:rPr lang="en-US" dirty="0"/>
              <a:t> </a:t>
            </a:r>
            <a:r>
              <a:rPr lang="en-US" dirty="0" err="1"/>
              <a:t>phỏng</a:t>
            </a:r>
            <a:endParaRPr lang="en-US" dirty="0"/>
          </a:p>
        </p:txBody>
      </p:sp>
      <p:sp>
        <p:nvSpPr>
          <p:cNvPr id="8" name="TextBox 7">
            <a:extLst>
              <a:ext uri="{FF2B5EF4-FFF2-40B4-BE49-F238E27FC236}">
                <a16:creationId xmlns:a16="http://schemas.microsoft.com/office/drawing/2014/main" id="{E2825ADF-E20A-0547-86EE-0A530DFBBEF4}"/>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4BEF7771-56F0-8376-940F-B9AC3088CD91}"/>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7" name="Rectangle 1">
            <a:extLst>
              <a:ext uri="{FF2B5EF4-FFF2-40B4-BE49-F238E27FC236}">
                <a16:creationId xmlns:a16="http://schemas.microsoft.com/office/drawing/2014/main" id="{1B214A09-AE11-FD93-2B0F-DB67111A7308}"/>
              </a:ext>
            </a:extLst>
          </p:cNvPr>
          <p:cNvSpPr>
            <a:spLocks noChangeArrowheads="1"/>
          </p:cNvSpPr>
          <p:nvPr/>
        </p:nvSpPr>
        <p:spPr bwMode="auto">
          <a:xfrm>
            <a:off x="402167" y="1240664"/>
            <a:ext cx="3833300"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100">
                <a:latin typeface="Arial" panose="020B0604020202020204" pitchFamily="34" charset="0"/>
              </a:rPr>
              <a:t>Flow 1 (1.0.0.2:49153 -&gt; 7.0.0.2:1234) proto UDP</a:t>
            </a:r>
          </a:p>
          <a:p>
            <a:pPr lvl="0" defTabSz="914400" eaLnBrk="0" fontAlgn="base" hangingPunct="0">
              <a:spcBef>
                <a:spcPct val="0"/>
              </a:spcBef>
              <a:spcAft>
                <a:spcPct val="0"/>
              </a:spcAft>
            </a:pPr>
            <a:r>
              <a:rPr lang="en-US" altLang="en-US" sz="1100">
                <a:latin typeface="Arial" panose="020B0604020202020204" pitchFamily="34" charset="0"/>
              </a:rPr>
              <a:t>  Tx Packets: 9200</a:t>
            </a:r>
          </a:p>
          <a:p>
            <a:pPr lvl="0" defTabSz="914400" eaLnBrk="0" fontAlgn="base" hangingPunct="0">
              <a:spcBef>
                <a:spcPct val="0"/>
              </a:spcBef>
              <a:spcAft>
                <a:spcPct val="0"/>
              </a:spcAft>
            </a:pPr>
            <a:r>
              <a:rPr lang="en-US" altLang="en-US" sz="1100">
                <a:latin typeface="Arial" panose="020B0604020202020204" pitchFamily="34" charset="0"/>
              </a:rPr>
              <a:t>  Tx Bytes:   1177600</a:t>
            </a:r>
          </a:p>
          <a:p>
            <a:pPr lvl="0" defTabSz="914400" eaLnBrk="0" fontAlgn="base" hangingPunct="0">
              <a:spcBef>
                <a:spcPct val="0"/>
              </a:spcBef>
              <a:spcAft>
                <a:spcPct val="0"/>
              </a:spcAft>
            </a:pPr>
            <a:r>
              <a:rPr lang="en-US" altLang="en-US" sz="1100">
                <a:latin typeface="Arial" panose="020B0604020202020204" pitchFamily="34" charset="0"/>
              </a:rPr>
              <a:t>  TxOffered:  2.048000 Mbps</a:t>
            </a:r>
          </a:p>
          <a:p>
            <a:pPr lvl="0" defTabSz="914400" eaLnBrk="0" fontAlgn="base" hangingPunct="0">
              <a:spcBef>
                <a:spcPct val="0"/>
              </a:spcBef>
              <a:spcAft>
                <a:spcPct val="0"/>
              </a:spcAft>
            </a:pPr>
            <a:r>
              <a:rPr lang="en-US" altLang="en-US" sz="1100">
                <a:latin typeface="Arial" panose="020B0604020202020204" pitchFamily="34" charset="0"/>
              </a:rPr>
              <a:t>  Rx Bytes:   1177600</a:t>
            </a:r>
          </a:p>
          <a:p>
            <a:pPr lvl="0" defTabSz="914400" eaLnBrk="0" fontAlgn="base" hangingPunct="0">
              <a:spcBef>
                <a:spcPct val="0"/>
              </a:spcBef>
              <a:spcAft>
                <a:spcPct val="0"/>
              </a:spcAft>
            </a:pPr>
            <a:r>
              <a:rPr lang="en-US" altLang="en-US" sz="1100">
                <a:latin typeface="Arial" panose="020B0604020202020204" pitchFamily="34" charset="0"/>
              </a:rPr>
              <a:t>  Throughput: 2.048000 Mbps</a:t>
            </a:r>
          </a:p>
          <a:p>
            <a:pPr lvl="0" defTabSz="914400" eaLnBrk="0" fontAlgn="base" hangingPunct="0">
              <a:spcBef>
                <a:spcPct val="0"/>
              </a:spcBef>
              <a:spcAft>
                <a:spcPct val="0"/>
              </a:spcAft>
            </a:pPr>
            <a:r>
              <a:rPr lang="en-US" altLang="en-US" sz="1100">
                <a:latin typeface="Arial" panose="020B0604020202020204" pitchFamily="34" charset="0"/>
              </a:rPr>
              <a:t>  Mean delay:  0.492872 ms</a:t>
            </a:r>
          </a:p>
          <a:p>
            <a:pPr lvl="0" defTabSz="914400" eaLnBrk="0" fontAlgn="base" hangingPunct="0">
              <a:spcBef>
                <a:spcPct val="0"/>
              </a:spcBef>
              <a:spcAft>
                <a:spcPct val="0"/>
              </a:spcAft>
            </a:pPr>
            <a:r>
              <a:rPr lang="en-US" altLang="en-US" sz="1100">
                <a:latin typeface="Arial" panose="020B0604020202020204" pitchFamily="34" charset="0"/>
              </a:rPr>
              <a:t>  Mean jitter:  0.000009 ms</a:t>
            </a:r>
          </a:p>
          <a:p>
            <a:pPr lvl="0" defTabSz="914400" eaLnBrk="0" fontAlgn="base" hangingPunct="0">
              <a:spcBef>
                <a:spcPct val="0"/>
              </a:spcBef>
              <a:spcAft>
                <a:spcPct val="0"/>
              </a:spcAft>
            </a:pPr>
            <a:r>
              <a:rPr lang="en-US" altLang="en-US" sz="1100">
                <a:latin typeface="Arial" panose="020B0604020202020204" pitchFamily="34" charset="0"/>
              </a:rPr>
              <a:t>  Rx Packets: 9200</a:t>
            </a:r>
          </a:p>
          <a:p>
            <a:pPr lvl="0" defTabSz="914400" eaLnBrk="0" fontAlgn="base" hangingPunct="0">
              <a:spcBef>
                <a:spcPct val="0"/>
              </a:spcBef>
              <a:spcAft>
                <a:spcPct val="0"/>
              </a:spcAft>
            </a:pPr>
            <a:endParaRPr lang="en-US" altLang="en-US" sz="1100">
              <a:latin typeface="Arial" panose="020B0604020202020204" pitchFamily="34" charset="0"/>
            </a:endParaRPr>
          </a:p>
          <a:p>
            <a:pPr lvl="0" defTabSz="914400" eaLnBrk="0" fontAlgn="base" hangingPunct="0">
              <a:spcBef>
                <a:spcPct val="0"/>
              </a:spcBef>
              <a:spcAft>
                <a:spcPct val="0"/>
              </a:spcAft>
            </a:pPr>
            <a:endParaRPr lang="en-US" altLang="en-US" sz="1100">
              <a:latin typeface="Arial" panose="020B0604020202020204" pitchFamily="34" charset="0"/>
            </a:endParaRPr>
          </a:p>
          <a:p>
            <a:pPr lvl="0" defTabSz="914400" eaLnBrk="0" fontAlgn="base" hangingPunct="0">
              <a:spcBef>
                <a:spcPct val="0"/>
              </a:spcBef>
              <a:spcAft>
                <a:spcPct val="0"/>
              </a:spcAft>
            </a:pPr>
            <a:r>
              <a:rPr lang="en-US" altLang="en-US" sz="1100">
                <a:latin typeface="Arial" panose="020B0604020202020204" pitchFamily="34" charset="0"/>
              </a:rPr>
              <a:t>  Mean flow throughput: 2.048000</a:t>
            </a:r>
          </a:p>
          <a:p>
            <a:pPr lvl="0" defTabSz="914400" eaLnBrk="0" fontAlgn="base" hangingPunct="0">
              <a:spcBef>
                <a:spcPct val="0"/>
              </a:spcBef>
              <a:spcAft>
                <a:spcPct val="0"/>
              </a:spcAft>
            </a:pPr>
            <a:r>
              <a:rPr lang="en-US" altLang="en-US" sz="1100">
                <a:latin typeface="Arial" panose="020B0604020202020204" pitchFamily="34" charset="0"/>
              </a:rPr>
              <a:t>  Mean flow delay: 0.492872</a:t>
            </a:r>
            <a:endParaRPr lang="en-US" altLang="en-US" sz="1100" dirty="0">
              <a:latin typeface="Arial" panose="020B0604020202020204" pitchFamily="34" charset="0"/>
            </a:endParaRPr>
          </a:p>
        </p:txBody>
      </p:sp>
      <p:sp>
        <p:nvSpPr>
          <p:cNvPr id="14" name="TextBox 13">
            <a:extLst>
              <a:ext uri="{FF2B5EF4-FFF2-40B4-BE49-F238E27FC236}">
                <a16:creationId xmlns:a16="http://schemas.microsoft.com/office/drawing/2014/main" id="{FA62F490-7AEA-E032-A715-6BD72D87B073}"/>
              </a:ext>
            </a:extLst>
          </p:cNvPr>
          <p:cNvSpPr txBox="1"/>
          <p:nvPr/>
        </p:nvSpPr>
        <p:spPr>
          <a:xfrm>
            <a:off x="402167" y="913065"/>
            <a:ext cx="5596466" cy="286040"/>
          </a:xfrm>
          <a:prstGeom prst="rect">
            <a:avLst/>
          </a:prstGeom>
          <a:noFill/>
        </p:spPr>
        <p:txBody>
          <a:bodyPr wrap="square">
            <a:spAutoFit/>
          </a:bodyPr>
          <a:lstStyle/>
          <a:p>
            <a:pPr>
              <a:lnSpc>
                <a:spcPts val="1425"/>
              </a:lnSpc>
              <a:buNone/>
            </a:pPr>
            <a:r>
              <a:rPr lang="en-US" b="0" dirty="0">
                <a:solidFill>
                  <a:srgbClr val="CCCCCC"/>
                </a:solidFill>
                <a:effectLst/>
                <a:latin typeface="Droid Sans Mono"/>
              </a:rPr>
              <a:t>//UE tang 100m, </a:t>
            </a:r>
            <a:r>
              <a:rPr lang="en-US" b="0" dirty="0" err="1">
                <a:solidFill>
                  <a:srgbClr val="CCCCCC"/>
                </a:solidFill>
                <a:effectLst/>
                <a:latin typeface="Droid Sans Mono"/>
              </a:rPr>
              <a:t>thành</a:t>
            </a:r>
            <a:r>
              <a:rPr lang="en-US" b="0" dirty="0">
                <a:solidFill>
                  <a:srgbClr val="CCCCCC"/>
                </a:solidFill>
                <a:effectLst/>
                <a:latin typeface="Droid Sans Mono"/>
              </a:rPr>
              <a:t> </a:t>
            </a:r>
            <a:r>
              <a:rPr lang="en-US" b="0" dirty="0" err="1">
                <a:solidFill>
                  <a:srgbClr val="CCCCCC"/>
                </a:solidFill>
                <a:effectLst/>
                <a:latin typeface="Droid Sans Mono"/>
              </a:rPr>
              <a:t>thị</a:t>
            </a:r>
            <a:r>
              <a:rPr lang="en-US" b="0" dirty="0">
                <a:solidFill>
                  <a:srgbClr val="CCCCCC"/>
                </a:solidFill>
                <a:effectLst/>
                <a:latin typeface="Droid Sans Mono"/>
              </a:rPr>
              <a:t> (</a:t>
            </a:r>
            <a:r>
              <a:rPr lang="en-US" dirty="0" err="1"/>
              <a:t>UMi_StreetCanyon</a:t>
            </a:r>
            <a:r>
              <a:rPr lang="en-US" dirty="0"/>
              <a:t>)</a:t>
            </a:r>
            <a:endParaRPr lang="en-US" b="0" dirty="0">
              <a:solidFill>
                <a:srgbClr val="CCCCCC"/>
              </a:solidFill>
              <a:effectLst/>
              <a:latin typeface="Droid Sans Mono"/>
            </a:endParaRPr>
          </a:p>
        </p:txBody>
      </p:sp>
      <p:sp>
        <p:nvSpPr>
          <p:cNvPr id="25" name="TextBox 24">
            <a:extLst>
              <a:ext uri="{FF2B5EF4-FFF2-40B4-BE49-F238E27FC236}">
                <a16:creationId xmlns:a16="http://schemas.microsoft.com/office/drawing/2014/main" id="{2926C7C1-1A99-CAD1-9098-61883BFCC441}"/>
              </a:ext>
            </a:extLst>
          </p:cNvPr>
          <p:cNvSpPr txBox="1"/>
          <p:nvPr/>
        </p:nvSpPr>
        <p:spPr>
          <a:xfrm>
            <a:off x="470974" y="4123734"/>
            <a:ext cx="5596466" cy="2292935"/>
          </a:xfrm>
          <a:prstGeom prst="rect">
            <a:avLst/>
          </a:prstGeom>
          <a:noFill/>
        </p:spPr>
        <p:txBody>
          <a:bodyPr wrap="square">
            <a:spAutoFit/>
          </a:bodyPr>
          <a:lstStyle/>
          <a:p>
            <a:r>
              <a:rPr lang="en-US" sz="1100" dirty="0"/>
              <a:t>Flow 1 (1.0.0.2:49153 -&gt; 7.0.0.2:1234) proto UDP</a:t>
            </a:r>
          </a:p>
          <a:p>
            <a:r>
              <a:rPr lang="en-US" sz="1100" dirty="0"/>
              <a:t>  Tx Packets: 9200</a:t>
            </a:r>
          </a:p>
          <a:p>
            <a:r>
              <a:rPr lang="en-US" sz="1100" dirty="0"/>
              <a:t>  Tx Bytes:   1177600</a:t>
            </a:r>
          </a:p>
          <a:p>
            <a:r>
              <a:rPr lang="en-US" sz="1100" dirty="0"/>
              <a:t>  </a:t>
            </a:r>
            <a:r>
              <a:rPr lang="en-US" sz="1100" dirty="0" err="1"/>
              <a:t>TxOffered</a:t>
            </a:r>
            <a:r>
              <a:rPr lang="en-US" sz="1100" dirty="0"/>
              <a:t>:  2.048000 Mbps</a:t>
            </a:r>
          </a:p>
          <a:p>
            <a:r>
              <a:rPr lang="en-US" sz="1100" dirty="0"/>
              <a:t>  Rx Bytes:   1177600</a:t>
            </a:r>
          </a:p>
          <a:p>
            <a:r>
              <a:rPr lang="en-US" sz="1100" dirty="0"/>
              <a:t>  Throughput: 2.048000 Mbps</a:t>
            </a:r>
          </a:p>
          <a:p>
            <a:r>
              <a:rPr lang="en-US" sz="1100" dirty="0"/>
              <a:t>  Mean delay:  0.492872 </a:t>
            </a:r>
            <a:r>
              <a:rPr lang="en-US" sz="1100" dirty="0" err="1"/>
              <a:t>ms</a:t>
            </a:r>
            <a:endParaRPr lang="en-US" sz="1100" dirty="0"/>
          </a:p>
          <a:p>
            <a:r>
              <a:rPr lang="en-US" sz="1100" dirty="0"/>
              <a:t>  Mean jitter:  0.000009 </a:t>
            </a:r>
            <a:r>
              <a:rPr lang="en-US" sz="1100" dirty="0" err="1"/>
              <a:t>ms</a:t>
            </a:r>
            <a:endParaRPr lang="en-US" sz="1100" dirty="0"/>
          </a:p>
          <a:p>
            <a:r>
              <a:rPr lang="en-US" sz="1100" dirty="0"/>
              <a:t>  Rx Packets: 9200</a:t>
            </a:r>
          </a:p>
          <a:p>
            <a:endParaRPr lang="en-US" sz="1100" dirty="0"/>
          </a:p>
          <a:p>
            <a:endParaRPr lang="en-US" sz="1100" dirty="0"/>
          </a:p>
          <a:p>
            <a:r>
              <a:rPr lang="en-US" sz="1100" dirty="0"/>
              <a:t>  Mean flow throughput: 2.048000</a:t>
            </a:r>
          </a:p>
          <a:p>
            <a:r>
              <a:rPr lang="en-US" sz="1100" dirty="0"/>
              <a:t>  Mean flow delay: 0.492872</a:t>
            </a:r>
          </a:p>
        </p:txBody>
      </p:sp>
      <p:sp>
        <p:nvSpPr>
          <p:cNvPr id="26" name="TextBox 25">
            <a:extLst>
              <a:ext uri="{FF2B5EF4-FFF2-40B4-BE49-F238E27FC236}">
                <a16:creationId xmlns:a16="http://schemas.microsoft.com/office/drawing/2014/main" id="{89245612-575B-C495-C5FF-368FF30CF313}"/>
              </a:ext>
            </a:extLst>
          </p:cNvPr>
          <p:cNvSpPr txBox="1"/>
          <p:nvPr/>
        </p:nvSpPr>
        <p:spPr>
          <a:xfrm>
            <a:off x="402167" y="3864433"/>
            <a:ext cx="5596466" cy="279244"/>
          </a:xfrm>
          <a:prstGeom prst="rect">
            <a:avLst/>
          </a:prstGeom>
          <a:noFill/>
        </p:spPr>
        <p:txBody>
          <a:bodyPr wrap="square">
            <a:spAutoFit/>
          </a:bodyPr>
          <a:lstStyle/>
          <a:p>
            <a:pPr>
              <a:lnSpc>
                <a:spcPts val="1425"/>
              </a:lnSpc>
              <a:buNone/>
            </a:pPr>
            <a:r>
              <a:rPr lang="en-US" b="0" dirty="0">
                <a:solidFill>
                  <a:srgbClr val="9CDCFE"/>
                </a:solidFill>
                <a:effectLst/>
                <a:latin typeface="Droid Sans Mono"/>
              </a:rPr>
              <a:t>numerologyBwp1</a:t>
            </a:r>
            <a:r>
              <a:rPr lang="en-US" b="0" dirty="0">
                <a:solidFill>
                  <a:srgbClr val="CCCCCC"/>
                </a:solidFill>
                <a:effectLst/>
                <a:latin typeface="Droid Sans Mono"/>
              </a:rPr>
              <a:t> </a:t>
            </a:r>
            <a:r>
              <a:rPr lang="en-US" b="0" dirty="0">
                <a:solidFill>
                  <a:srgbClr val="D4D4D4"/>
                </a:solidFill>
                <a:effectLst/>
                <a:latin typeface="Droid Sans Mono"/>
              </a:rPr>
              <a:t>=</a:t>
            </a:r>
            <a:r>
              <a:rPr lang="en-US" b="0" dirty="0">
                <a:solidFill>
                  <a:srgbClr val="CCCCCC"/>
                </a:solidFill>
                <a:effectLst/>
                <a:latin typeface="Droid Sans Mono"/>
              </a:rPr>
              <a:t> </a:t>
            </a:r>
            <a:r>
              <a:rPr lang="en-US" dirty="0">
                <a:solidFill>
                  <a:srgbClr val="B5CEA8"/>
                </a:solidFill>
                <a:latin typeface="Droid Sans Mono"/>
              </a:rPr>
              <a:t>2</a:t>
            </a:r>
            <a:r>
              <a:rPr lang="en-US" b="0" dirty="0">
                <a:solidFill>
                  <a:srgbClr val="CCCCCC"/>
                </a:solidFill>
                <a:effectLst/>
                <a:latin typeface="Droid Sans Mono"/>
              </a:rPr>
              <a:t>;</a:t>
            </a:r>
          </a:p>
        </p:txBody>
      </p:sp>
      <p:sp>
        <p:nvSpPr>
          <p:cNvPr id="5" name="TextBox 4">
            <a:extLst>
              <a:ext uri="{FF2B5EF4-FFF2-40B4-BE49-F238E27FC236}">
                <a16:creationId xmlns:a16="http://schemas.microsoft.com/office/drawing/2014/main" id="{F2658BF7-0A76-ADF6-7FD4-4AF374EE1886}"/>
              </a:ext>
            </a:extLst>
          </p:cNvPr>
          <p:cNvSpPr txBox="1"/>
          <p:nvPr/>
        </p:nvSpPr>
        <p:spPr>
          <a:xfrm>
            <a:off x="3750733" y="2804849"/>
            <a:ext cx="4288366" cy="2677656"/>
          </a:xfrm>
          <a:prstGeom prst="rect">
            <a:avLst/>
          </a:prstGeom>
          <a:noFill/>
        </p:spPr>
        <p:txBody>
          <a:bodyPr wrap="square">
            <a:spAutoFit/>
          </a:bodyPr>
          <a:lstStyle/>
          <a:p>
            <a:pPr>
              <a:buNone/>
            </a:pPr>
            <a:r>
              <a:rPr lang="vi-VN" sz="1400" b="1" dirty="0"/>
              <a:t>Tại sao không có sự khác biệt?</a:t>
            </a:r>
            <a:r>
              <a:rPr lang="vi-VN" sz="1400" dirty="0"/>
              <a:t> Mô hình </a:t>
            </a:r>
            <a:r>
              <a:rPr lang="vi-VN" sz="1400" b="1" dirty="0"/>
              <a:t>RMa (Rural Macro)</a:t>
            </a:r>
            <a:r>
              <a:rPr lang="vi-VN" sz="1400" dirty="0"/>
              <a:t> được thiết kế cho các vùng nông thôn rộng lớn với bán kính phủ sóng lên đến hàng chục km.</a:t>
            </a:r>
          </a:p>
          <a:p>
            <a:pPr marL="285750" indent="-285750">
              <a:buFont typeface="Arial" panose="020B0604020202020204" pitchFamily="34" charset="0"/>
              <a:buChar char="•"/>
            </a:pPr>
            <a:r>
              <a:rPr lang="vi-VN" sz="1400" dirty="0"/>
              <a:t>UE và Trạm cách nhau khoảng </a:t>
            </a:r>
            <a:r>
              <a:rPr lang="vi-VN" sz="1400" b="1" dirty="0"/>
              <a:t>100m</a:t>
            </a:r>
            <a:r>
              <a:rPr lang="vi-VN" sz="1400" dirty="0"/>
              <a:t>.</a:t>
            </a:r>
          </a:p>
          <a:p>
            <a:pPr marL="285750" indent="-285750">
              <a:buFont typeface="Arial" panose="020B0604020202020204" pitchFamily="34" charset="0"/>
              <a:buChar char="•"/>
            </a:pPr>
            <a:r>
              <a:rPr lang="vi-VN" sz="1400" dirty="0"/>
              <a:t>Với khoảng cách này, trong môi trường nông thôn (ít tòa nhà cao tầng), tín hiệu gần như là </a:t>
            </a:r>
            <a:r>
              <a:rPr lang="vi-VN" sz="1400" b="1" dirty="0"/>
              <a:t>LOS (Line of Sight - Nhìn thẳng)</a:t>
            </a:r>
            <a:r>
              <a:rPr lang="vi-VN" sz="1400" dirty="0"/>
              <a:t> hoàn hảo. Tín hiệu quá mạnh (SNR quá cao), nên dù có bật Shadowing (vật cản ngẫu nhiên) thì nó cũng không đủ sức làm suy hao tín hiệu đến mức gây lỗi.</a:t>
            </a:r>
          </a:p>
        </p:txBody>
      </p:sp>
    </p:spTree>
    <p:extLst>
      <p:ext uri="{BB962C8B-B14F-4D97-AF65-F5344CB8AC3E}">
        <p14:creationId xmlns:p14="http://schemas.microsoft.com/office/powerpoint/2010/main" val="2615190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1257-FCE0-2A30-1C77-BFC912ED75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E03C65-9FF5-BF5D-89AC-B8E0A367B95A}"/>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351B7E04-4EFE-D3EA-DD35-EB4A44793371}"/>
              </a:ext>
            </a:extLst>
          </p:cNvPr>
          <p:cNvSpPr>
            <a:spLocks noGrp="1"/>
          </p:cNvSpPr>
          <p:nvPr>
            <p:ph type="title"/>
          </p:nvPr>
        </p:nvSpPr>
        <p:spPr/>
        <p:txBody>
          <a:bodyPr/>
          <a:lstStyle/>
          <a:p>
            <a:r>
              <a:rPr lang="en-US" dirty="0"/>
              <a:t>6. </a:t>
            </a:r>
            <a:r>
              <a:rPr lang="en-US" dirty="0" err="1"/>
              <a:t>Hệ</a:t>
            </a:r>
            <a:r>
              <a:rPr lang="en-US" dirty="0"/>
              <a:t> </a:t>
            </a:r>
            <a:r>
              <a:rPr lang="en-US" dirty="0" err="1"/>
              <a:t>thống</a:t>
            </a:r>
            <a:r>
              <a:rPr lang="en-US" dirty="0"/>
              <a:t> </a:t>
            </a:r>
            <a:r>
              <a:rPr lang="en-US" dirty="0" err="1"/>
              <a:t>mô</a:t>
            </a:r>
            <a:r>
              <a:rPr lang="en-US" dirty="0"/>
              <a:t> </a:t>
            </a:r>
            <a:r>
              <a:rPr lang="en-US" dirty="0" err="1"/>
              <a:t>phỏng</a:t>
            </a:r>
            <a:endParaRPr lang="en-US" dirty="0"/>
          </a:p>
        </p:txBody>
      </p:sp>
      <p:sp>
        <p:nvSpPr>
          <p:cNvPr id="8" name="TextBox 7">
            <a:extLst>
              <a:ext uri="{FF2B5EF4-FFF2-40B4-BE49-F238E27FC236}">
                <a16:creationId xmlns:a16="http://schemas.microsoft.com/office/drawing/2014/main" id="{FACA0BA4-C993-9303-DAAD-617F17C07195}"/>
              </a:ext>
            </a:extLst>
          </p:cNvPr>
          <p:cNvSpPr txBox="1"/>
          <p:nvPr/>
        </p:nvSpPr>
        <p:spPr>
          <a:xfrm>
            <a:off x="406594" y="934635"/>
            <a:ext cx="8178606" cy="738664"/>
          </a:xfrm>
          <a:prstGeom prst="rect">
            <a:avLst/>
          </a:prstGeom>
          <a:noFill/>
        </p:spPr>
        <p:txBody>
          <a:bodyPr wrap="square">
            <a:spAutoFit/>
          </a:bodyPr>
          <a:lstStyle/>
          <a:p>
            <a:r>
              <a:rPr lang="en-US" sz="1400" b="1" dirty="0"/>
              <a:t>- </a:t>
            </a:r>
            <a:r>
              <a:rPr lang="en-US" sz="1400" b="1" dirty="0" err="1"/>
              <a:t>Mô</a:t>
            </a:r>
            <a:r>
              <a:rPr lang="en-US" sz="1400" b="1" dirty="0"/>
              <a:t> </a:t>
            </a:r>
            <a:r>
              <a:rPr lang="en-US" sz="1400" b="1" dirty="0" err="1"/>
              <a:t>phỏng</a:t>
            </a:r>
            <a:r>
              <a:rPr lang="en-US" sz="1400" b="1" dirty="0"/>
              <a:t>: </a:t>
            </a:r>
            <a:r>
              <a:rPr lang="vi-VN" sz="1400" b="1" dirty="0"/>
              <a:t>ns-3 (phiên bản 3.38)</a:t>
            </a:r>
            <a:r>
              <a:rPr lang="vi-VN" sz="1400" dirty="0"/>
              <a:t>.</a:t>
            </a:r>
          </a:p>
          <a:p>
            <a:r>
              <a:rPr lang="en-US" sz="1400" b="1" dirty="0"/>
              <a:t>- </a:t>
            </a:r>
            <a:r>
              <a:rPr lang="vi-VN" sz="1400" b="1" dirty="0"/>
              <a:t>Module 5G:</a:t>
            </a:r>
            <a:r>
              <a:rPr lang="vi-VN" sz="1400" dirty="0"/>
              <a:t> </a:t>
            </a:r>
            <a:r>
              <a:rPr lang="vi-VN" sz="1400" b="1" dirty="0"/>
              <a:t>NR (New Radio)</a:t>
            </a:r>
            <a:r>
              <a:rPr lang="vi-VN" sz="1400" dirty="0"/>
              <a:t> phiên bản </a:t>
            </a:r>
            <a:r>
              <a:rPr lang="vi-VN" sz="1400" b="1" dirty="0"/>
              <a:t>v2.4</a:t>
            </a:r>
            <a:r>
              <a:rPr lang="vi-VN" sz="1400" dirty="0"/>
              <a:t> do CTTC phát triển (thường gọi là 5G-LENA).</a:t>
            </a:r>
          </a:p>
          <a:p>
            <a:endParaRPr lang="en-US" sz="1400" dirty="0"/>
          </a:p>
        </p:txBody>
      </p:sp>
      <p:graphicFrame>
        <p:nvGraphicFramePr>
          <p:cNvPr id="34" name="Table 33">
            <a:extLst>
              <a:ext uri="{FF2B5EF4-FFF2-40B4-BE49-F238E27FC236}">
                <a16:creationId xmlns:a16="http://schemas.microsoft.com/office/drawing/2014/main" id="{B4C3BD68-3A07-81E7-EE32-9835582863D0}"/>
              </a:ext>
            </a:extLst>
          </p:cNvPr>
          <p:cNvGraphicFramePr>
            <a:graphicFrameLocks noGrp="1"/>
          </p:cNvGraphicFramePr>
          <p:nvPr>
            <p:extLst>
              <p:ext uri="{D42A27DB-BD31-4B8C-83A1-F6EECF244321}">
                <p14:modId xmlns:p14="http://schemas.microsoft.com/office/powerpoint/2010/main" val="4041633595"/>
              </p:ext>
            </p:extLst>
          </p:nvPr>
        </p:nvGraphicFramePr>
        <p:xfrm>
          <a:off x="1590987" y="1830151"/>
          <a:ext cx="6570879" cy="4349322"/>
        </p:xfrm>
        <a:graphic>
          <a:graphicData uri="http://schemas.openxmlformats.org/drawingml/2006/table">
            <a:tbl>
              <a:tblPr/>
              <a:tblGrid>
                <a:gridCol w="1507813">
                  <a:extLst>
                    <a:ext uri="{9D8B030D-6E8A-4147-A177-3AD203B41FA5}">
                      <a16:colId xmlns:a16="http://schemas.microsoft.com/office/drawing/2014/main" val="957817287"/>
                    </a:ext>
                  </a:extLst>
                </a:gridCol>
                <a:gridCol w="2872773">
                  <a:extLst>
                    <a:ext uri="{9D8B030D-6E8A-4147-A177-3AD203B41FA5}">
                      <a16:colId xmlns:a16="http://schemas.microsoft.com/office/drawing/2014/main" val="2903894730"/>
                    </a:ext>
                  </a:extLst>
                </a:gridCol>
                <a:gridCol w="2190293">
                  <a:extLst>
                    <a:ext uri="{9D8B030D-6E8A-4147-A177-3AD203B41FA5}">
                      <a16:colId xmlns:a16="http://schemas.microsoft.com/office/drawing/2014/main" val="3559747654"/>
                    </a:ext>
                  </a:extLst>
                </a:gridCol>
              </a:tblGrid>
              <a:tr h="392634">
                <a:tc>
                  <a:txBody>
                    <a:bodyPr/>
                    <a:lstStyle/>
                    <a:p>
                      <a:pPr rtl="0">
                        <a:buNone/>
                      </a:pPr>
                      <a:r>
                        <a:rPr lang="en-US" sz="1300" b="1" dirty="0">
                          <a:solidFill>
                            <a:srgbClr val="1F1F1F"/>
                          </a:solidFill>
                          <a:effectLst/>
                          <a:latin typeface="Google Sans Text"/>
                        </a:rPr>
                        <a:t>Node </a:t>
                      </a:r>
                      <a:r>
                        <a:rPr lang="en-US" sz="1300" b="1" dirty="0" err="1">
                          <a:solidFill>
                            <a:srgbClr val="1F1F1F"/>
                          </a:solidFill>
                          <a:effectLst/>
                          <a:latin typeface="Google Sans Text"/>
                        </a:rPr>
                        <a:t>trong</a:t>
                      </a:r>
                      <a:r>
                        <a:rPr lang="en-US" sz="1300" b="1" dirty="0">
                          <a:solidFill>
                            <a:srgbClr val="1F1F1F"/>
                          </a:solidFill>
                          <a:effectLst/>
                          <a:latin typeface="Google Sans Text"/>
                        </a:rPr>
                        <a:t> </a:t>
                      </a:r>
                      <a:r>
                        <a:rPr lang="en-US" sz="1300" b="1" dirty="0" err="1">
                          <a:solidFill>
                            <a:srgbClr val="1F1F1F"/>
                          </a:solidFill>
                          <a:effectLst/>
                          <a:latin typeface="Google Sans Text"/>
                        </a:rPr>
                        <a:t>Kiến</a:t>
                      </a:r>
                      <a:r>
                        <a:rPr lang="en-US" sz="1300" b="1" dirty="0">
                          <a:solidFill>
                            <a:srgbClr val="1F1F1F"/>
                          </a:solidFill>
                          <a:effectLst/>
                          <a:latin typeface="Google Sans Text"/>
                        </a:rPr>
                        <a:t> </a:t>
                      </a:r>
                      <a:r>
                        <a:rPr lang="en-US" sz="1300" b="1" dirty="0" err="1">
                          <a:solidFill>
                            <a:srgbClr val="1F1F1F"/>
                          </a:solidFill>
                          <a:effectLst/>
                          <a:latin typeface="Google Sans Text"/>
                        </a:rPr>
                        <a:t>trúc</a:t>
                      </a:r>
                      <a:r>
                        <a:rPr lang="en-US" sz="1300" b="1" dirty="0">
                          <a:solidFill>
                            <a:srgbClr val="1F1F1F"/>
                          </a:solidFill>
                          <a:effectLst/>
                          <a:latin typeface="Google Sans Text"/>
                        </a:rPr>
                        <a:t> NSA</a:t>
                      </a:r>
                      <a:endParaRPr lang="en-US" sz="1300" dirty="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300" b="1" dirty="0" err="1">
                          <a:solidFill>
                            <a:srgbClr val="1F1F1F"/>
                          </a:solidFill>
                          <a:effectLst/>
                          <a:latin typeface="Google Sans Text"/>
                        </a:rPr>
                        <a:t>Chức</a:t>
                      </a:r>
                      <a:r>
                        <a:rPr lang="en-US" sz="1300" b="1" dirty="0">
                          <a:solidFill>
                            <a:srgbClr val="1F1F1F"/>
                          </a:solidFill>
                          <a:effectLst/>
                          <a:latin typeface="Google Sans Text"/>
                        </a:rPr>
                        <a:t> </a:t>
                      </a:r>
                      <a:r>
                        <a:rPr lang="en-US" sz="1300" b="1" dirty="0" err="1">
                          <a:solidFill>
                            <a:srgbClr val="1F1F1F"/>
                          </a:solidFill>
                          <a:effectLst/>
                          <a:latin typeface="Google Sans Text"/>
                        </a:rPr>
                        <a:t>năng</a:t>
                      </a:r>
                      <a:r>
                        <a:rPr lang="en-US" sz="1300" b="1" dirty="0">
                          <a:solidFill>
                            <a:srgbClr val="1F1F1F"/>
                          </a:solidFill>
                          <a:effectLst/>
                          <a:latin typeface="Google Sans Text"/>
                        </a:rPr>
                        <a:t> </a:t>
                      </a:r>
                      <a:r>
                        <a:rPr lang="en-US" sz="1300" b="1" dirty="0" err="1">
                          <a:solidFill>
                            <a:srgbClr val="1F1F1F"/>
                          </a:solidFill>
                          <a:effectLst/>
                          <a:latin typeface="Google Sans Text"/>
                        </a:rPr>
                        <a:t>tương</a:t>
                      </a:r>
                      <a:r>
                        <a:rPr lang="en-US" sz="1300" b="1" dirty="0">
                          <a:solidFill>
                            <a:srgbClr val="1F1F1F"/>
                          </a:solidFill>
                          <a:effectLst/>
                          <a:latin typeface="Google Sans Text"/>
                        </a:rPr>
                        <a:t> </a:t>
                      </a:r>
                      <a:r>
                        <a:rPr lang="en-US" sz="1300" b="1" dirty="0" err="1">
                          <a:solidFill>
                            <a:srgbClr val="1F1F1F"/>
                          </a:solidFill>
                          <a:effectLst/>
                          <a:latin typeface="Google Sans Text"/>
                        </a:rPr>
                        <a:t>ứng</a:t>
                      </a:r>
                      <a:r>
                        <a:rPr lang="en-US" sz="1300" b="1" dirty="0">
                          <a:solidFill>
                            <a:srgbClr val="1F1F1F"/>
                          </a:solidFill>
                          <a:effectLst/>
                          <a:latin typeface="Google Sans Text"/>
                        </a:rPr>
                        <a:t> </a:t>
                      </a:r>
                      <a:r>
                        <a:rPr lang="en-US" sz="1300" b="1" dirty="0" err="1">
                          <a:solidFill>
                            <a:srgbClr val="1F1F1F"/>
                          </a:solidFill>
                          <a:effectLst/>
                          <a:latin typeface="Google Sans Text"/>
                        </a:rPr>
                        <a:t>trong</a:t>
                      </a:r>
                      <a:r>
                        <a:rPr lang="en-US" sz="1300" b="1" dirty="0">
                          <a:solidFill>
                            <a:srgbClr val="1F1F1F"/>
                          </a:solidFill>
                          <a:effectLst/>
                          <a:latin typeface="Google Sans Text"/>
                        </a:rPr>
                        <a:t> NS-3</a:t>
                      </a:r>
                      <a:endParaRPr lang="en-US" sz="1300" dirty="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300" b="1">
                          <a:solidFill>
                            <a:srgbClr val="1F1F1F"/>
                          </a:solidFill>
                          <a:effectLst/>
                          <a:latin typeface="Google Sans Text"/>
                        </a:rPr>
                        <a:t>Giải thích cơ chế</a:t>
                      </a:r>
                      <a:endParaRPr lang="vi-VN" sz="130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982922"/>
                  </a:ext>
                </a:extLst>
              </a:tr>
              <a:tr h="870268">
                <a:tc>
                  <a:txBody>
                    <a:bodyPr/>
                    <a:lstStyle/>
                    <a:p>
                      <a:pPr rtl="0">
                        <a:buNone/>
                      </a:pPr>
                      <a:r>
                        <a:rPr lang="en-US" sz="1300" b="1" dirty="0">
                          <a:solidFill>
                            <a:srgbClr val="1F1F1F"/>
                          </a:solidFill>
                          <a:effectLst/>
                          <a:latin typeface="Google Sans Text"/>
                        </a:rPr>
                        <a:t>SGW / PGW</a:t>
                      </a:r>
                      <a:endParaRPr lang="en-US" sz="1300" dirty="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300" dirty="0" err="1">
                          <a:solidFill>
                            <a:srgbClr val="444746"/>
                          </a:solidFill>
                          <a:effectLst/>
                          <a:latin typeface="Google Sans Text"/>
                        </a:rPr>
                        <a:t>epcHelper</a:t>
                      </a:r>
                      <a:r>
                        <a:rPr lang="en-US" sz="1300" dirty="0">
                          <a:solidFill>
                            <a:srgbClr val="444746"/>
                          </a:solidFill>
                          <a:effectLst/>
                          <a:latin typeface="Google Sans Text"/>
                        </a:rPr>
                        <a:t>-&gt;</a:t>
                      </a:r>
                      <a:r>
                        <a:rPr lang="en-US" sz="1300" dirty="0" err="1">
                          <a:solidFill>
                            <a:srgbClr val="444746"/>
                          </a:solidFill>
                          <a:effectLst/>
                          <a:latin typeface="Google Sans Text"/>
                        </a:rPr>
                        <a:t>GetPgwNode</a:t>
                      </a:r>
                      <a:r>
                        <a:rPr lang="en-US" sz="1300" dirty="0">
                          <a:solidFill>
                            <a:srgbClr val="444746"/>
                          </a:solidFill>
                          <a:effectLst/>
                          <a:latin typeface="Google Sans Text"/>
                        </a:rPr>
                        <a:t>()</a:t>
                      </a:r>
                      <a:endParaRPr lang="en-US" sz="1300" dirty="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300">
                          <a:solidFill>
                            <a:srgbClr val="1F1F1F"/>
                          </a:solidFill>
                          <a:effectLst/>
                          <a:latin typeface="Google Sans Text"/>
                        </a:rPr>
                        <a:t>Node vật lý thực sự. Đóng vai trò Gateway chuyển tiếp gói tin UDP giữa mạng 5G và Server.</a:t>
                      </a: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4147093"/>
                  </a:ext>
                </a:extLst>
              </a:tr>
              <a:tr h="870268">
                <a:tc>
                  <a:txBody>
                    <a:bodyPr/>
                    <a:lstStyle/>
                    <a:p>
                      <a:pPr rtl="0">
                        <a:buNone/>
                      </a:pPr>
                      <a:r>
                        <a:rPr lang="en-US" sz="1300" b="1" dirty="0">
                          <a:solidFill>
                            <a:srgbClr val="1F1F1F"/>
                          </a:solidFill>
                          <a:effectLst/>
                          <a:latin typeface="Google Sans Text"/>
                        </a:rPr>
                        <a:t>MME</a:t>
                      </a:r>
                      <a:endParaRPr lang="en-US" sz="1300" dirty="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300" dirty="0" err="1">
                          <a:solidFill>
                            <a:srgbClr val="444746"/>
                          </a:solidFill>
                          <a:effectLst/>
                          <a:latin typeface="Google Sans Text"/>
                        </a:rPr>
                        <a:t>CreateObject</a:t>
                      </a:r>
                      <a:r>
                        <a:rPr lang="en-US" sz="1300" dirty="0">
                          <a:solidFill>
                            <a:srgbClr val="444746"/>
                          </a:solidFill>
                          <a:effectLst/>
                          <a:latin typeface="Google Sans Text"/>
                        </a:rPr>
                        <a:t>&lt;</a:t>
                      </a:r>
                      <a:r>
                        <a:rPr lang="en-US" sz="1300" dirty="0" err="1">
                          <a:solidFill>
                            <a:srgbClr val="444746"/>
                          </a:solidFill>
                          <a:effectLst/>
                          <a:latin typeface="Google Sans Text"/>
                        </a:rPr>
                        <a:t>PointToPointEpcHelper</a:t>
                      </a:r>
                      <a:r>
                        <a:rPr lang="en-US" sz="1300" dirty="0">
                          <a:solidFill>
                            <a:srgbClr val="444746"/>
                          </a:solidFill>
                          <a:effectLst/>
                          <a:latin typeface="Google Sans Text"/>
                        </a:rPr>
                        <a:t>&gt;()</a:t>
                      </a:r>
                      <a:endParaRPr lang="en-US" sz="1300" dirty="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300">
                          <a:solidFill>
                            <a:srgbClr val="1F1F1F"/>
                          </a:solidFill>
                          <a:effectLst/>
                          <a:latin typeface="Google Sans Text"/>
                        </a:rPr>
                        <a:t>Node vật lý được tạo ngầm định. Xử lý tín hiệu điều khiển (Control Plane) khi UE Attach.</a:t>
                      </a: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701293"/>
                  </a:ext>
                </a:extLst>
              </a:tr>
              <a:tr h="1268526">
                <a:tc>
                  <a:txBody>
                    <a:bodyPr/>
                    <a:lstStyle/>
                    <a:p>
                      <a:pPr rtl="0">
                        <a:buNone/>
                      </a:pPr>
                      <a:r>
                        <a:rPr lang="en-US" sz="1300" b="1">
                          <a:solidFill>
                            <a:srgbClr val="1F1F1F"/>
                          </a:solidFill>
                          <a:effectLst/>
                          <a:latin typeface="Google Sans Text"/>
                        </a:rPr>
                        <a:t>PCRF</a:t>
                      </a:r>
                      <a:endParaRPr lang="en-US" sz="130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300">
                          <a:solidFill>
                            <a:srgbClr val="444746"/>
                          </a:solidFill>
                          <a:effectLst/>
                          <a:latin typeface="Google Sans Text"/>
                        </a:rPr>
                        <a:t>EpsBearer(EpsBearer::NGBR_LOW_LAT_EMBB)</a:t>
                      </a:r>
                      <a:endParaRPr lang="en-US" sz="1300">
                        <a:solidFill>
                          <a:srgbClr val="1F1F1F"/>
                        </a:solidFill>
                        <a:effectLst/>
                        <a:latin typeface="Google Sans Text"/>
                      </a:endParaRPr>
                    </a:p>
                    <a:p>
                      <a:pPr rtl="0">
                        <a:buNone/>
                      </a:pPr>
                      <a:br>
                        <a:rPr lang="en-US" sz="1300">
                          <a:solidFill>
                            <a:srgbClr val="1F1F1F"/>
                          </a:solidFill>
                          <a:effectLst/>
                          <a:latin typeface="Google Sans Text"/>
                        </a:rPr>
                      </a:br>
                      <a:endParaRPr lang="en-US" sz="1300">
                        <a:solidFill>
                          <a:srgbClr val="1F1F1F"/>
                        </a:solidFill>
                        <a:effectLst/>
                        <a:latin typeface="Google Sans Text"/>
                      </a:endParaRPr>
                    </a:p>
                    <a:p>
                      <a:pPr rtl="0">
                        <a:buNone/>
                      </a:pPr>
                      <a:r>
                        <a:rPr lang="en-US" sz="1300">
                          <a:solidFill>
                            <a:srgbClr val="444746"/>
                          </a:solidFill>
                          <a:effectLst/>
                          <a:latin typeface="Google Sans Text"/>
                        </a:rPr>
                        <a:t>ActivateDedicatedEpsBearer(...)</a:t>
                      </a:r>
                      <a:endParaRPr lang="en-US" sz="130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300" b="1">
                          <a:solidFill>
                            <a:srgbClr val="1F1F1F"/>
                          </a:solidFill>
                          <a:effectLst/>
                          <a:latin typeface="Google Sans Text"/>
                        </a:rPr>
                        <a:t>Mô phỏng chức năng Logic.</a:t>
                      </a:r>
                      <a:r>
                        <a:rPr lang="vi-VN" sz="1300">
                          <a:solidFill>
                            <a:srgbClr val="1F1F1F"/>
                          </a:solidFill>
                          <a:effectLst/>
                          <a:latin typeface="Google Sans Text"/>
                        </a:rPr>
                        <a:t> Việc khai báo tham số QCI trong code tương đương với việc PCRF ra quyết định chính sách QoS.</a:t>
                      </a: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92466"/>
                  </a:ext>
                </a:extLst>
              </a:tr>
              <a:tr h="870268">
                <a:tc>
                  <a:txBody>
                    <a:bodyPr/>
                    <a:lstStyle/>
                    <a:p>
                      <a:pPr rtl="0">
                        <a:buNone/>
                      </a:pPr>
                      <a:r>
                        <a:rPr lang="en-US" sz="1300" b="1">
                          <a:solidFill>
                            <a:srgbClr val="1F1F1F"/>
                          </a:solidFill>
                          <a:effectLst/>
                          <a:latin typeface="Google Sans Text"/>
                        </a:rPr>
                        <a:t>HSS</a:t>
                      </a:r>
                      <a:endParaRPr lang="en-US" sz="130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300" dirty="0" err="1">
                          <a:solidFill>
                            <a:srgbClr val="444746"/>
                          </a:solidFill>
                          <a:effectLst/>
                          <a:latin typeface="Google Sans Text"/>
                        </a:rPr>
                        <a:t>epcHelper</a:t>
                      </a:r>
                      <a:r>
                        <a:rPr lang="en-US" sz="1300" dirty="0">
                          <a:solidFill>
                            <a:srgbClr val="444746"/>
                          </a:solidFill>
                          <a:effectLst/>
                          <a:latin typeface="Google Sans Text"/>
                        </a:rPr>
                        <a:t>-&gt;AssignUeIpv4Address(...)</a:t>
                      </a:r>
                      <a:endParaRPr lang="en-US" sz="1300" dirty="0">
                        <a:solidFill>
                          <a:srgbClr val="1F1F1F"/>
                        </a:solidFill>
                        <a:effectLst/>
                        <a:latin typeface="Google Sans Text"/>
                      </a:endParaRP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300" b="1" dirty="0" err="1">
                          <a:solidFill>
                            <a:srgbClr val="1F1F1F"/>
                          </a:solidFill>
                          <a:effectLst/>
                          <a:latin typeface="Google Sans Text"/>
                        </a:rPr>
                        <a:t>Mô</a:t>
                      </a:r>
                      <a:r>
                        <a:rPr lang="en-US" sz="1300" b="1" dirty="0">
                          <a:solidFill>
                            <a:srgbClr val="1F1F1F"/>
                          </a:solidFill>
                          <a:effectLst/>
                          <a:latin typeface="Google Sans Text"/>
                        </a:rPr>
                        <a:t> </a:t>
                      </a:r>
                      <a:r>
                        <a:rPr lang="en-US" sz="1300" b="1" dirty="0" err="1">
                          <a:solidFill>
                            <a:srgbClr val="1F1F1F"/>
                          </a:solidFill>
                          <a:effectLst/>
                          <a:latin typeface="Google Sans Text"/>
                        </a:rPr>
                        <a:t>phỏng</a:t>
                      </a:r>
                      <a:r>
                        <a:rPr lang="en-US" sz="1300" b="1" dirty="0">
                          <a:solidFill>
                            <a:srgbClr val="1F1F1F"/>
                          </a:solidFill>
                          <a:effectLst/>
                          <a:latin typeface="Google Sans Text"/>
                        </a:rPr>
                        <a:t> </a:t>
                      </a:r>
                      <a:r>
                        <a:rPr lang="en-US" sz="1300" b="1" dirty="0" err="1">
                          <a:solidFill>
                            <a:srgbClr val="1F1F1F"/>
                          </a:solidFill>
                          <a:effectLst/>
                          <a:latin typeface="Google Sans Text"/>
                        </a:rPr>
                        <a:t>chức</a:t>
                      </a:r>
                      <a:r>
                        <a:rPr lang="en-US" sz="1300" b="1" dirty="0">
                          <a:solidFill>
                            <a:srgbClr val="1F1F1F"/>
                          </a:solidFill>
                          <a:effectLst/>
                          <a:latin typeface="Google Sans Text"/>
                        </a:rPr>
                        <a:t> </a:t>
                      </a:r>
                      <a:r>
                        <a:rPr lang="en-US" sz="1300" b="1" dirty="0" err="1">
                          <a:solidFill>
                            <a:srgbClr val="1F1F1F"/>
                          </a:solidFill>
                          <a:effectLst/>
                          <a:latin typeface="Google Sans Text"/>
                        </a:rPr>
                        <a:t>năng</a:t>
                      </a:r>
                      <a:r>
                        <a:rPr lang="en-US" sz="1300" b="1" dirty="0">
                          <a:solidFill>
                            <a:srgbClr val="1F1F1F"/>
                          </a:solidFill>
                          <a:effectLst/>
                          <a:latin typeface="Google Sans Text"/>
                        </a:rPr>
                        <a:t> Logic.</a:t>
                      </a:r>
                      <a:r>
                        <a:rPr lang="en-US" sz="1300" dirty="0">
                          <a:solidFill>
                            <a:srgbClr val="1F1F1F"/>
                          </a:solidFill>
                          <a:effectLst/>
                          <a:latin typeface="Google Sans Text"/>
                        </a:rPr>
                        <a:t> Helper </a:t>
                      </a:r>
                      <a:r>
                        <a:rPr lang="en-US" sz="1300" dirty="0" err="1">
                          <a:solidFill>
                            <a:srgbClr val="1F1F1F"/>
                          </a:solidFill>
                          <a:effectLst/>
                          <a:latin typeface="Google Sans Text"/>
                        </a:rPr>
                        <a:t>quản</a:t>
                      </a:r>
                      <a:r>
                        <a:rPr lang="en-US" sz="1300" dirty="0">
                          <a:solidFill>
                            <a:srgbClr val="1F1F1F"/>
                          </a:solidFill>
                          <a:effectLst/>
                          <a:latin typeface="Google Sans Text"/>
                        </a:rPr>
                        <a:t> </a:t>
                      </a:r>
                      <a:r>
                        <a:rPr lang="en-US" sz="1300" dirty="0" err="1">
                          <a:solidFill>
                            <a:srgbClr val="1F1F1F"/>
                          </a:solidFill>
                          <a:effectLst/>
                          <a:latin typeface="Google Sans Text"/>
                        </a:rPr>
                        <a:t>lý</a:t>
                      </a:r>
                      <a:r>
                        <a:rPr lang="en-US" sz="1300" dirty="0">
                          <a:solidFill>
                            <a:srgbClr val="1F1F1F"/>
                          </a:solidFill>
                          <a:effectLst/>
                          <a:latin typeface="Google Sans Text"/>
                        </a:rPr>
                        <a:t> </a:t>
                      </a:r>
                      <a:r>
                        <a:rPr lang="en-US" sz="1300" dirty="0" err="1">
                          <a:solidFill>
                            <a:srgbClr val="1F1F1F"/>
                          </a:solidFill>
                          <a:effectLst/>
                          <a:latin typeface="Google Sans Text"/>
                        </a:rPr>
                        <a:t>danh</a:t>
                      </a:r>
                      <a:r>
                        <a:rPr lang="en-US" sz="1300" dirty="0">
                          <a:solidFill>
                            <a:srgbClr val="1F1F1F"/>
                          </a:solidFill>
                          <a:effectLst/>
                          <a:latin typeface="Google Sans Text"/>
                        </a:rPr>
                        <a:t> </a:t>
                      </a:r>
                      <a:r>
                        <a:rPr lang="en-US" sz="1300" dirty="0" err="1">
                          <a:solidFill>
                            <a:srgbClr val="1F1F1F"/>
                          </a:solidFill>
                          <a:effectLst/>
                          <a:latin typeface="Google Sans Text"/>
                        </a:rPr>
                        <a:t>sách</a:t>
                      </a:r>
                      <a:r>
                        <a:rPr lang="en-US" sz="1300" dirty="0">
                          <a:solidFill>
                            <a:srgbClr val="1F1F1F"/>
                          </a:solidFill>
                          <a:effectLst/>
                          <a:latin typeface="Google Sans Text"/>
                        </a:rPr>
                        <a:t> IMSI/IP </a:t>
                      </a:r>
                      <a:r>
                        <a:rPr lang="en-US" sz="1300" dirty="0" err="1">
                          <a:solidFill>
                            <a:srgbClr val="1F1F1F"/>
                          </a:solidFill>
                          <a:effectLst/>
                          <a:latin typeface="Google Sans Text"/>
                        </a:rPr>
                        <a:t>nội</a:t>
                      </a:r>
                      <a:r>
                        <a:rPr lang="en-US" sz="1300" dirty="0">
                          <a:solidFill>
                            <a:srgbClr val="1F1F1F"/>
                          </a:solidFill>
                          <a:effectLst/>
                          <a:latin typeface="Google Sans Text"/>
                        </a:rPr>
                        <a:t> </a:t>
                      </a:r>
                      <a:r>
                        <a:rPr lang="en-US" sz="1300" dirty="0" err="1">
                          <a:solidFill>
                            <a:srgbClr val="1F1F1F"/>
                          </a:solidFill>
                          <a:effectLst/>
                          <a:latin typeface="Google Sans Text"/>
                        </a:rPr>
                        <a:t>bộ</a:t>
                      </a:r>
                      <a:r>
                        <a:rPr lang="en-US" sz="1300" dirty="0">
                          <a:solidFill>
                            <a:srgbClr val="1F1F1F"/>
                          </a:solidFill>
                          <a:effectLst/>
                          <a:latin typeface="Google Sans Text"/>
                        </a:rPr>
                        <a:t> </a:t>
                      </a:r>
                      <a:r>
                        <a:rPr lang="en-US" sz="1300" dirty="0" err="1">
                          <a:solidFill>
                            <a:srgbClr val="1F1F1F"/>
                          </a:solidFill>
                          <a:effectLst/>
                          <a:latin typeface="Google Sans Text"/>
                        </a:rPr>
                        <a:t>thay</a:t>
                      </a:r>
                      <a:r>
                        <a:rPr lang="en-US" sz="1300" dirty="0">
                          <a:solidFill>
                            <a:srgbClr val="1F1F1F"/>
                          </a:solidFill>
                          <a:effectLst/>
                          <a:latin typeface="Google Sans Text"/>
                        </a:rPr>
                        <a:t> </a:t>
                      </a:r>
                      <a:r>
                        <a:rPr lang="en-US" sz="1300" dirty="0" err="1">
                          <a:solidFill>
                            <a:srgbClr val="1F1F1F"/>
                          </a:solidFill>
                          <a:effectLst/>
                          <a:latin typeface="Google Sans Text"/>
                        </a:rPr>
                        <a:t>vì</a:t>
                      </a:r>
                      <a:r>
                        <a:rPr lang="en-US" sz="1300" dirty="0">
                          <a:solidFill>
                            <a:srgbClr val="1F1F1F"/>
                          </a:solidFill>
                          <a:effectLst/>
                          <a:latin typeface="Google Sans Text"/>
                        </a:rPr>
                        <a:t> query database </a:t>
                      </a:r>
                      <a:r>
                        <a:rPr lang="en-US" sz="1300" dirty="0" err="1">
                          <a:solidFill>
                            <a:srgbClr val="1F1F1F"/>
                          </a:solidFill>
                          <a:effectLst/>
                          <a:latin typeface="Google Sans Text"/>
                        </a:rPr>
                        <a:t>thật</a:t>
                      </a:r>
                      <a:r>
                        <a:rPr lang="en-US" sz="1300" dirty="0">
                          <a:solidFill>
                            <a:srgbClr val="1F1F1F"/>
                          </a:solidFill>
                          <a:effectLst/>
                          <a:latin typeface="Google Sans Text"/>
                        </a:rPr>
                        <a:t>.</a:t>
                      </a:r>
                    </a:p>
                  </a:txBody>
                  <a:tcPr marL="55314" marR="55314"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1660214"/>
                  </a:ext>
                </a:extLst>
              </a:tr>
            </a:tbl>
          </a:graphicData>
        </a:graphic>
      </p:graphicFrame>
    </p:spTree>
    <p:extLst>
      <p:ext uri="{BB962C8B-B14F-4D97-AF65-F5344CB8AC3E}">
        <p14:creationId xmlns:p14="http://schemas.microsoft.com/office/powerpoint/2010/main" val="2917890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1A89-0F60-033D-A7E8-0AA1E2C81C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026FB2-9A2A-95D6-8641-BF28F66DB833}"/>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7D3E1E6B-09D4-E3ED-0148-8671C303EEB5}"/>
              </a:ext>
            </a:extLst>
          </p:cNvPr>
          <p:cNvSpPr>
            <a:spLocks noGrp="1"/>
          </p:cNvSpPr>
          <p:nvPr>
            <p:ph type="title"/>
          </p:nvPr>
        </p:nvSpPr>
        <p:spPr/>
        <p:txBody>
          <a:bodyPr/>
          <a:lstStyle/>
          <a:p>
            <a:r>
              <a:rPr lang="en-US" dirty="0"/>
              <a:t>6. </a:t>
            </a:r>
            <a:r>
              <a:rPr lang="en-US" dirty="0" err="1"/>
              <a:t>Hệ</a:t>
            </a:r>
            <a:r>
              <a:rPr lang="en-US" dirty="0"/>
              <a:t> </a:t>
            </a:r>
            <a:r>
              <a:rPr lang="en-US" dirty="0" err="1"/>
              <a:t>thống</a:t>
            </a:r>
            <a:r>
              <a:rPr lang="en-US" dirty="0"/>
              <a:t> </a:t>
            </a:r>
            <a:r>
              <a:rPr lang="en-US" dirty="0" err="1"/>
              <a:t>mô</a:t>
            </a:r>
            <a:r>
              <a:rPr lang="en-US" dirty="0"/>
              <a:t> </a:t>
            </a:r>
            <a:r>
              <a:rPr lang="en-US" dirty="0" err="1"/>
              <a:t>phỏng</a:t>
            </a:r>
            <a:endParaRPr lang="en-US" dirty="0"/>
          </a:p>
        </p:txBody>
      </p:sp>
      <p:pic>
        <p:nvPicPr>
          <p:cNvPr id="3076" name="Picture 4">
            <a:extLst>
              <a:ext uri="{FF2B5EF4-FFF2-40B4-BE49-F238E27FC236}">
                <a16:creationId xmlns:a16="http://schemas.microsoft.com/office/drawing/2014/main" id="{BD751FAA-9006-3C8D-63AE-BC43BA0FF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2563" y="0"/>
            <a:ext cx="1954843" cy="663545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B381364-1EFD-4EF4-229A-79DD4FC57998}"/>
              </a:ext>
            </a:extLst>
          </p:cNvPr>
          <p:cNvSpPr txBox="1"/>
          <p:nvPr/>
        </p:nvSpPr>
        <p:spPr>
          <a:xfrm>
            <a:off x="5759289" y="2043439"/>
            <a:ext cx="1225710" cy="271869"/>
          </a:xfrm>
          <a:prstGeom prst="rect">
            <a:avLst/>
          </a:prstGeom>
          <a:noFill/>
        </p:spPr>
        <p:txBody>
          <a:bodyPr wrap="square">
            <a:spAutoFit/>
          </a:bodyPr>
          <a:lstStyle/>
          <a:p>
            <a:pPr>
              <a:lnSpc>
                <a:spcPts val="1425"/>
              </a:lnSpc>
              <a:buNone/>
            </a:pPr>
            <a:r>
              <a:rPr lang="en-US" sz="1200" b="0" dirty="0" err="1">
                <a:effectLst/>
                <a:latin typeface="Droid Sans Mono"/>
              </a:rPr>
              <a:t>gridScenario</a:t>
            </a:r>
            <a:endParaRPr lang="en-US" sz="1200" b="0" dirty="0">
              <a:effectLst/>
              <a:latin typeface="Droid Sans Mono"/>
            </a:endParaRPr>
          </a:p>
        </p:txBody>
      </p:sp>
      <p:sp>
        <p:nvSpPr>
          <p:cNvPr id="18" name="TextBox 17">
            <a:extLst>
              <a:ext uri="{FF2B5EF4-FFF2-40B4-BE49-F238E27FC236}">
                <a16:creationId xmlns:a16="http://schemas.microsoft.com/office/drawing/2014/main" id="{DC81FBEB-B6A8-D6F3-DDD0-9CB4344BB35B}"/>
              </a:ext>
            </a:extLst>
          </p:cNvPr>
          <p:cNvSpPr txBox="1"/>
          <p:nvPr/>
        </p:nvSpPr>
        <p:spPr>
          <a:xfrm>
            <a:off x="5410199" y="3198167"/>
            <a:ext cx="1574800" cy="461665"/>
          </a:xfrm>
          <a:prstGeom prst="rect">
            <a:avLst/>
          </a:prstGeom>
          <a:noFill/>
        </p:spPr>
        <p:txBody>
          <a:bodyPr wrap="square">
            <a:spAutoFit/>
          </a:bodyPr>
          <a:lstStyle/>
          <a:p>
            <a:r>
              <a:rPr lang="en-US" sz="1200" dirty="0" err="1"/>
              <a:t>NetDeviceContainer</a:t>
            </a:r>
            <a:endParaRPr lang="en-US" sz="1200" dirty="0"/>
          </a:p>
          <a:p>
            <a:r>
              <a:rPr lang="en-US" sz="1200" dirty="0" err="1"/>
              <a:t>internet.Install</a:t>
            </a:r>
            <a:endParaRPr lang="en-US" sz="1200" dirty="0"/>
          </a:p>
        </p:txBody>
      </p:sp>
      <p:sp>
        <p:nvSpPr>
          <p:cNvPr id="20" name="TextBox 19">
            <a:extLst>
              <a:ext uri="{FF2B5EF4-FFF2-40B4-BE49-F238E27FC236}">
                <a16:creationId xmlns:a16="http://schemas.microsoft.com/office/drawing/2014/main" id="{EE025D85-6500-E562-9D5F-F18CCB490724}"/>
              </a:ext>
            </a:extLst>
          </p:cNvPr>
          <p:cNvSpPr txBox="1"/>
          <p:nvPr/>
        </p:nvSpPr>
        <p:spPr>
          <a:xfrm>
            <a:off x="5686248" y="4064116"/>
            <a:ext cx="1371792" cy="276999"/>
          </a:xfrm>
          <a:prstGeom prst="rect">
            <a:avLst/>
          </a:prstGeom>
          <a:noFill/>
        </p:spPr>
        <p:txBody>
          <a:bodyPr wrap="square">
            <a:spAutoFit/>
          </a:bodyPr>
          <a:lstStyle/>
          <a:p>
            <a:r>
              <a:rPr lang="en-US" sz="1200" dirty="0" err="1"/>
              <a:t>dlClientLowLat</a:t>
            </a:r>
            <a:endParaRPr lang="en-US" sz="1200" dirty="0"/>
          </a:p>
        </p:txBody>
      </p:sp>
      <p:sp>
        <p:nvSpPr>
          <p:cNvPr id="24" name="TextBox 23">
            <a:extLst>
              <a:ext uri="{FF2B5EF4-FFF2-40B4-BE49-F238E27FC236}">
                <a16:creationId xmlns:a16="http://schemas.microsoft.com/office/drawing/2014/main" id="{89AA8B85-D79F-D05D-1859-EDDC2EC48FFE}"/>
              </a:ext>
            </a:extLst>
          </p:cNvPr>
          <p:cNvSpPr txBox="1"/>
          <p:nvPr/>
        </p:nvSpPr>
        <p:spPr>
          <a:xfrm>
            <a:off x="5749270" y="4633503"/>
            <a:ext cx="999067" cy="630942"/>
          </a:xfrm>
          <a:prstGeom prst="rect">
            <a:avLst/>
          </a:prstGeom>
          <a:noFill/>
        </p:spPr>
        <p:txBody>
          <a:bodyPr wrap="square">
            <a:spAutoFit/>
          </a:bodyPr>
          <a:lstStyle/>
          <a:p>
            <a:pPr>
              <a:lnSpc>
                <a:spcPts val="1425"/>
              </a:lnSpc>
              <a:buNone/>
            </a:pPr>
            <a:r>
              <a:rPr lang="en-US" sz="1100" b="0" dirty="0" err="1">
                <a:effectLst/>
                <a:latin typeface="Droid Sans Mono"/>
              </a:rPr>
              <a:t>EpsBearer</a:t>
            </a:r>
            <a:r>
              <a:rPr lang="en-US" sz="1100" b="0" dirty="0">
                <a:effectLst/>
                <a:latin typeface="Droid Sans Mono"/>
              </a:rPr>
              <a:t>::NGBR_LOW_LAT_EMBB</a:t>
            </a:r>
          </a:p>
        </p:txBody>
      </p:sp>
      <p:grpSp>
        <p:nvGrpSpPr>
          <p:cNvPr id="4" name="Group 3">
            <a:extLst>
              <a:ext uri="{FF2B5EF4-FFF2-40B4-BE49-F238E27FC236}">
                <a16:creationId xmlns:a16="http://schemas.microsoft.com/office/drawing/2014/main" id="{23656B58-A670-821E-360A-07A4D081E1AD}"/>
              </a:ext>
            </a:extLst>
          </p:cNvPr>
          <p:cNvGrpSpPr/>
          <p:nvPr/>
        </p:nvGrpSpPr>
        <p:grpSpPr>
          <a:xfrm>
            <a:off x="357003" y="1259174"/>
            <a:ext cx="4844109" cy="3877985"/>
            <a:chOff x="357003" y="2309789"/>
            <a:chExt cx="4844109" cy="3877985"/>
          </a:xfrm>
        </p:grpSpPr>
        <p:sp>
          <p:nvSpPr>
            <p:cNvPr id="31" name="TextBox 30">
              <a:extLst>
                <a:ext uri="{FF2B5EF4-FFF2-40B4-BE49-F238E27FC236}">
                  <a16:creationId xmlns:a16="http://schemas.microsoft.com/office/drawing/2014/main" id="{DC93C639-C0FA-51CC-A919-04FAEAD139B1}"/>
                </a:ext>
              </a:extLst>
            </p:cNvPr>
            <p:cNvSpPr txBox="1"/>
            <p:nvPr/>
          </p:nvSpPr>
          <p:spPr>
            <a:xfrm>
              <a:off x="357003" y="2309789"/>
              <a:ext cx="4844109" cy="3877985"/>
            </a:xfrm>
            <a:prstGeom prst="rect">
              <a:avLst/>
            </a:prstGeom>
            <a:noFill/>
          </p:spPr>
          <p:txBody>
            <a:bodyPr wrap="square">
              <a:spAutoFit/>
            </a:bodyPr>
            <a:lstStyle/>
            <a:p>
              <a:r>
                <a:rPr lang="en-US" sz="1200" b="1" kern="1200" dirty="0">
                  <a:solidFill>
                    <a:schemeClr val="tx1"/>
                  </a:solidFill>
                  <a:effectLst/>
                  <a:latin typeface="+mn-lt"/>
                  <a:ea typeface="+mn-ea"/>
                  <a:cs typeface="+mn-cs"/>
                </a:rPr>
                <a:t>- </a:t>
              </a:r>
              <a:r>
                <a:rPr lang="vi-VN" sz="1200" b="1" kern="1200" dirty="0">
                  <a:solidFill>
                    <a:schemeClr val="tx1"/>
                  </a:solidFill>
                  <a:effectLst/>
                  <a:latin typeface="+mn-lt"/>
                  <a:ea typeface="+mn-ea"/>
                  <a:cs typeface="+mn-cs"/>
                </a:rPr>
                <a:t>URLLC (Ultra-Reliable Low Latency Communications)</a:t>
              </a:r>
              <a:r>
                <a:rPr lang="en-US" sz="1200" b="1"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Là tập hợp các kỹ thuật nhằm cung cấp kết nối với độ trễ cực thấp và độ tin cậy cực cao.</a:t>
              </a:r>
            </a:p>
            <a:p>
              <a:endParaRPr lang="en-US" sz="1200" b="1" kern="1200" dirty="0">
                <a:solidFill>
                  <a:schemeClr val="tx1"/>
                </a:solidFill>
                <a:effectLst/>
                <a:latin typeface="+mn-lt"/>
                <a:ea typeface="+mn-ea"/>
                <a:cs typeface="+mn-cs"/>
              </a:endParaRPr>
            </a:p>
            <a:p>
              <a:r>
                <a:rPr lang="vi-VN" sz="1200" b="1" kern="1200" dirty="0">
                  <a:solidFill>
                    <a:schemeClr val="tx1"/>
                  </a:solidFill>
                  <a:effectLst/>
                  <a:latin typeface="+mn-lt"/>
                  <a:ea typeface="+mn-ea"/>
                  <a:cs typeface="+mn-cs"/>
                </a:rPr>
                <a:t>Các kỹ thuật</a:t>
              </a:r>
              <a:r>
                <a:rPr lang="en-US" sz="1200" b="1" kern="1200" dirty="0">
                  <a:solidFill>
                    <a:schemeClr val="tx1"/>
                  </a:solidFill>
                  <a:effectLst/>
                  <a:latin typeface="+mn-lt"/>
                  <a:ea typeface="+mn-ea"/>
                  <a:cs typeface="+mn-cs"/>
                </a:rPr>
                <a:t>:</a:t>
              </a:r>
            </a:p>
            <a:p>
              <a:endParaRPr lang="vi-VN"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Cấu trúc khung linh hoạt </a:t>
              </a:r>
              <a:r>
                <a:rPr lang="vi-VN" sz="1200" b="1" kern="1200" dirty="0">
                  <a:solidFill>
                    <a:schemeClr val="tx1"/>
                  </a:solidFill>
                  <a:effectLst/>
                  <a:latin typeface="+mn-lt"/>
                  <a:ea typeface="+mn-ea"/>
                  <a:cs typeface="+mn-cs"/>
                </a:rPr>
                <a:t>(Flexible Numerology</a:t>
              </a:r>
              <a:r>
                <a:rPr lang="vi-VN" sz="1200" kern="1200" dirty="0">
                  <a:solidFill>
                    <a:schemeClr val="tx1"/>
                  </a:solidFill>
                  <a:effectLst/>
                  <a:latin typeface="+mn-lt"/>
                  <a:ea typeface="+mn-ea"/>
                  <a:cs typeface="+mn-cs"/>
                </a:rPr>
                <a:t>)</a:t>
              </a:r>
            </a:p>
            <a:p>
              <a:r>
                <a:rPr lang="en-US" sz="1200" dirty="0"/>
                <a:t>+ Numerology </a:t>
              </a:r>
              <a:r>
                <a:rPr lang="en-US" sz="1200" b="1" dirty="0">
                  <a:solidFill>
                    <a:srgbClr val="1F1F1F"/>
                  </a:solidFill>
                  <a:latin typeface="Google Sans Text"/>
                </a:rPr>
                <a:t>(µ)</a:t>
              </a:r>
              <a:r>
                <a:rPr lang="en-US" sz="1200" dirty="0"/>
                <a:t>: </a:t>
              </a:r>
              <a:r>
                <a:rPr lang="en-US" sz="1200" dirty="0" err="1"/>
                <a:t>điều</a:t>
              </a:r>
              <a:r>
                <a:rPr lang="en-US" sz="1200" dirty="0"/>
                <a:t> </a:t>
              </a:r>
              <a:r>
                <a:rPr lang="en-US" sz="1200" dirty="0" err="1"/>
                <a:t>chỉnh</a:t>
              </a:r>
              <a:r>
                <a:rPr lang="en-US" sz="1200" dirty="0"/>
                <a:t> </a:t>
              </a:r>
              <a:r>
                <a:rPr lang="en-US" sz="1200" dirty="0" err="1"/>
                <a:t>độ</a:t>
              </a:r>
              <a:r>
                <a:rPr lang="en-US" sz="1200" dirty="0"/>
                <a:t> co </a:t>
              </a:r>
              <a:r>
                <a:rPr lang="en-US" sz="1200" dirty="0" err="1"/>
                <a:t>giãn</a:t>
              </a:r>
              <a:r>
                <a:rPr lang="en-US" sz="1200" dirty="0"/>
                <a:t> </a:t>
              </a:r>
              <a:r>
                <a:rPr lang="en-US" sz="1200" dirty="0" err="1"/>
                <a:t>của</a:t>
              </a:r>
              <a:r>
                <a:rPr lang="en-US" sz="1200" dirty="0"/>
                <a:t> </a:t>
              </a:r>
              <a:r>
                <a:rPr lang="en-US" sz="1200" dirty="0" err="1"/>
                <a:t>thời</a:t>
              </a:r>
              <a:r>
                <a:rPr lang="en-US" sz="1200" dirty="0"/>
                <a:t> </a:t>
              </a:r>
              <a:r>
                <a:rPr lang="en-US" sz="1200" dirty="0" err="1"/>
                <a:t>gian</a:t>
              </a:r>
              <a:r>
                <a:rPr lang="en-US" sz="1200" dirty="0"/>
                <a:t> </a:t>
              </a:r>
              <a:r>
                <a:rPr lang="en-US" sz="1200" dirty="0" err="1"/>
                <a:t>và</a:t>
              </a:r>
              <a:r>
                <a:rPr lang="en-US" sz="1200" dirty="0"/>
                <a:t> </a:t>
              </a:r>
              <a:r>
                <a:rPr lang="en-US" sz="1200" dirty="0" err="1"/>
                <a:t>tần</a:t>
              </a:r>
              <a:r>
                <a:rPr lang="en-US" sz="1200" dirty="0"/>
                <a:t> </a:t>
              </a:r>
              <a:r>
                <a:rPr lang="en-US" sz="1200" dirty="0" err="1"/>
                <a:t>số</a:t>
              </a:r>
              <a:r>
                <a:rPr lang="en-US" sz="1200" dirty="0"/>
                <a:t>.</a:t>
              </a:r>
            </a:p>
            <a:p>
              <a:r>
                <a:rPr lang="en-US" sz="1200" dirty="0"/>
                <a:t>Trong </a:t>
              </a:r>
              <a:r>
                <a:rPr lang="vi-VN" sz="1200" dirty="0"/>
                <a:t>5G NR, để linh hoạt cho nhiều mục đích (nhanh như URLLC hoặc phủ rộng như IoT), </a:t>
              </a:r>
              <a:r>
                <a:rPr lang="en-US" sz="1200" dirty="0" err="1"/>
                <a:t>khoảng</a:t>
              </a:r>
              <a:r>
                <a:rPr lang="en-US" sz="1200" dirty="0"/>
                <a:t> </a:t>
              </a:r>
              <a:r>
                <a:rPr lang="en-US" sz="1200" dirty="0" err="1"/>
                <a:t>cách</a:t>
              </a:r>
              <a:r>
                <a:rPr lang="en-US" sz="1200" dirty="0"/>
                <a:t> </a:t>
              </a:r>
              <a:r>
                <a:rPr lang="en-US" sz="1200" dirty="0" err="1"/>
                <a:t>giữa</a:t>
              </a:r>
              <a:r>
                <a:rPr lang="en-US" sz="1200" dirty="0"/>
                <a:t> </a:t>
              </a:r>
              <a:r>
                <a:rPr lang="en-US" sz="1200" dirty="0" err="1"/>
                <a:t>các</a:t>
              </a:r>
              <a:r>
                <a:rPr lang="en-US" sz="1200" dirty="0"/>
                <a:t> </a:t>
              </a:r>
              <a:r>
                <a:rPr lang="en-US" sz="1200" dirty="0" err="1"/>
                <a:t>sóng</a:t>
              </a:r>
              <a:r>
                <a:rPr lang="en-US" sz="1200" dirty="0"/>
                <a:t> </a:t>
              </a:r>
              <a:r>
                <a:rPr lang="en-US" sz="1200" dirty="0" err="1"/>
                <a:t>mang</a:t>
              </a:r>
              <a:r>
                <a:rPr lang="en-US" sz="1200" dirty="0"/>
                <a:t> (Subcarrier Spacing - SCS) </a:t>
              </a:r>
              <a:r>
                <a:rPr lang="vi-VN" sz="1200" dirty="0"/>
                <a:t>có thể thay đổi theo công thức:</a:t>
              </a:r>
              <a:endParaRPr lang="en-US" sz="1200" dirty="0"/>
            </a:p>
            <a:p>
              <a:endParaRPr lang="en-US" sz="1200" dirty="0"/>
            </a:p>
            <a:p>
              <a:endParaRPr lang="en-US" sz="1200" dirty="0"/>
            </a:p>
            <a:p>
              <a:r>
                <a:rPr lang="en-US" sz="1200"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Tác động: TTI càng ngắn, gói tin được đóng gói và gửi đi càng nhanh, giảm độ trễ chờ đợi tại bộ đệm.</a:t>
              </a:r>
            </a:p>
            <a:p>
              <a:pPr marL="171450" indent="-171450">
                <a:buFontTx/>
                <a:buChar char="-"/>
              </a:pPr>
              <a:r>
                <a:rPr lang="vi-VN" sz="1200" b="1" kern="1200" dirty="0">
                  <a:solidFill>
                    <a:schemeClr val="tx1"/>
                  </a:solidFill>
                  <a:effectLst/>
                  <a:latin typeface="+mn-lt"/>
                  <a:ea typeface="+mn-ea"/>
                  <a:cs typeface="+mn-cs"/>
                </a:rPr>
                <a:t>Network Slicing</a:t>
              </a:r>
              <a:r>
                <a:rPr lang="en-US" sz="1200" b="1" kern="1200" dirty="0">
                  <a:solidFill>
                    <a:schemeClr val="tx1"/>
                  </a:solidFill>
                  <a:effectLst/>
                  <a:latin typeface="+mn-lt"/>
                  <a:ea typeface="+mn-ea"/>
                  <a:cs typeface="+mn-cs"/>
                </a:rPr>
                <a:t>:</a:t>
              </a:r>
              <a:r>
                <a:rPr lang="vi-VN" sz="1200" b="1" kern="1200" dirty="0">
                  <a:solidFill>
                    <a:schemeClr val="tx1"/>
                  </a:solidFill>
                  <a:effectLst/>
                  <a:latin typeface="+mn-lt"/>
                  <a:ea typeface="+mn-ea"/>
                  <a:cs typeface="+mn-cs"/>
                </a:rPr>
                <a:t> </a:t>
              </a:r>
              <a:r>
                <a:rPr lang="vi-VN" sz="1200" kern="1200" dirty="0">
                  <a:solidFill>
                    <a:schemeClr val="tx1"/>
                  </a:solidFill>
                  <a:effectLst/>
                  <a:latin typeface="+mn-lt"/>
                  <a:ea typeface="+mn-ea"/>
                  <a:cs typeface="+mn-cs"/>
                </a:rPr>
                <a:t>Chia một mạng vật lý thành nhiều mạng logic ảo (Slices). </a:t>
              </a:r>
              <a:endParaRPr lang="en-US" sz="1200" kern="1200" dirty="0">
                <a:solidFill>
                  <a:schemeClr val="tx1"/>
                </a:solidFill>
                <a:effectLst/>
                <a:latin typeface="+mn-lt"/>
                <a:ea typeface="+mn-ea"/>
                <a:cs typeface="+mn-cs"/>
              </a:endParaRPr>
            </a:p>
            <a:p>
              <a:r>
                <a:rPr lang="en-US" sz="1200" dirty="0"/>
                <a:t>+ </a:t>
              </a:r>
              <a:r>
                <a:rPr lang="vi-VN" sz="1200" kern="1200" dirty="0">
                  <a:solidFill>
                    <a:schemeClr val="tx1"/>
                  </a:solidFill>
                  <a:effectLst/>
                  <a:latin typeface="+mn-lt"/>
                  <a:ea typeface="+mn-ea"/>
                  <a:cs typeface="+mn-cs"/>
                </a:rPr>
                <a:t>Mỗi Slice có QoS (Quality of Service) riêng.</a:t>
              </a:r>
            </a:p>
            <a:p>
              <a:r>
                <a:rPr lang="en-US" sz="1200" kern="1200" dirty="0">
                  <a:solidFill>
                    <a:schemeClr val="tx1"/>
                  </a:solidFill>
                  <a:effectLst/>
                  <a:latin typeface="+mn-lt"/>
                  <a:ea typeface="+mn-ea"/>
                  <a:cs typeface="+mn-cs"/>
                </a:rPr>
                <a:t>+ </a:t>
              </a:r>
              <a:r>
                <a:rPr lang="vi-VN" sz="1200" i="1" kern="1200" dirty="0">
                  <a:solidFill>
                    <a:schemeClr val="tx1"/>
                  </a:solidFill>
                  <a:effectLst/>
                  <a:latin typeface="+mn-lt"/>
                  <a:ea typeface="+mn-ea"/>
                  <a:cs typeface="+mn-cs"/>
                </a:rPr>
                <a:t>Tham số:</a:t>
              </a:r>
              <a:r>
                <a:rPr lang="vi-VN" sz="1200" kern="1200" dirty="0">
                  <a:solidFill>
                    <a:schemeClr val="tx1"/>
                  </a:solidFill>
                  <a:effectLst/>
                  <a:latin typeface="+mn-lt"/>
                  <a:ea typeface="+mn-ea"/>
                  <a:cs typeface="+mn-cs"/>
                </a:rPr>
                <a:t> Được định nghĩa qua mã </a:t>
              </a:r>
              <a:r>
                <a:rPr lang="vi-VN" sz="1200" b="1" kern="1200" dirty="0">
                  <a:solidFill>
                    <a:schemeClr val="tx1"/>
                  </a:solidFill>
                  <a:effectLst/>
                  <a:latin typeface="+mn-lt"/>
                  <a:ea typeface="+mn-ea"/>
                  <a:cs typeface="+mn-cs"/>
                </a:rPr>
                <a:t>QCI/5QI</a:t>
              </a:r>
              <a:endParaRPr lang="vi-VN" sz="1200" kern="1200" dirty="0">
                <a:solidFill>
                  <a:schemeClr val="tx1"/>
                </a:solidFill>
                <a:effectLst/>
                <a:latin typeface="+mn-lt"/>
                <a:ea typeface="+mn-ea"/>
                <a:cs typeface="+mn-cs"/>
              </a:endParaRPr>
            </a:p>
            <a:p>
              <a:endParaRPr lang="en-US" dirty="0"/>
            </a:p>
          </p:txBody>
        </p:sp>
        <p:pic>
          <p:nvPicPr>
            <p:cNvPr id="32" name="Picture 31">
              <a:extLst>
                <a:ext uri="{FF2B5EF4-FFF2-40B4-BE49-F238E27FC236}">
                  <a16:creationId xmlns:a16="http://schemas.microsoft.com/office/drawing/2014/main" id="{D59280CA-8FA3-9B4C-B536-F7E9B438EDDD}"/>
                </a:ext>
              </a:extLst>
            </p:cNvPr>
            <p:cNvPicPr>
              <a:picLocks noChangeAspect="1"/>
            </p:cNvPicPr>
            <p:nvPr/>
          </p:nvPicPr>
          <p:blipFill>
            <a:blip r:embed="rId4"/>
            <a:stretch>
              <a:fillRect/>
            </a:stretch>
          </p:blipFill>
          <p:spPr>
            <a:xfrm>
              <a:off x="1988193" y="4341115"/>
              <a:ext cx="1520627" cy="324628"/>
            </a:xfrm>
            <a:prstGeom prst="rect">
              <a:avLst/>
            </a:prstGeom>
          </p:spPr>
        </p:pic>
      </p:grpSp>
    </p:spTree>
    <p:extLst>
      <p:ext uri="{BB962C8B-B14F-4D97-AF65-F5344CB8AC3E}">
        <p14:creationId xmlns:p14="http://schemas.microsoft.com/office/powerpoint/2010/main" val="476300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67D3-707A-594A-302A-20864687BD2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F2FA6D-E2FB-68D0-F245-558AFEB5BBF2}"/>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2">
            <a:extLst>
              <a:ext uri="{FF2B5EF4-FFF2-40B4-BE49-F238E27FC236}">
                <a16:creationId xmlns:a16="http://schemas.microsoft.com/office/drawing/2014/main" id="{C2BD048E-5866-8485-E9C0-F4FF15EC59EE}"/>
              </a:ext>
            </a:extLst>
          </p:cNvPr>
          <p:cNvSpPr>
            <a:spLocks noGrp="1"/>
          </p:cNvSpPr>
          <p:nvPr>
            <p:ph type="title"/>
          </p:nvPr>
        </p:nvSpPr>
        <p:spPr/>
        <p:txBody>
          <a:bodyPr/>
          <a:lstStyle/>
          <a:p>
            <a:r>
              <a:rPr lang="en-US" dirty="0"/>
              <a:t>6. </a:t>
            </a:r>
            <a:r>
              <a:rPr lang="en-US" dirty="0" err="1"/>
              <a:t>Hệ</a:t>
            </a:r>
            <a:r>
              <a:rPr lang="en-US" dirty="0"/>
              <a:t> </a:t>
            </a:r>
            <a:r>
              <a:rPr lang="en-US" dirty="0" err="1"/>
              <a:t>thống</a:t>
            </a:r>
            <a:r>
              <a:rPr lang="en-US" dirty="0"/>
              <a:t> </a:t>
            </a:r>
            <a:r>
              <a:rPr lang="en-US" dirty="0" err="1"/>
              <a:t>mô</a:t>
            </a:r>
            <a:r>
              <a:rPr lang="en-US" dirty="0"/>
              <a:t> </a:t>
            </a:r>
            <a:r>
              <a:rPr lang="en-US" dirty="0" err="1"/>
              <a:t>phỏng</a:t>
            </a:r>
            <a:endParaRPr lang="en-US" dirty="0"/>
          </a:p>
        </p:txBody>
      </p:sp>
      <p:pic>
        <p:nvPicPr>
          <p:cNvPr id="3076" name="Picture 4">
            <a:extLst>
              <a:ext uri="{FF2B5EF4-FFF2-40B4-BE49-F238E27FC236}">
                <a16:creationId xmlns:a16="http://schemas.microsoft.com/office/drawing/2014/main" id="{7838AEDD-3D81-B23D-A0F8-8A8BCC970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2563" y="0"/>
            <a:ext cx="1954843" cy="663545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4A8B218-47A2-FD51-9028-161659B48FD9}"/>
              </a:ext>
            </a:extLst>
          </p:cNvPr>
          <p:cNvSpPr txBox="1"/>
          <p:nvPr/>
        </p:nvSpPr>
        <p:spPr>
          <a:xfrm>
            <a:off x="5759289" y="2043439"/>
            <a:ext cx="1225710" cy="271869"/>
          </a:xfrm>
          <a:prstGeom prst="rect">
            <a:avLst/>
          </a:prstGeom>
          <a:noFill/>
        </p:spPr>
        <p:txBody>
          <a:bodyPr wrap="square">
            <a:spAutoFit/>
          </a:bodyPr>
          <a:lstStyle/>
          <a:p>
            <a:pPr>
              <a:lnSpc>
                <a:spcPts val="1425"/>
              </a:lnSpc>
              <a:buNone/>
            </a:pPr>
            <a:r>
              <a:rPr lang="en-US" sz="1200" b="0" dirty="0" err="1">
                <a:effectLst/>
                <a:latin typeface="Droid Sans Mono"/>
              </a:rPr>
              <a:t>gridScenario</a:t>
            </a:r>
            <a:endParaRPr lang="en-US" sz="1200" b="0" dirty="0">
              <a:effectLst/>
              <a:latin typeface="Droid Sans Mono"/>
            </a:endParaRPr>
          </a:p>
        </p:txBody>
      </p:sp>
      <p:sp>
        <p:nvSpPr>
          <p:cNvPr id="18" name="TextBox 17">
            <a:extLst>
              <a:ext uri="{FF2B5EF4-FFF2-40B4-BE49-F238E27FC236}">
                <a16:creationId xmlns:a16="http://schemas.microsoft.com/office/drawing/2014/main" id="{F2E408F2-B2DA-8015-8E29-E94F63E105E0}"/>
              </a:ext>
            </a:extLst>
          </p:cNvPr>
          <p:cNvSpPr txBox="1"/>
          <p:nvPr/>
        </p:nvSpPr>
        <p:spPr>
          <a:xfrm>
            <a:off x="5410199" y="3198167"/>
            <a:ext cx="1574800" cy="461665"/>
          </a:xfrm>
          <a:prstGeom prst="rect">
            <a:avLst/>
          </a:prstGeom>
          <a:noFill/>
        </p:spPr>
        <p:txBody>
          <a:bodyPr wrap="square">
            <a:spAutoFit/>
          </a:bodyPr>
          <a:lstStyle/>
          <a:p>
            <a:r>
              <a:rPr lang="en-US" sz="1200" dirty="0" err="1"/>
              <a:t>NetDeviceContainer</a:t>
            </a:r>
            <a:endParaRPr lang="en-US" sz="1200" dirty="0"/>
          </a:p>
          <a:p>
            <a:r>
              <a:rPr lang="en-US" sz="1200" dirty="0" err="1"/>
              <a:t>internet.Install</a:t>
            </a:r>
            <a:endParaRPr lang="en-US" sz="1200" dirty="0"/>
          </a:p>
        </p:txBody>
      </p:sp>
      <p:sp>
        <p:nvSpPr>
          <p:cNvPr id="20" name="TextBox 19">
            <a:extLst>
              <a:ext uri="{FF2B5EF4-FFF2-40B4-BE49-F238E27FC236}">
                <a16:creationId xmlns:a16="http://schemas.microsoft.com/office/drawing/2014/main" id="{5D4874F7-BB84-9BD3-88B4-DE06DC9AEDA1}"/>
              </a:ext>
            </a:extLst>
          </p:cNvPr>
          <p:cNvSpPr txBox="1"/>
          <p:nvPr/>
        </p:nvSpPr>
        <p:spPr>
          <a:xfrm>
            <a:off x="5686248" y="4064116"/>
            <a:ext cx="1371792" cy="276999"/>
          </a:xfrm>
          <a:prstGeom prst="rect">
            <a:avLst/>
          </a:prstGeom>
          <a:noFill/>
        </p:spPr>
        <p:txBody>
          <a:bodyPr wrap="square">
            <a:spAutoFit/>
          </a:bodyPr>
          <a:lstStyle/>
          <a:p>
            <a:r>
              <a:rPr lang="en-US" sz="1200" dirty="0" err="1"/>
              <a:t>dlClientLowLat</a:t>
            </a:r>
            <a:endParaRPr lang="en-US" sz="1200" dirty="0"/>
          </a:p>
        </p:txBody>
      </p:sp>
      <p:sp>
        <p:nvSpPr>
          <p:cNvPr id="24" name="TextBox 23">
            <a:extLst>
              <a:ext uri="{FF2B5EF4-FFF2-40B4-BE49-F238E27FC236}">
                <a16:creationId xmlns:a16="http://schemas.microsoft.com/office/drawing/2014/main" id="{DE0B6971-8E9A-F08A-C852-72D02278F2CD}"/>
              </a:ext>
            </a:extLst>
          </p:cNvPr>
          <p:cNvSpPr txBox="1"/>
          <p:nvPr/>
        </p:nvSpPr>
        <p:spPr>
          <a:xfrm>
            <a:off x="5749270" y="4633503"/>
            <a:ext cx="999067" cy="630942"/>
          </a:xfrm>
          <a:prstGeom prst="rect">
            <a:avLst/>
          </a:prstGeom>
          <a:noFill/>
        </p:spPr>
        <p:txBody>
          <a:bodyPr wrap="square">
            <a:spAutoFit/>
          </a:bodyPr>
          <a:lstStyle/>
          <a:p>
            <a:pPr>
              <a:lnSpc>
                <a:spcPts val="1425"/>
              </a:lnSpc>
              <a:buNone/>
            </a:pPr>
            <a:r>
              <a:rPr lang="en-US" sz="1100" b="0" dirty="0" err="1">
                <a:effectLst/>
                <a:latin typeface="Droid Sans Mono"/>
              </a:rPr>
              <a:t>EpsBearer</a:t>
            </a:r>
            <a:r>
              <a:rPr lang="en-US" sz="1100" b="0" dirty="0">
                <a:effectLst/>
                <a:latin typeface="Droid Sans Mono"/>
              </a:rPr>
              <a:t>::NGBR_LOW_LAT_EMBB</a:t>
            </a:r>
          </a:p>
        </p:txBody>
      </p:sp>
      <p:graphicFrame>
        <p:nvGraphicFramePr>
          <p:cNvPr id="4" name="Table 3">
            <a:extLst>
              <a:ext uri="{FF2B5EF4-FFF2-40B4-BE49-F238E27FC236}">
                <a16:creationId xmlns:a16="http://schemas.microsoft.com/office/drawing/2014/main" id="{A5A1A95F-55EB-4645-9F58-D5A5185A3286}"/>
              </a:ext>
            </a:extLst>
          </p:cNvPr>
          <p:cNvGraphicFramePr>
            <a:graphicFrameLocks noGrp="1"/>
          </p:cNvGraphicFramePr>
          <p:nvPr>
            <p:extLst>
              <p:ext uri="{D42A27DB-BD31-4B8C-83A1-F6EECF244321}">
                <p14:modId xmlns:p14="http://schemas.microsoft.com/office/powerpoint/2010/main" val="3801166808"/>
              </p:ext>
            </p:extLst>
          </p:nvPr>
        </p:nvGraphicFramePr>
        <p:xfrm>
          <a:off x="495267" y="1375570"/>
          <a:ext cx="5003604" cy="4351337"/>
        </p:xfrm>
        <a:graphic>
          <a:graphicData uri="http://schemas.openxmlformats.org/drawingml/2006/table">
            <a:tbl>
              <a:tblPr/>
              <a:tblGrid>
                <a:gridCol w="1223466">
                  <a:extLst>
                    <a:ext uri="{9D8B030D-6E8A-4147-A177-3AD203B41FA5}">
                      <a16:colId xmlns:a16="http://schemas.microsoft.com/office/drawing/2014/main" val="1320126728"/>
                    </a:ext>
                  </a:extLst>
                </a:gridCol>
                <a:gridCol w="2112270">
                  <a:extLst>
                    <a:ext uri="{9D8B030D-6E8A-4147-A177-3AD203B41FA5}">
                      <a16:colId xmlns:a16="http://schemas.microsoft.com/office/drawing/2014/main" val="52099254"/>
                    </a:ext>
                  </a:extLst>
                </a:gridCol>
                <a:gridCol w="1667868">
                  <a:extLst>
                    <a:ext uri="{9D8B030D-6E8A-4147-A177-3AD203B41FA5}">
                      <a16:colId xmlns:a16="http://schemas.microsoft.com/office/drawing/2014/main" val="1006813368"/>
                    </a:ext>
                  </a:extLst>
                </a:gridCol>
              </a:tblGrid>
              <a:tr h="577771">
                <a:tc>
                  <a:txBody>
                    <a:bodyPr/>
                    <a:lstStyle/>
                    <a:p>
                      <a:pPr rtl="0">
                        <a:buNone/>
                      </a:pPr>
                      <a:r>
                        <a:rPr lang="en-US" sz="1200" b="1" dirty="0">
                          <a:solidFill>
                            <a:srgbClr val="1F1F1F"/>
                          </a:solidFill>
                          <a:effectLst/>
                          <a:latin typeface="Google Sans Text"/>
                        </a:rPr>
                        <a:t>URLLC</a:t>
                      </a:r>
                      <a:endParaRPr lang="en-US" sz="1200" dirty="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b="1" dirty="0">
                          <a:solidFill>
                            <a:srgbClr val="1F1F1F"/>
                          </a:solidFill>
                          <a:effectLst/>
                          <a:latin typeface="Google Sans Text"/>
                        </a:rPr>
                        <a:t>Tham </a:t>
                      </a:r>
                      <a:r>
                        <a:rPr lang="en-US" sz="1200" b="1" dirty="0" err="1">
                          <a:solidFill>
                            <a:srgbClr val="1F1F1F"/>
                          </a:solidFill>
                          <a:effectLst/>
                          <a:latin typeface="Google Sans Text"/>
                        </a:rPr>
                        <a:t>số</a:t>
                      </a:r>
                      <a:r>
                        <a:rPr lang="en-US" sz="1200" b="1" dirty="0">
                          <a:solidFill>
                            <a:srgbClr val="1F1F1F"/>
                          </a:solidFill>
                          <a:effectLst/>
                          <a:latin typeface="Google Sans Text"/>
                        </a:rPr>
                        <a:t> </a:t>
                      </a:r>
                      <a:r>
                        <a:rPr lang="en-US" sz="1200" b="1" dirty="0" err="1">
                          <a:solidFill>
                            <a:srgbClr val="1F1F1F"/>
                          </a:solidFill>
                          <a:effectLst/>
                          <a:latin typeface="Google Sans Text"/>
                        </a:rPr>
                        <a:t>cấu</a:t>
                      </a:r>
                      <a:r>
                        <a:rPr lang="en-US" sz="1200" b="1" dirty="0">
                          <a:solidFill>
                            <a:srgbClr val="1F1F1F"/>
                          </a:solidFill>
                          <a:effectLst/>
                          <a:latin typeface="Google Sans Text"/>
                        </a:rPr>
                        <a:t> </a:t>
                      </a:r>
                      <a:r>
                        <a:rPr lang="en-US" sz="1200" b="1" dirty="0" err="1">
                          <a:solidFill>
                            <a:srgbClr val="1F1F1F"/>
                          </a:solidFill>
                          <a:effectLst/>
                          <a:latin typeface="Google Sans Text"/>
                        </a:rPr>
                        <a:t>hình</a:t>
                      </a:r>
                      <a:r>
                        <a:rPr lang="en-US" sz="1200" b="1" dirty="0">
                          <a:solidFill>
                            <a:srgbClr val="1F1F1F"/>
                          </a:solidFill>
                          <a:effectLst/>
                          <a:latin typeface="Google Sans Text"/>
                        </a:rPr>
                        <a:t> </a:t>
                      </a:r>
                      <a:r>
                        <a:rPr lang="en-US" sz="1200" b="1" dirty="0" err="1">
                          <a:solidFill>
                            <a:srgbClr val="1F1F1F"/>
                          </a:solidFill>
                          <a:effectLst/>
                          <a:latin typeface="Google Sans Text"/>
                        </a:rPr>
                        <a:t>trong</a:t>
                      </a:r>
                      <a:r>
                        <a:rPr lang="en-US" sz="1200" b="1" dirty="0">
                          <a:solidFill>
                            <a:srgbClr val="1F1F1F"/>
                          </a:solidFill>
                          <a:effectLst/>
                          <a:latin typeface="Google Sans Text"/>
                        </a:rPr>
                        <a:t> NS-3</a:t>
                      </a:r>
                      <a:endParaRPr lang="en-US" sz="1200" dirty="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b="1">
                          <a:solidFill>
                            <a:srgbClr val="1F1F1F"/>
                          </a:solidFill>
                          <a:effectLst/>
                          <a:latin typeface="Google Sans Text"/>
                        </a:rPr>
                        <a:t>Giải thích</a:t>
                      </a:r>
                      <a:endParaRPr lang="en-US" sz="120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4496160"/>
                  </a:ext>
                </a:extLst>
              </a:tr>
              <a:tr h="821518">
                <a:tc>
                  <a:txBody>
                    <a:bodyPr/>
                    <a:lstStyle/>
                    <a:p>
                      <a:pPr rtl="0">
                        <a:buNone/>
                      </a:pPr>
                      <a:r>
                        <a:rPr lang="en-US" sz="1200" b="1">
                          <a:solidFill>
                            <a:srgbClr val="1F1F1F"/>
                          </a:solidFill>
                          <a:effectLst/>
                          <a:latin typeface="Google Sans Text"/>
                        </a:rPr>
                        <a:t>1. Short TTI (Numerology)</a:t>
                      </a:r>
                      <a:endParaRPr lang="en-US" sz="120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a:solidFill>
                            <a:srgbClr val="444746"/>
                          </a:solidFill>
                          <a:effectLst/>
                          <a:latin typeface="Google Sans Text"/>
                        </a:rPr>
                        <a:t>numerologyBwp1 = 3</a:t>
                      </a:r>
                      <a:endParaRPr lang="en-US" sz="120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a:solidFill>
                            <a:srgbClr val="1F1F1F"/>
                          </a:solidFill>
                          <a:effectLst/>
                          <a:latin typeface="Google Sans Text"/>
                        </a:rPr>
                        <a:t>Thiết lập SCS 120kHz, giảm Slot time xuống 0.125ms.</a:t>
                      </a: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931173"/>
                  </a:ext>
                </a:extLst>
              </a:tr>
              <a:tr h="821518">
                <a:tc>
                  <a:txBody>
                    <a:bodyPr/>
                    <a:lstStyle/>
                    <a:p>
                      <a:pPr rtl="0">
                        <a:buNone/>
                      </a:pPr>
                      <a:r>
                        <a:rPr lang="en-US" sz="1200" b="1">
                          <a:solidFill>
                            <a:srgbClr val="1F1F1F"/>
                          </a:solidFill>
                          <a:effectLst/>
                          <a:latin typeface="Google Sans Text"/>
                        </a:rPr>
                        <a:t>2. Network Slicing (QoS)</a:t>
                      </a:r>
                      <a:endParaRPr lang="en-US" sz="120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dirty="0" err="1">
                          <a:solidFill>
                            <a:srgbClr val="444746"/>
                          </a:solidFill>
                          <a:effectLst/>
                          <a:latin typeface="Google Sans Text"/>
                        </a:rPr>
                        <a:t>EpsBearer</a:t>
                      </a:r>
                      <a:r>
                        <a:rPr lang="en-US" sz="1200" dirty="0">
                          <a:solidFill>
                            <a:srgbClr val="444746"/>
                          </a:solidFill>
                          <a:effectLst/>
                          <a:latin typeface="Google Sans Text"/>
                        </a:rPr>
                        <a:t>::NGBR_LOW_LAT_EMBB</a:t>
                      </a:r>
                      <a:endParaRPr lang="en-US" sz="1200" dirty="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200">
                          <a:solidFill>
                            <a:srgbClr val="1F1F1F"/>
                          </a:solidFill>
                          <a:effectLst/>
                          <a:latin typeface="Google Sans Text"/>
                        </a:rPr>
                        <a:t>Thiết lập đường hầm ưu tiên cho luồng dữ liệu UDP cứu hộ.</a:t>
                      </a: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6156765"/>
                  </a:ext>
                </a:extLst>
              </a:tr>
              <a:tr h="1065265">
                <a:tc>
                  <a:txBody>
                    <a:bodyPr/>
                    <a:lstStyle/>
                    <a:p>
                      <a:pPr rtl="0">
                        <a:buNone/>
                      </a:pPr>
                      <a:r>
                        <a:rPr lang="en-US" sz="1200" b="1">
                          <a:solidFill>
                            <a:srgbClr val="1F1F1F"/>
                          </a:solidFill>
                          <a:effectLst/>
                          <a:latin typeface="Google Sans Text"/>
                        </a:rPr>
                        <a:t>3. Edge/Private Architecture</a:t>
                      </a:r>
                      <a:endParaRPr lang="en-US" sz="120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a:solidFill>
                            <a:srgbClr val="1F1F1F"/>
                          </a:solidFill>
                          <a:effectLst/>
                          <a:latin typeface="Google Sans Text"/>
                        </a:rPr>
                        <a:t>Topology: </a:t>
                      </a:r>
                      <a:r>
                        <a:rPr lang="en-US" sz="1200">
                          <a:solidFill>
                            <a:srgbClr val="444746"/>
                          </a:solidFill>
                          <a:effectLst/>
                          <a:latin typeface="Google Sans Text"/>
                        </a:rPr>
                        <a:t>RemoteHost</a:t>
                      </a:r>
                      <a:r>
                        <a:rPr lang="en-US" sz="1200">
                          <a:solidFill>
                            <a:srgbClr val="1F1F1F"/>
                          </a:solidFill>
                          <a:effectLst/>
                          <a:latin typeface="Google Sans Text"/>
                        </a:rPr>
                        <a:t> nối trực tiếp </a:t>
                      </a:r>
                      <a:r>
                        <a:rPr lang="en-US" sz="1200">
                          <a:solidFill>
                            <a:srgbClr val="444746"/>
                          </a:solidFill>
                          <a:effectLst/>
                          <a:latin typeface="Google Sans Text"/>
                        </a:rPr>
                        <a:t>PGW</a:t>
                      </a:r>
                      <a:endParaRPr lang="en-US" sz="120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200" dirty="0">
                          <a:solidFill>
                            <a:srgbClr val="1F1F1F"/>
                          </a:solidFill>
                          <a:effectLst/>
                          <a:latin typeface="Google Sans Text"/>
                        </a:rPr>
                        <a:t>Giả lập máy chủ đặt tại chỗ, độ trễ đường truyền dẫn (wired delay) </a:t>
                      </a:r>
                      <a:r>
                        <a:rPr lang="en-US" sz="1200" dirty="0">
                          <a:solidFill>
                            <a:srgbClr val="1F1F1F"/>
                          </a:solidFill>
                          <a:effectLst/>
                          <a:latin typeface="Google Sans Text"/>
                        </a:rPr>
                        <a:t>~ </a:t>
                      </a:r>
                      <a:r>
                        <a:rPr lang="vi-VN" sz="1200" dirty="0">
                          <a:solidFill>
                            <a:srgbClr val="1F1F1F"/>
                          </a:solidFill>
                          <a:effectLst/>
                          <a:latin typeface="Google Sans Text"/>
                        </a:rPr>
                        <a:t>0.</a:t>
                      </a: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710988"/>
                  </a:ext>
                </a:extLst>
              </a:tr>
              <a:tr h="1065265">
                <a:tc>
                  <a:txBody>
                    <a:bodyPr/>
                    <a:lstStyle/>
                    <a:p>
                      <a:pPr rtl="0">
                        <a:buNone/>
                      </a:pPr>
                      <a:r>
                        <a:rPr lang="en-US" sz="1200" b="1">
                          <a:solidFill>
                            <a:srgbClr val="1F1F1F"/>
                          </a:solidFill>
                          <a:effectLst/>
                          <a:latin typeface="Google Sans Text"/>
                        </a:rPr>
                        <a:t>4. Short Packet Transmission</a:t>
                      </a:r>
                      <a:endParaRPr lang="en-US" sz="120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200" dirty="0" err="1">
                          <a:solidFill>
                            <a:srgbClr val="444746"/>
                          </a:solidFill>
                          <a:effectLst/>
                          <a:latin typeface="Google Sans Text"/>
                        </a:rPr>
                        <a:t>PacketSize</a:t>
                      </a:r>
                      <a:r>
                        <a:rPr lang="en-US" sz="1200" dirty="0">
                          <a:solidFill>
                            <a:srgbClr val="444746"/>
                          </a:solidFill>
                          <a:effectLst/>
                          <a:latin typeface="Google Sans Text"/>
                        </a:rPr>
                        <a:t> = 100 bytes</a:t>
                      </a:r>
                      <a:endParaRPr lang="en-US" sz="1200" dirty="0">
                        <a:solidFill>
                          <a:srgbClr val="1F1F1F"/>
                        </a:solidFill>
                        <a:effectLst/>
                        <a:latin typeface="Google Sans Text"/>
                      </a:endParaRP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200" dirty="0">
                          <a:solidFill>
                            <a:srgbClr val="1F1F1F"/>
                          </a:solidFill>
                          <a:effectLst/>
                          <a:latin typeface="Google Sans Text"/>
                        </a:rPr>
                        <a:t>Gói tin nhỏ giúp giảm thời gian đóng gói và giải mã, đặc trưng của tín hiệu điều khiển.</a:t>
                      </a:r>
                    </a:p>
                  </a:txBody>
                  <a:tcPr marL="67708" marR="67708" marT="45138" marB="451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4940626"/>
                  </a:ext>
                </a:extLst>
              </a:tr>
            </a:tbl>
          </a:graphicData>
        </a:graphic>
      </p:graphicFrame>
    </p:spTree>
    <p:extLst>
      <p:ext uri="{BB962C8B-B14F-4D97-AF65-F5344CB8AC3E}">
        <p14:creationId xmlns:p14="http://schemas.microsoft.com/office/powerpoint/2010/main" val="1780787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7FE8-6B88-FF4C-1D1F-33A4BD40C9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ADD8BB-F121-37FB-52C7-043F34F736D3}"/>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2">
            <a:extLst>
              <a:ext uri="{FF2B5EF4-FFF2-40B4-BE49-F238E27FC236}">
                <a16:creationId xmlns:a16="http://schemas.microsoft.com/office/drawing/2014/main" id="{9D176276-13FF-356D-20A0-0E432CDA448B}"/>
              </a:ext>
            </a:extLst>
          </p:cNvPr>
          <p:cNvSpPr>
            <a:spLocks noGrp="1"/>
          </p:cNvSpPr>
          <p:nvPr>
            <p:ph type="title"/>
          </p:nvPr>
        </p:nvSpPr>
        <p:spPr/>
        <p:txBody>
          <a:bodyPr/>
          <a:lstStyle/>
          <a:p>
            <a:r>
              <a:rPr lang="en-US" dirty="0"/>
              <a:t>7. </a:t>
            </a:r>
            <a:r>
              <a:rPr lang="en-US" dirty="0" err="1"/>
              <a:t>Kịch</a:t>
            </a:r>
            <a:r>
              <a:rPr lang="en-US" dirty="0"/>
              <a:t> </a:t>
            </a:r>
            <a:r>
              <a:rPr lang="en-US" dirty="0" err="1"/>
              <a:t>bản</a:t>
            </a:r>
            <a:r>
              <a:rPr lang="en-US" dirty="0"/>
              <a:t> </a:t>
            </a:r>
            <a:r>
              <a:rPr lang="en-US" dirty="0" err="1"/>
              <a:t>thí</a:t>
            </a:r>
            <a:r>
              <a:rPr lang="en-US" dirty="0"/>
              <a:t> </a:t>
            </a:r>
            <a:r>
              <a:rPr lang="en-US" dirty="0" err="1"/>
              <a:t>nghiệm</a:t>
            </a:r>
            <a:endParaRPr lang="en-US" dirty="0"/>
          </a:p>
        </p:txBody>
      </p:sp>
      <p:sp>
        <p:nvSpPr>
          <p:cNvPr id="8" name="TextBox 7">
            <a:extLst>
              <a:ext uri="{FF2B5EF4-FFF2-40B4-BE49-F238E27FC236}">
                <a16:creationId xmlns:a16="http://schemas.microsoft.com/office/drawing/2014/main" id="{1D068DAC-7B0E-8C76-EB7F-B6E4E1C4F796}"/>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13A9F74-A5C5-7164-5C49-E0E5CDAFB7B8}"/>
                  </a:ext>
                </a:extLst>
              </p:cNvPr>
              <p:cNvGraphicFramePr>
                <a:graphicFrameLocks noGrp="1"/>
              </p:cNvGraphicFramePr>
              <p:nvPr>
                <p:extLst>
                  <p:ext uri="{D42A27DB-BD31-4B8C-83A1-F6EECF244321}">
                    <p14:modId xmlns:p14="http://schemas.microsoft.com/office/powerpoint/2010/main" val="1040536553"/>
                  </p:ext>
                </p:extLst>
              </p:nvPr>
            </p:nvGraphicFramePr>
            <p:xfrm>
              <a:off x="548217" y="2091052"/>
              <a:ext cx="8047564" cy="4042035"/>
            </p:xfrm>
            <a:graphic>
              <a:graphicData uri="http://schemas.openxmlformats.org/drawingml/2006/table">
                <a:tbl>
                  <a:tblPr/>
                  <a:tblGrid>
                    <a:gridCol w="829733">
                      <a:extLst>
                        <a:ext uri="{9D8B030D-6E8A-4147-A177-3AD203B41FA5}">
                          <a16:colId xmlns:a16="http://schemas.microsoft.com/office/drawing/2014/main" val="3614516322"/>
                        </a:ext>
                      </a:extLst>
                    </a:gridCol>
                    <a:gridCol w="1348895">
                      <a:extLst>
                        <a:ext uri="{9D8B030D-6E8A-4147-A177-3AD203B41FA5}">
                          <a16:colId xmlns:a16="http://schemas.microsoft.com/office/drawing/2014/main" val="3018572242"/>
                        </a:ext>
                      </a:extLst>
                    </a:gridCol>
                    <a:gridCol w="1506488">
                      <a:extLst>
                        <a:ext uri="{9D8B030D-6E8A-4147-A177-3AD203B41FA5}">
                          <a16:colId xmlns:a16="http://schemas.microsoft.com/office/drawing/2014/main" val="1831299580"/>
                        </a:ext>
                      </a:extLst>
                    </a:gridCol>
                    <a:gridCol w="1092200">
                      <a:extLst>
                        <a:ext uri="{9D8B030D-6E8A-4147-A177-3AD203B41FA5}">
                          <a16:colId xmlns:a16="http://schemas.microsoft.com/office/drawing/2014/main" val="2260548620"/>
                        </a:ext>
                      </a:extLst>
                    </a:gridCol>
                    <a:gridCol w="1091618">
                      <a:extLst>
                        <a:ext uri="{9D8B030D-6E8A-4147-A177-3AD203B41FA5}">
                          <a16:colId xmlns:a16="http://schemas.microsoft.com/office/drawing/2014/main" val="2574343961"/>
                        </a:ext>
                      </a:extLst>
                    </a:gridCol>
                    <a:gridCol w="1089315">
                      <a:extLst>
                        <a:ext uri="{9D8B030D-6E8A-4147-A177-3AD203B41FA5}">
                          <a16:colId xmlns:a16="http://schemas.microsoft.com/office/drawing/2014/main" val="565989788"/>
                        </a:ext>
                      </a:extLst>
                    </a:gridCol>
                    <a:gridCol w="1089315">
                      <a:extLst>
                        <a:ext uri="{9D8B030D-6E8A-4147-A177-3AD203B41FA5}">
                          <a16:colId xmlns:a16="http://schemas.microsoft.com/office/drawing/2014/main" val="40090878"/>
                        </a:ext>
                      </a:extLst>
                    </a:gridCol>
                  </a:tblGrid>
                  <a:tr h="634492">
                    <a:tc>
                      <a:txBody>
                        <a:bodyPr/>
                        <a:lstStyle/>
                        <a:p>
                          <a:pPr rtl="0">
                            <a:buNone/>
                          </a:pPr>
                          <a:r>
                            <a:rPr lang="en-US" sz="1400" b="1" dirty="0" err="1">
                              <a:solidFill>
                                <a:srgbClr val="1F1F1F"/>
                              </a:solidFill>
                              <a:effectLst/>
                              <a:latin typeface="+mn-lt"/>
                            </a:rPr>
                            <a:t>Nume-rology</a:t>
                          </a:r>
                          <a:r>
                            <a:rPr lang="en-US" sz="1400" b="1" dirty="0">
                              <a:solidFill>
                                <a:srgbClr val="1F1F1F"/>
                              </a:solidFill>
                              <a:effectLst/>
                              <a:latin typeface="+mn-lt"/>
                            </a:rPr>
                            <a:t> (µ)</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err="1">
                              <a:solidFill>
                                <a:srgbClr val="1F1F1F"/>
                              </a:solidFill>
                              <a:effectLst/>
                              <a:latin typeface="+mn-lt"/>
                            </a:rPr>
                            <a:t>Khoảng</a:t>
                          </a:r>
                          <a:r>
                            <a:rPr lang="en-US" sz="1400" b="1" dirty="0">
                              <a:solidFill>
                                <a:srgbClr val="1F1F1F"/>
                              </a:solidFill>
                              <a:effectLst/>
                              <a:latin typeface="+mn-lt"/>
                            </a:rPr>
                            <a:t> </a:t>
                          </a:r>
                          <a:r>
                            <a:rPr lang="en-US" sz="1400" b="1" dirty="0" err="1">
                              <a:solidFill>
                                <a:srgbClr val="1F1F1F"/>
                              </a:solidFill>
                              <a:effectLst/>
                              <a:latin typeface="+mn-lt"/>
                            </a:rPr>
                            <a:t>cách</a:t>
                          </a:r>
                          <a:r>
                            <a:rPr lang="en-US" sz="1400" b="1" dirty="0">
                              <a:solidFill>
                                <a:srgbClr val="1F1F1F"/>
                              </a:solidFill>
                              <a:effectLst/>
                              <a:latin typeface="+mn-lt"/>
                            </a:rPr>
                            <a:t> </a:t>
                          </a:r>
                          <a:r>
                            <a:rPr lang="en-US" sz="1400" b="1" dirty="0" err="1">
                              <a:solidFill>
                                <a:srgbClr val="1F1F1F"/>
                              </a:solidFill>
                              <a:effectLst/>
                              <a:latin typeface="+mn-lt"/>
                            </a:rPr>
                            <a:t>sóng</a:t>
                          </a:r>
                          <a:r>
                            <a:rPr lang="en-US" sz="1400" b="1" dirty="0">
                              <a:solidFill>
                                <a:srgbClr val="1F1F1F"/>
                              </a:solidFill>
                              <a:effectLst/>
                              <a:latin typeface="+mn-lt"/>
                            </a:rPr>
                            <a:t> </a:t>
                          </a:r>
                          <a:r>
                            <a:rPr lang="en-US" sz="1400" b="1" dirty="0" err="1">
                              <a:solidFill>
                                <a:srgbClr val="1F1F1F"/>
                              </a:solidFill>
                              <a:effectLst/>
                              <a:latin typeface="+mn-lt"/>
                            </a:rPr>
                            <a:t>mang</a:t>
                          </a:r>
                          <a:r>
                            <a:rPr lang="en-US" sz="1400" b="1" dirty="0">
                              <a:solidFill>
                                <a:srgbClr val="1F1F1F"/>
                              </a:solidFill>
                              <a:effectLst/>
                              <a:latin typeface="+mn-lt"/>
                            </a:rPr>
                            <a:t> (SCS)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a:solidFill>
                                <a:srgbClr val="1F1F1F"/>
                              </a:solidFill>
                              <a:effectLst/>
                              <a:latin typeface="+mn-lt"/>
                            </a:rPr>
                            <a:t>Thời gian 1 Slot (TTI)</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err="1">
                              <a:solidFill>
                                <a:srgbClr val="1F1F1F"/>
                              </a:solidFill>
                              <a:effectLst/>
                              <a:latin typeface="+mn-lt"/>
                            </a:rPr>
                            <a:t>Độ</a:t>
                          </a:r>
                          <a:r>
                            <a:rPr lang="en-US" sz="1400" b="1" dirty="0">
                              <a:solidFill>
                                <a:srgbClr val="1F1F1F"/>
                              </a:solidFill>
                              <a:effectLst/>
                              <a:latin typeface="+mn-lt"/>
                            </a:rPr>
                            <a:t> </a:t>
                          </a:r>
                          <a:r>
                            <a:rPr lang="en-US" sz="1400" b="1" dirty="0" err="1">
                              <a:solidFill>
                                <a:srgbClr val="1F1F1F"/>
                              </a:solidFill>
                              <a:effectLst/>
                              <a:latin typeface="+mn-lt"/>
                            </a:rPr>
                            <a:t>trễ</a:t>
                          </a:r>
                          <a:r>
                            <a:rPr lang="en-US" sz="1400" b="1" dirty="0">
                              <a:solidFill>
                                <a:srgbClr val="1F1F1F"/>
                              </a:solidFill>
                              <a:effectLst/>
                              <a:latin typeface="+mn-lt"/>
                            </a:rPr>
                            <a:t> </a:t>
                          </a:r>
                          <a:r>
                            <a:rPr lang="en-US" sz="1400" b="1" dirty="0" err="1">
                              <a:solidFill>
                                <a:srgbClr val="1F1F1F"/>
                              </a:solidFill>
                              <a:effectLst/>
                              <a:latin typeface="+mn-lt"/>
                            </a:rPr>
                            <a:t>trung</a:t>
                          </a:r>
                          <a:r>
                            <a:rPr lang="en-US" sz="1400" b="1" dirty="0">
                              <a:solidFill>
                                <a:srgbClr val="1F1F1F"/>
                              </a:solidFill>
                              <a:effectLst/>
                              <a:latin typeface="+mn-lt"/>
                            </a:rPr>
                            <a:t> </a:t>
                          </a:r>
                          <a:r>
                            <a:rPr lang="en-US" sz="1400" b="1" dirty="0" err="1">
                              <a:solidFill>
                                <a:srgbClr val="1F1F1F"/>
                              </a:solidFill>
                              <a:effectLst/>
                              <a:latin typeface="+mn-lt"/>
                            </a:rPr>
                            <a:t>bình</a:t>
                          </a:r>
                          <a:r>
                            <a:rPr lang="en-US" sz="1400" b="1" dirty="0">
                              <a:solidFill>
                                <a:srgbClr val="1F1F1F"/>
                              </a:solidFill>
                              <a:effectLst/>
                              <a:latin typeface="+mn-lt"/>
                            </a:rPr>
                            <a:t> (Mean Delay)</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Tx-Rx Packet</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a:solidFill>
                                <a:srgbClr val="1F1F1F"/>
                              </a:solidFill>
                              <a:effectLst/>
                              <a:latin typeface="+mn-lt"/>
                            </a:rPr>
                            <a:t>Tỷ lệ mất gói (Packet Loss)</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err="1">
                              <a:solidFill>
                                <a:srgbClr val="1F1F1F"/>
                              </a:solidFill>
                              <a:effectLst/>
                              <a:latin typeface="+mn-lt"/>
                            </a:rPr>
                            <a:t>Đánh</a:t>
                          </a:r>
                          <a:r>
                            <a:rPr lang="en-US" sz="1400" b="1" dirty="0">
                              <a:solidFill>
                                <a:srgbClr val="1F1F1F"/>
                              </a:solidFill>
                              <a:effectLst/>
                              <a:latin typeface="+mn-lt"/>
                            </a:rPr>
                            <a:t> </a:t>
                          </a:r>
                          <a:r>
                            <a:rPr lang="en-US" sz="1400" b="1" dirty="0" err="1">
                              <a:solidFill>
                                <a:srgbClr val="1F1F1F"/>
                              </a:solidFill>
                              <a:effectLst/>
                              <a:latin typeface="+mn-lt"/>
                            </a:rPr>
                            <a:t>giá</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8667778"/>
                      </a:ext>
                    </a:extLst>
                  </a:tr>
                  <a:tr h="1071247">
                    <a:tc>
                      <a:txBody>
                        <a:bodyPr/>
                        <a:lstStyle/>
                        <a:p>
                          <a:pPr rtl="0">
                            <a:buNone/>
                          </a:pPr>
                          <a:r>
                            <a:rPr lang="en-US" sz="1400" b="1" dirty="0">
                              <a:solidFill>
                                <a:srgbClr val="1F1F1F"/>
                              </a:solidFill>
                              <a:effectLst/>
                              <a:latin typeface="+mn-lt"/>
                            </a:rPr>
                            <a:t>0</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14:m>
                            <m:oMath xmlns:m="http://schemas.openxmlformats.org/officeDocument/2006/math">
                              <m:sSup>
                                <m:sSupPr>
                                  <m:ctrlPr>
                                    <a:rPr lang="en-US" sz="1400" i="1" smtClean="0">
                                      <a:solidFill>
                                        <a:srgbClr val="1F1F1F"/>
                                      </a:solidFill>
                                      <a:effectLst/>
                                      <a:latin typeface="Cambria Math" panose="02040503050406030204" pitchFamily="18" charset="0"/>
                                    </a:rPr>
                                  </m:ctrlPr>
                                </m:sSupPr>
                                <m:e>
                                  <m:r>
                                    <a:rPr lang="en-US" sz="1400" b="0" i="1" smtClean="0">
                                      <a:solidFill>
                                        <a:srgbClr val="1F1F1F"/>
                                      </a:solidFill>
                                      <a:effectLst/>
                                      <a:latin typeface="Cambria Math" panose="02040503050406030204" pitchFamily="18" charset="0"/>
                                    </a:rPr>
                                    <m:t>2</m:t>
                                  </m:r>
                                </m:e>
                                <m:sup>
                                  <m:r>
                                    <a:rPr lang="en-US" sz="1400" b="0" i="1" smtClean="0">
                                      <a:solidFill>
                                        <a:srgbClr val="1F1F1F"/>
                                      </a:solidFill>
                                      <a:effectLst/>
                                      <a:latin typeface="Cambria Math" panose="02040503050406030204" pitchFamily="18" charset="0"/>
                                    </a:rPr>
                                    <m:t>0</m:t>
                                  </m:r>
                                </m:sup>
                              </m:sSup>
                              <m:r>
                                <a:rPr lang="en-US" sz="1400" b="0" i="0" smtClean="0">
                                  <a:solidFill>
                                    <a:srgbClr val="1F1F1F"/>
                                  </a:solidFill>
                                  <a:effectLst/>
                                  <a:latin typeface="Cambria Math" panose="02040503050406030204" pitchFamily="18" charset="0"/>
                                </a:rPr>
                                <m:t>. </m:t>
                              </m:r>
                            </m:oMath>
                          </a14:m>
                          <a:r>
                            <a:rPr lang="en-US" sz="1400" dirty="0">
                              <a:solidFill>
                                <a:srgbClr val="1F1F1F"/>
                              </a:solidFill>
                              <a:effectLst/>
                              <a:latin typeface="+mn-lt"/>
                            </a:rPr>
                            <a:t>15 = 15 kHz </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=1/</a:t>
                          </a:r>
                          <a14:m>
                            <m:oMath xmlns:m="http://schemas.openxmlformats.org/officeDocument/2006/math">
                              <m:sSup>
                                <m:sSupPr>
                                  <m:ctrlPr>
                                    <a:rPr lang="en-US" sz="1400" i="1" smtClean="0">
                                      <a:solidFill>
                                        <a:srgbClr val="1F1F1F"/>
                                      </a:solidFill>
                                      <a:effectLst/>
                                      <a:latin typeface="Cambria Math" panose="02040503050406030204" pitchFamily="18" charset="0"/>
                                    </a:rPr>
                                  </m:ctrlPr>
                                </m:sSupPr>
                                <m:e>
                                  <m:r>
                                    <a:rPr lang="en-US" sz="1400" b="0" i="1" smtClean="0">
                                      <a:solidFill>
                                        <a:srgbClr val="1F1F1F"/>
                                      </a:solidFill>
                                      <a:effectLst/>
                                      <a:latin typeface="Cambria Math" panose="02040503050406030204" pitchFamily="18" charset="0"/>
                                    </a:rPr>
                                    <m:t>2</m:t>
                                  </m:r>
                                </m:e>
                                <m:sup>
                                  <m:r>
                                    <a:rPr lang="en-US" sz="1400" b="0" i="1" smtClean="0">
                                      <a:solidFill>
                                        <a:srgbClr val="1F1F1F"/>
                                      </a:solidFill>
                                      <a:effectLst/>
                                      <a:latin typeface="Cambria Math" panose="02040503050406030204" pitchFamily="18" charset="0"/>
                                    </a:rPr>
                                    <m:t>0</m:t>
                                  </m:r>
                                </m:sup>
                              </m:sSup>
                              <m:r>
                                <a:rPr lang="en-US" sz="1400" b="0" i="1" smtClean="0">
                                  <a:solidFill>
                                    <a:srgbClr val="1F1F1F"/>
                                  </a:solidFill>
                                  <a:effectLst/>
                                  <a:latin typeface="Cambria Math" panose="02040503050406030204" pitchFamily="18" charset="0"/>
                                </a:rPr>
                                <m:t>=</m:t>
                              </m:r>
                            </m:oMath>
                          </a14:m>
                          <a:r>
                            <a:rPr lang="en-US" sz="1400" dirty="0">
                              <a:solidFill>
                                <a:srgbClr val="1F1F1F"/>
                              </a:solidFill>
                              <a:effectLst/>
                              <a:latin typeface="+mn-lt"/>
                            </a:rPr>
                            <a:t>1 </a:t>
                          </a:r>
                          <a:r>
                            <a:rPr lang="en-US" sz="1400"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14:m>
                            <m:oMath xmlns:m="http://schemas.openxmlformats.org/officeDocument/2006/math">
                              <m:r>
                                <a:rPr lang="en-US" sz="1400" b="0" i="1" smtClean="0">
                                  <a:solidFill>
                                    <a:srgbClr val="1F1F1F"/>
                                  </a:solidFill>
                                  <a:effectLst/>
                                  <a:latin typeface="Cambria Math" panose="02040503050406030204" pitchFamily="18" charset="0"/>
                                </a:rPr>
                                <m:t> </m:t>
                              </m:r>
                            </m:oMath>
                          </a14:m>
                          <a:r>
                            <a:rPr lang="en-US" sz="1400" b="1" dirty="0">
                              <a:solidFill>
                                <a:srgbClr val="1F1F1F"/>
                              </a:solidFill>
                              <a:effectLst/>
                              <a:latin typeface="+mn-lt"/>
                            </a:rPr>
                            <a:t>2.99 </a:t>
                          </a:r>
                          <a:r>
                            <a:rPr lang="en-US" sz="1400" b="1"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dirty="0">
                              <a:solidFill>
                                <a:srgbClr val="1F1F1F"/>
                              </a:solidFill>
                              <a:effectLst/>
                              <a:latin typeface="+mn-lt"/>
                            </a:rPr>
                            <a:t>9200 - 9194 </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a:solidFill>
                                <a:srgbClr val="1F1F1F"/>
                              </a:solidFill>
                              <a:effectLst/>
                              <a:latin typeface="+mn-lt"/>
                            </a:rPr>
                            <a:t>6 gói (0.07%)</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400">
                              <a:solidFill>
                                <a:srgbClr val="1F1F1F"/>
                              </a:solidFill>
                              <a:effectLst/>
                              <a:latin typeface="+mn-lt"/>
                            </a:rPr>
                            <a:t>Mạng thường (4G/5G eMBB). Độ trễ cao.</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86406"/>
                      </a:ext>
                    </a:extLst>
                  </a:tr>
                  <a:tr h="822184">
                    <a:tc>
                      <a:txBody>
                        <a:bodyPr/>
                        <a:lstStyle/>
                        <a:p>
                          <a:pPr rtl="0">
                            <a:buNone/>
                          </a:pPr>
                          <a:r>
                            <a:rPr lang="en-US" sz="1400" b="1">
                              <a:solidFill>
                                <a:srgbClr val="1F1F1F"/>
                              </a:solidFill>
                              <a:effectLst/>
                              <a:latin typeface="+mn-lt"/>
                            </a:rPr>
                            <a:t>1</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14:m>
                            <m:oMath xmlns:m="http://schemas.openxmlformats.org/officeDocument/2006/math">
                              <m:sSup>
                                <m:sSupPr>
                                  <m:ctrlPr>
                                    <a:rPr lang="en-US" sz="1400" i="1" smtClean="0">
                                      <a:solidFill>
                                        <a:srgbClr val="1F1F1F"/>
                                      </a:solidFill>
                                      <a:effectLst/>
                                      <a:latin typeface="Cambria Math" panose="02040503050406030204" pitchFamily="18" charset="0"/>
                                    </a:rPr>
                                  </m:ctrlPr>
                                </m:sSupPr>
                                <m:e>
                                  <m:r>
                                    <a:rPr lang="en-US" sz="1400" b="0" i="1" smtClean="0">
                                      <a:solidFill>
                                        <a:srgbClr val="1F1F1F"/>
                                      </a:solidFill>
                                      <a:effectLst/>
                                      <a:latin typeface="Cambria Math" panose="02040503050406030204" pitchFamily="18" charset="0"/>
                                    </a:rPr>
                                    <m:t>2</m:t>
                                  </m:r>
                                </m:e>
                                <m:sup>
                                  <m:r>
                                    <a:rPr lang="en-US" sz="1400" b="0" i="1" smtClean="0">
                                      <a:solidFill>
                                        <a:srgbClr val="1F1F1F"/>
                                      </a:solidFill>
                                      <a:effectLst/>
                                      <a:latin typeface="Cambria Math" panose="02040503050406030204" pitchFamily="18" charset="0"/>
                                    </a:rPr>
                                    <m:t>1</m:t>
                                  </m:r>
                                </m:sup>
                              </m:sSup>
                              <m:r>
                                <a:rPr lang="en-US" sz="1400" b="0" i="0" smtClean="0">
                                  <a:solidFill>
                                    <a:srgbClr val="1F1F1F"/>
                                  </a:solidFill>
                                  <a:effectLst/>
                                  <a:latin typeface="Cambria Math" panose="02040503050406030204" pitchFamily="18" charset="0"/>
                                </a:rPr>
                                <m:t>. </m:t>
                              </m:r>
                            </m:oMath>
                          </a14:m>
                          <a:r>
                            <a:rPr lang="en-US" sz="1400" dirty="0">
                              <a:solidFill>
                                <a:srgbClr val="1F1F1F"/>
                              </a:solidFill>
                              <a:effectLst/>
                              <a:latin typeface="+mn-lt"/>
                            </a:rPr>
                            <a:t>15 = 30 kHz</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=1/</a:t>
                          </a:r>
                          <a14:m>
                            <m:oMath xmlns:m="http://schemas.openxmlformats.org/officeDocument/2006/math">
                              <m:sSup>
                                <m:sSupPr>
                                  <m:ctrlPr>
                                    <a:rPr lang="en-US" sz="1400" i="1" smtClean="0">
                                      <a:solidFill>
                                        <a:srgbClr val="1F1F1F"/>
                                      </a:solidFill>
                                      <a:effectLst/>
                                      <a:latin typeface="Cambria Math" panose="02040503050406030204" pitchFamily="18" charset="0"/>
                                    </a:rPr>
                                  </m:ctrlPr>
                                </m:sSupPr>
                                <m:e>
                                  <m:r>
                                    <a:rPr lang="en-US" sz="1400" b="0" i="1" smtClean="0">
                                      <a:solidFill>
                                        <a:srgbClr val="1F1F1F"/>
                                      </a:solidFill>
                                      <a:effectLst/>
                                      <a:latin typeface="Cambria Math" panose="02040503050406030204" pitchFamily="18" charset="0"/>
                                    </a:rPr>
                                    <m:t>2</m:t>
                                  </m:r>
                                </m:e>
                                <m:sup>
                                  <m:r>
                                    <a:rPr lang="en-US" sz="1400" b="0" i="1" smtClean="0">
                                      <a:solidFill>
                                        <a:srgbClr val="1F1F1F"/>
                                      </a:solidFill>
                                      <a:effectLst/>
                                      <a:latin typeface="Cambria Math" panose="02040503050406030204" pitchFamily="18" charset="0"/>
                                    </a:rPr>
                                    <m:t>1</m:t>
                                  </m:r>
                                </m:sup>
                              </m:sSup>
                              <m:r>
                                <a:rPr lang="en-US" sz="1400" b="0" i="1" smtClean="0">
                                  <a:solidFill>
                                    <a:srgbClr val="1F1F1F"/>
                                  </a:solidFill>
                                  <a:effectLst/>
                                  <a:latin typeface="Cambria Math" panose="02040503050406030204" pitchFamily="18" charset="0"/>
                                </a:rPr>
                                <m:t>= </m:t>
                              </m:r>
                            </m:oMath>
                          </a14:m>
                          <a:r>
                            <a:rPr lang="en-US" sz="1400" dirty="0">
                              <a:solidFill>
                                <a:srgbClr val="1F1F1F"/>
                              </a:solidFill>
                              <a:effectLst/>
                              <a:latin typeface="+mn-lt"/>
                            </a:rPr>
                            <a:t>0.5 </a:t>
                          </a:r>
                          <a:r>
                            <a:rPr lang="en-US" sz="1400"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1.67 </a:t>
                          </a:r>
                          <a:r>
                            <a:rPr lang="en-US" sz="1400" b="1"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dirty="0">
                              <a:effectLst/>
                              <a:latin typeface="+mn-lt"/>
                            </a:rPr>
                            <a:t>9200 - 9197</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a:solidFill>
                                <a:srgbClr val="1F1F1F"/>
                              </a:solidFill>
                              <a:effectLst/>
                              <a:latin typeface="+mn-lt"/>
                            </a:rPr>
                            <a:t>3 gói (0.03%)</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400">
                              <a:solidFill>
                                <a:srgbClr val="1F1F1F"/>
                              </a:solidFill>
                              <a:effectLst/>
                              <a:latin typeface="+mn-lt"/>
                            </a:rPr>
                            <a:t>Cải thiện, nhưng chưa đạt chuẩn URLLC.</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5226865"/>
                      </a:ext>
                    </a:extLst>
                  </a:tr>
                  <a:tr h="634492">
                    <a:tc>
                      <a:txBody>
                        <a:bodyPr/>
                        <a:lstStyle/>
                        <a:p>
                          <a:pPr rtl="0">
                            <a:buNone/>
                          </a:pPr>
                          <a:r>
                            <a:rPr lang="en-US" sz="1400" b="1">
                              <a:solidFill>
                                <a:srgbClr val="1F1F1F"/>
                              </a:solidFill>
                              <a:effectLst/>
                              <a:latin typeface="+mn-lt"/>
                            </a:rPr>
                            <a:t>2</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14:m>
                            <m:oMath xmlns:m="http://schemas.openxmlformats.org/officeDocument/2006/math">
                              <m:sSup>
                                <m:sSupPr>
                                  <m:ctrlPr>
                                    <a:rPr lang="en-US" sz="1400" i="1" smtClean="0">
                                      <a:solidFill>
                                        <a:srgbClr val="1F1F1F"/>
                                      </a:solidFill>
                                      <a:effectLst/>
                                      <a:latin typeface="Cambria Math" panose="02040503050406030204" pitchFamily="18" charset="0"/>
                                    </a:rPr>
                                  </m:ctrlPr>
                                </m:sSupPr>
                                <m:e>
                                  <m:r>
                                    <a:rPr lang="en-US" sz="1400" b="0" i="1" smtClean="0">
                                      <a:solidFill>
                                        <a:srgbClr val="1F1F1F"/>
                                      </a:solidFill>
                                      <a:effectLst/>
                                      <a:latin typeface="Cambria Math" panose="02040503050406030204" pitchFamily="18" charset="0"/>
                                    </a:rPr>
                                    <m:t>2</m:t>
                                  </m:r>
                                </m:e>
                                <m:sup>
                                  <m:r>
                                    <a:rPr lang="en-US" sz="1400" b="0" i="1" smtClean="0">
                                      <a:solidFill>
                                        <a:srgbClr val="1F1F1F"/>
                                      </a:solidFill>
                                      <a:effectLst/>
                                      <a:latin typeface="Cambria Math" panose="02040503050406030204" pitchFamily="18" charset="0"/>
                                    </a:rPr>
                                    <m:t>2</m:t>
                                  </m:r>
                                </m:sup>
                              </m:sSup>
                              <m:r>
                                <a:rPr lang="en-US" sz="1400" b="0" i="0" smtClean="0">
                                  <a:solidFill>
                                    <a:srgbClr val="1F1F1F"/>
                                  </a:solidFill>
                                  <a:effectLst/>
                                  <a:latin typeface="Cambria Math" panose="02040503050406030204" pitchFamily="18" charset="0"/>
                                </a:rPr>
                                <m:t>. </m:t>
                              </m:r>
                            </m:oMath>
                          </a14:m>
                          <a:r>
                            <a:rPr lang="en-US" sz="1400" dirty="0">
                              <a:solidFill>
                                <a:srgbClr val="1F1F1F"/>
                              </a:solidFill>
                              <a:effectLst/>
                              <a:latin typeface="+mn-lt"/>
                            </a:rPr>
                            <a:t>15 = 60 kHz</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=1/</a:t>
                          </a:r>
                          <a14:m>
                            <m:oMath xmlns:m="http://schemas.openxmlformats.org/officeDocument/2006/math">
                              <m:sSup>
                                <m:sSupPr>
                                  <m:ctrlPr>
                                    <a:rPr lang="en-US" sz="1400" i="1" smtClean="0">
                                      <a:solidFill>
                                        <a:srgbClr val="1F1F1F"/>
                                      </a:solidFill>
                                      <a:effectLst/>
                                      <a:latin typeface="Cambria Math" panose="02040503050406030204" pitchFamily="18" charset="0"/>
                                    </a:rPr>
                                  </m:ctrlPr>
                                </m:sSupPr>
                                <m:e>
                                  <m:r>
                                    <a:rPr lang="en-US" sz="1400" b="0" i="1" smtClean="0">
                                      <a:solidFill>
                                        <a:srgbClr val="1F1F1F"/>
                                      </a:solidFill>
                                      <a:effectLst/>
                                      <a:latin typeface="Cambria Math" panose="02040503050406030204" pitchFamily="18" charset="0"/>
                                    </a:rPr>
                                    <m:t>2</m:t>
                                  </m:r>
                                </m:e>
                                <m:sup>
                                  <m:r>
                                    <a:rPr lang="en-US" sz="1400" b="0" i="1" smtClean="0">
                                      <a:solidFill>
                                        <a:srgbClr val="1F1F1F"/>
                                      </a:solidFill>
                                      <a:effectLst/>
                                      <a:latin typeface="Cambria Math" panose="02040503050406030204" pitchFamily="18" charset="0"/>
                                    </a:rPr>
                                    <m:t>2</m:t>
                                  </m:r>
                                </m:sup>
                              </m:sSup>
                              <m:r>
                                <a:rPr lang="en-US" sz="1400" b="0" i="1" smtClean="0">
                                  <a:solidFill>
                                    <a:srgbClr val="1F1F1F"/>
                                  </a:solidFill>
                                  <a:effectLst/>
                                  <a:latin typeface="Cambria Math" panose="02040503050406030204" pitchFamily="18" charset="0"/>
                                </a:rPr>
                                <m:t>= </m:t>
                              </m:r>
                            </m:oMath>
                          </a14:m>
                          <a:r>
                            <a:rPr lang="en-US" sz="1400" dirty="0">
                              <a:solidFill>
                                <a:srgbClr val="1F1F1F"/>
                              </a:solidFill>
                              <a:effectLst/>
                              <a:latin typeface="+mn-lt"/>
                            </a:rPr>
                            <a:t>0.25 </a:t>
                          </a:r>
                          <a:r>
                            <a:rPr lang="en-US" sz="1400"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0.88 </a:t>
                          </a:r>
                          <a:r>
                            <a:rPr lang="en-US" sz="1400" b="1"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kern="1200" dirty="0">
                              <a:solidFill>
                                <a:schemeClr val="tx1"/>
                              </a:solidFill>
                              <a:effectLst/>
                              <a:latin typeface="+mn-lt"/>
                              <a:ea typeface="+mn-ea"/>
                              <a:cs typeface="+mn-cs"/>
                            </a:rPr>
                            <a:t>9200 - 9199 </a:t>
                          </a:r>
                          <a:endParaRPr lang="en-US" sz="11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a:solidFill>
                                <a:srgbClr val="1F1F1F"/>
                              </a:solidFill>
                              <a:effectLst/>
                              <a:latin typeface="+mn-lt"/>
                            </a:rPr>
                            <a:t>1 gói (0.01%)</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a:solidFill>
                                <a:srgbClr val="1F1F1F"/>
                              </a:solidFill>
                              <a:effectLst/>
                              <a:latin typeface="+mn-lt"/>
                            </a:rPr>
                            <a:t>Đã đạt mức &lt; 1ms (Rất tốt).</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0922389"/>
                      </a:ext>
                    </a:extLst>
                  </a:tr>
                  <a:tr h="516907">
                    <a:tc>
                      <a:txBody>
                        <a:bodyPr/>
                        <a:lstStyle/>
                        <a:p>
                          <a:pPr rtl="0">
                            <a:buNone/>
                          </a:pPr>
                          <a:r>
                            <a:rPr lang="en-US" sz="1400" b="1">
                              <a:solidFill>
                                <a:srgbClr val="1F1F1F"/>
                              </a:solidFill>
                              <a:effectLst/>
                              <a:latin typeface="+mn-lt"/>
                            </a:rPr>
                            <a:t>3</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14:m>
                            <m:oMath xmlns:m="http://schemas.openxmlformats.org/officeDocument/2006/math">
                              <m:sSup>
                                <m:sSupPr>
                                  <m:ctrlPr>
                                    <a:rPr lang="en-US" sz="1400" i="1" smtClean="0">
                                      <a:solidFill>
                                        <a:srgbClr val="1F1F1F"/>
                                      </a:solidFill>
                                      <a:effectLst/>
                                      <a:latin typeface="Cambria Math" panose="02040503050406030204" pitchFamily="18" charset="0"/>
                                    </a:rPr>
                                  </m:ctrlPr>
                                </m:sSupPr>
                                <m:e>
                                  <m:r>
                                    <a:rPr lang="en-US" sz="1400" b="0" i="1" smtClean="0">
                                      <a:solidFill>
                                        <a:srgbClr val="1F1F1F"/>
                                      </a:solidFill>
                                      <a:effectLst/>
                                      <a:latin typeface="Cambria Math" panose="02040503050406030204" pitchFamily="18" charset="0"/>
                                    </a:rPr>
                                    <m:t>2</m:t>
                                  </m:r>
                                </m:e>
                                <m:sup>
                                  <m:r>
                                    <a:rPr lang="en-US" sz="1400" b="0" i="1" smtClean="0">
                                      <a:solidFill>
                                        <a:srgbClr val="1F1F1F"/>
                                      </a:solidFill>
                                      <a:effectLst/>
                                      <a:latin typeface="Cambria Math" panose="02040503050406030204" pitchFamily="18" charset="0"/>
                                    </a:rPr>
                                    <m:t>3</m:t>
                                  </m:r>
                                </m:sup>
                              </m:sSup>
                              <m:r>
                                <a:rPr lang="en-US" sz="1400" b="0" i="0" smtClean="0">
                                  <a:solidFill>
                                    <a:srgbClr val="1F1F1F"/>
                                  </a:solidFill>
                                  <a:effectLst/>
                                  <a:latin typeface="Cambria Math" panose="02040503050406030204" pitchFamily="18" charset="0"/>
                                </a:rPr>
                                <m:t>. </m:t>
                              </m:r>
                            </m:oMath>
                          </a14:m>
                          <a:r>
                            <a:rPr lang="en-US" sz="1400" dirty="0">
                              <a:solidFill>
                                <a:srgbClr val="1F1F1F"/>
                              </a:solidFill>
                              <a:effectLst/>
                              <a:latin typeface="+mn-lt"/>
                            </a:rPr>
                            <a:t>15 = </a:t>
                          </a:r>
                          <a:r>
                            <a:rPr lang="en-US" sz="1400" b="1" dirty="0">
                              <a:solidFill>
                                <a:srgbClr val="1F1F1F"/>
                              </a:solidFill>
                              <a:effectLst/>
                              <a:latin typeface="+mn-lt"/>
                            </a:rPr>
                            <a:t>120 kHz</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a:t>
                          </a:r>
                          <a:r>
                            <a:rPr lang="en-US" sz="1400" b="1" baseline="0" dirty="0">
                              <a:solidFill>
                                <a:srgbClr val="1F1F1F"/>
                              </a:solidFill>
                              <a:effectLst/>
                              <a:latin typeface="+mn-lt"/>
                            </a:rPr>
                            <a:t> </a:t>
                          </a:r>
                          <a:r>
                            <a:rPr lang="en-US" sz="1400" b="1" dirty="0">
                              <a:solidFill>
                                <a:srgbClr val="1F1F1F"/>
                              </a:solidFill>
                              <a:effectLst/>
                              <a:latin typeface="+mn-lt"/>
                            </a:rPr>
                            <a:t>1/</a:t>
                          </a:r>
                          <a14:m>
                            <m:oMath xmlns:m="http://schemas.openxmlformats.org/officeDocument/2006/math">
                              <m:sSup>
                                <m:sSupPr>
                                  <m:ctrlPr>
                                    <a:rPr lang="en-US" sz="1400" i="1" smtClean="0">
                                      <a:solidFill>
                                        <a:srgbClr val="1F1F1F"/>
                                      </a:solidFill>
                                      <a:effectLst/>
                                      <a:latin typeface="Cambria Math" panose="02040503050406030204" pitchFamily="18" charset="0"/>
                                    </a:rPr>
                                  </m:ctrlPr>
                                </m:sSupPr>
                                <m:e>
                                  <m:r>
                                    <a:rPr lang="en-US" sz="1400" b="0" i="1" smtClean="0">
                                      <a:solidFill>
                                        <a:srgbClr val="1F1F1F"/>
                                      </a:solidFill>
                                      <a:effectLst/>
                                      <a:latin typeface="Cambria Math" panose="02040503050406030204" pitchFamily="18" charset="0"/>
                                    </a:rPr>
                                    <m:t>2</m:t>
                                  </m:r>
                                </m:e>
                                <m:sup>
                                  <m:r>
                                    <a:rPr lang="en-US" sz="1400" b="0" i="1" smtClean="0">
                                      <a:solidFill>
                                        <a:srgbClr val="1F1F1F"/>
                                      </a:solidFill>
                                      <a:effectLst/>
                                      <a:latin typeface="Cambria Math" panose="02040503050406030204" pitchFamily="18" charset="0"/>
                                    </a:rPr>
                                    <m:t>3</m:t>
                                  </m:r>
                                </m:sup>
                              </m:sSup>
                              <m:r>
                                <a:rPr lang="en-US" sz="1400" b="0" i="1" smtClean="0">
                                  <a:solidFill>
                                    <a:srgbClr val="1F1F1F"/>
                                  </a:solidFill>
                                  <a:effectLst/>
                                  <a:latin typeface="Cambria Math" panose="02040503050406030204" pitchFamily="18" charset="0"/>
                                </a:rPr>
                                <m:t>= </m:t>
                              </m:r>
                            </m:oMath>
                          </a14:m>
                          <a:r>
                            <a:rPr lang="en-US" sz="1400" b="1" dirty="0">
                              <a:solidFill>
                                <a:srgbClr val="1F1F1F"/>
                              </a:solidFill>
                              <a:effectLst/>
                              <a:latin typeface="+mn-lt"/>
                            </a:rPr>
                            <a:t>0.125 </a:t>
                          </a:r>
                          <a:r>
                            <a:rPr lang="en-US" sz="1400" b="1"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0.49 </a:t>
                          </a:r>
                          <a:r>
                            <a:rPr lang="en-US" sz="1400" b="1"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dirty="0">
                              <a:solidFill>
                                <a:srgbClr val="1F1F1F"/>
                              </a:solidFill>
                              <a:effectLst/>
                              <a:latin typeface="+mn-lt"/>
                            </a:rPr>
                            <a:t>9200 - 9200</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a:solidFill>
                                <a:srgbClr val="1F1F1F"/>
                              </a:solidFill>
                              <a:effectLst/>
                              <a:latin typeface="+mn-lt"/>
                            </a:rPr>
                            <a:t>0 gói (0%)</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err="1">
                              <a:solidFill>
                                <a:srgbClr val="1F1F1F"/>
                              </a:solidFill>
                              <a:effectLst/>
                              <a:latin typeface="+mn-lt"/>
                            </a:rPr>
                            <a:t>Chuẩn</a:t>
                          </a:r>
                          <a:r>
                            <a:rPr lang="en-US" sz="1400" b="1" dirty="0">
                              <a:solidFill>
                                <a:srgbClr val="1F1F1F"/>
                              </a:solidFill>
                              <a:effectLst/>
                              <a:latin typeface="+mn-lt"/>
                            </a:rPr>
                            <a:t> URLLC </a:t>
                          </a:r>
                          <a:r>
                            <a:rPr lang="en-US" sz="1400" b="1" dirty="0" err="1">
                              <a:solidFill>
                                <a:srgbClr val="1F1F1F"/>
                              </a:solidFill>
                              <a:effectLst/>
                              <a:latin typeface="+mn-lt"/>
                            </a:rPr>
                            <a:t>cho</a:t>
                          </a:r>
                          <a:r>
                            <a:rPr lang="en-US" sz="1400" b="1" dirty="0">
                              <a:solidFill>
                                <a:srgbClr val="1F1F1F"/>
                              </a:solidFill>
                              <a:effectLst/>
                              <a:latin typeface="+mn-lt"/>
                            </a:rPr>
                            <a:t> </a:t>
                          </a:r>
                          <a:r>
                            <a:rPr lang="en-US" sz="1400" b="1" dirty="0" err="1">
                              <a:solidFill>
                                <a:srgbClr val="1F1F1F"/>
                              </a:solidFill>
                              <a:effectLst/>
                              <a:latin typeface="+mn-lt"/>
                            </a:rPr>
                            <a:t>Cứu</a:t>
                          </a:r>
                          <a:r>
                            <a:rPr lang="en-US" sz="1400" b="1" dirty="0">
                              <a:solidFill>
                                <a:srgbClr val="1F1F1F"/>
                              </a:solidFill>
                              <a:effectLst/>
                              <a:latin typeface="+mn-lt"/>
                            </a:rPr>
                            <a:t> </a:t>
                          </a:r>
                          <a:r>
                            <a:rPr lang="en-US" sz="1400" b="1" dirty="0" err="1">
                              <a:solidFill>
                                <a:srgbClr val="1F1F1F"/>
                              </a:solidFill>
                              <a:effectLst/>
                              <a:latin typeface="+mn-lt"/>
                            </a:rPr>
                            <a:t>hộ</a:t>
                          </a:r>
                          <a:r>
                            <a:rPr lang="en-US" sz="1400" b="1" dirty="0">
                              <a:solidFill>
                                <a:srgbClr val="1F1F1F"/>
                              </a:solidFill>
                              <a:effectLst/>
                              <a:latin typeface="+mn-lt"/>
                            </a:rPr>
                            <a:t>.</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2881274"/>
                      </a:ext>
                    </a:extLst>
                  </a:tr>
                </a:tbl>
              </a:graphicData>
            </a:graphic>
          </p:graphicFrame>
        </mc:Choice>
        <mc:Fallback xmlns="">
          <p:graphicFrame>
            <p:nvGraphicFramePr>
              <p:cNvPr id="4" name="Table 3">
                <a:extLst>
                  <a:ext uri="{FF2B5EF4-FFF2-40B4-BE49-F238E27FC236}">
                    <a16:creationId xmlns:a16="http://schemas.microsoft.com/office/drawing/2014/main" id="{313A9F74-A5C5-7164-5C49-E0E5CDAFB7B8}"/>
                  </a:ext>
                </a:extLst>
              </p:cNvPr>
              <p:cNvGraphicFramePr>
                <a:graphicFrameLocks noGrp="1"/>
              </p:cNvGraphicFramePr>
              <p:nvPr>
                <p:extLst>
                  <p:ext uri="{D42A27DB-BD31-4B8C-83A1-F6EECF244321}">
                    <p14:modId xmlns:p14="http://schemas.microsoft.com/office/powerpoint/2010/main" val="1040536553"/>
                  </p:ext>
                </p:extLst>
              </p:nvPr>
            </p:nvGraphicFramePr>
            <p:xfrm>
              <a:off x="548217" y="2091052"/>
              <a:ext cx="8047564" cy="4042035"/>
            </p:xfrm>
            <a:graphic>
              <a:graphicData uri="http://schemas.openxmlformats.org/drawingml/2006/table">
                <a:tbl>
                  <a:tblPr/>
                  <a:tblGrid>
                    <a:gridCol w="829733">
                      <a:extLst>
                        <a:ext uri="{9D8B030D-6E8A-4147-A177-3AD203B41FA5}">
                          <a16:colId xmlns:a16="http://schemas.microsoft.com/office/drawing/2014/main" val="3614516322"/>
                        </a:ext>
                      </a:extLst>
                    </a:gridCol>
                    <a:gridCol w="1348895">
                      <a:extLst>
                        <a:ext uri="{9D8B030D-6E8A-4147-A177-3AD203B41FA5}">
                          <a16:colId xmlns:a16="http://schemas.microsoft.com/office/drawing/2014/main" val="3018572242"/>
                        </a:ext>
                      </a:extLst>
                    </a:gridCol>
                    <a:gridCol w="1506488">
                      <a:extLst>
                        <a:ext uri="{9D8B030D-6E8A-4147-A177-3AD203B41FA5}">
                          <a16:colId xmlns:a16="http://schemas.microsoft.com/office/drawing/2014/main" val="1831299580"/>
                        </a:ext>
                      </a:extLst>
                    </a:gridCol>
                    <a:gridCol w="1092200">
                      <a:extLst>
                        <a:ext uri="{9D8B030D-6E8A-4147-A177-3AD203B41FA5}">
                          <a16:colId xmlns:a16="http://schemas.microsoft.com/office/drawing/2014/main" val="2260548620"/>
                        </a:ext>
                      </a:extLst>
                    </a:gridCol>
                    <a:gridCol w="1091618">
                      <a:extLst>
                        <a:ext uri="{9D8B030D-6E8A-4147-A177-3AD203B41FA5}">
                          <a16:colId xmlns:a16="http://schemas.microsoft.com/office/drawing/2014/main" val="2574343961"/>
                        </a:ext>
                      </a:extLst>
                    </a:gridCol>
                    <a:gridCol w="1089315">
                      <a:extLst>
                        <a:ext uri="{9D8B030D-6E8A-4147-A177-3AD203B41FA5}">
                          <a16:colId xmlns:a16="http://schemas.microsoft.com/office/drawing/2014/main" val="565989788"/>
                        </a:ext>
                      </a:extLst>
                    </a:gridCol>
                    <a:gridCol w="1089315">
                      <a:extLst>
                        <a:ext uri="{9D8B030D-6E8A-4147-A177-3AD203B41FA5}">
                          <a16:colId xmlns:a16="http://schemas.microsoft.com/office/drawing/2014/main" val="40090878"/>
                        </a:ext>
                      </a:extLst>
                    </a:gridCol>
                  </a:tblGrid>
                  <a:tr h="721262">
                    <a:tc>
                      <a:txBody>
                        <a:bodyPr/>
                        <a:lstStyle/>
                        <a:p>
                          <a:pPr rtl="0">
                            <a:buNone/>
                          </a:pPr>
                          <a:r>
                            <a:rPr lang="en-US" sz="1400" b="1" dirty="0" err="1">
                              <a:solidFill>
                                <a:srgbClr val="1F1F1F"/>
                              </a:solidFill>
                              <a:effectLst/>
                              <a:latin typeface="+mn-lt"/>
                            </a:rPr>
                            <a:t>Nume-rology</a:t>
                          </a:r>
                          <a:r>
                            <a:rPr lang="en-US" sz="1400" b="1" dirty="0">
                              <a:solidFill>
                                <a:srgbClr val="1F1F1F"/>
                              </a:solidFill>
                              <a:effectLst/>
                              <a:latin typeface="+mn-lt"/>
                            </a:rPr>
                            <a:t> (µ)</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err="1">
                              <a:solidFill>
                                <a:srgbClr val="1F1F1F"/>
                              </a:solidFill>
                              <a:effectLst/>
                              <a:latin typeface="+mn-lt"/>
                            </a:rPr>
                            <a:t>Khoảng</a:t>
                          </a:r>
                          <a:r>
                            <a:rPr lang="en-US" sz="1400" b="1" dirty="0">
                              <a:solidFill>
                                <a:srgbClr val="1F1F1F"/>
                              </a:solidFill>
                              <a:effectLst/>
                              <a:latin typeface="+mn-lt"/>
                            </a:rPr>
                            <a:t> </a:t>
                          </a:r>
                          <a:r>
                            <a:rPr lang="en-US" sz="1400" b="1" dirty="0" err="1">
                              <a:solidFill>
                                <a:srgbClr val="1F1F1F"/>
                              </a:solidFill>
                              <a:effectLst/>
                              <a:latin typeface="+mn-lt"/>
                            </a:rPr>
                            <a:t>cách</a:t>
                          </a:r>
                          <a:r>
                            <a:rPr lang="en-US" sz="1400" b="1" dirty="0">
                              <a:solidFill>
                                <a:srgbClr val="1F1F1F"/>
                              </a:solidFill>
                              <a:effectLst/>
                              <a:latin typeface="+mn-lt"/>
                            </a:rPr>
                            <a:t> </a:t>
                          </a:r>
                          <a:r>
                            <a:rPr lang="en-US" sz="1400" b="1" dirty="0" err="1">
                              <a:solidFill>
                                <a:srgbClr val="1F1F1F"/>
                              </a:solidFill>
                              <a:effectLst/>
                              <a:latin typeface="+mn-lt"/>
                            </a:rPr>
                            <a:t>sóng</a:t>
                          </a:r>
                          <a:r>
                            <a:rPr lang="en-US" sz="1400" b="1" dirty="0">
                              <a:solidFill>
                                <a:srgbClr val="1F1F1F"/>
                              </a:solidFill>
                              <a:effectLst/>
                              <a:latin typeface="+mn-lt"/>
                            </a:rPr>
                            <a:t> </a:t>
                          </a:r>
                          <a:r>
                            <a:rPr lang="en-US" sz="1400" b="1" dirty="0" err="1">
                              <a:solidFill>
                                <a:srgbClr val="1F1F1F"/>
                              </a:solidFill>
                              <a:effectLst/>
                              <a:latin typeface="+mn-lt"/>
                            </a:rPr>
                            <a:t>mang</a:t>
                          </a:r>
                          <a:r>
                            <a:rPr lang="en-US" sz="1400" b="1" dirty="0">
                              <a:solidFill>
                                <a:srgbClr val="1F1F1F"/>
                              </a:solidFill>
                              <a:effectLst/>
                              <a:latin typeface="+mn-lt"/>
                            </a:rPr>
                            <a:t> (SCS)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a:solidFill>
                                <a:srgbClr val="1F1F1F"/>
                              </a:solidFill>
                              <a:effectLst/>
                              <a:latin typeface="+mn-lt"/>
                            </a:rPr>
                            <a:t>Thời gian 1 Slot (TTI)</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err="1">
                              <a:solidFill>
                                <a:srgbClr val="1F1F1F"/>
                              </a:solidFill>
                              <a:effectLst/>
                              <a:latin typeface="+mn-lt"/>
                            </a:rPr>
                            <a:t>Độ</a:t>
                          </a:r>
                          <a:r>
                            <a:rPr lang="en-US" sz="1400" b="1" dirty="0">
                              <a:solidFill>
                                <a:srgbClr val="1F1F1F"/>
                              </a:solidFill>
                              <a:effectLst/>
                              <a:latin typeface="+mn-lt"/>
                            </a:rPr>
                            <a:t> </a:t>
                          </a:r>
                          <a:r>
                            <a:rPr lang="en-US" sz="1400" b="1" dirty="0" err="1">
                              <a:solidFill>
                                <a:srgbClr val="1F1F1F"/>
                              </a:solidFill>
                              <a:effectLst/>
                              <a:latin typeface="+mn-lt"/>
                            </a:rPr>
                            <a:t>trễ</a:t>
                          </a:r>
                          <a:r>
                            <a:rPr lang="en-US" sz="1400" b="1" dirty="0">
                              <a:solidFill>
                                <a:srgbClr val="1F1F1F"/>
                              </a:solidFill>
                              <a:effectLst/>
                              <a:latin typeface="+mn-lt"/>
                            </a:rPr>
                            <a:t> </a:t>
                          </a:r>
                          <a:r>
                            <a:rPr lang="en-US" sz="1400" b="1" dirty="0" err="1">
                              <a:solidFill>
                                <a:srgbClr val="1F1F1F"/>
                              </a:solidFill>
                              <a:effectLst/>
                              <a:latin typeface="+mn-lt"/>
                            </a:rPr>
                            <a:t>trung</a:t>
                          </a:r>
                          <a:r>
                            <a:rPr lang="en-US" sz="1400" b="1" dirty="0">
                              <a:solidFill>
                                <a:srgbClr val="1F1F1F"/>
                              </a:solidFill>
                              <a:effectLst/>
                              <a:latin typeface="+mn-lt"/>
                            </a:rPr>
                            <a:t> </a:t>
                          </a:r>
                          <a:r>
                            <a:rPr lang="en-US" sz="1400" b="1" dirty="0" err="1">
                              <a:solidFill>
                                <a:srgbClr val="1F1F1F"/>
                              </a:solidFill>
                              <a:effectLst/>
                              <a:latin typeface="+mn-lt"/>
                            </a:rPr>
                            <a:t>bình</a:t>
                          </a:r>
                          <a:r>
                            <a:rPr lang="en-US" sz="1400" b="1" dirty="0">
                              <a:solidFill>
                                <a:srgbClr val="1F1F1F"/>
                              </a:solidFill>
                              <a:effectLst/>
                              <a:latin typeface="+mn-lt"/>
                            </a:rPr>
                            <a:t> (Mean Delay)</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a:solidFill>
                                <a:srgbClr val="1F1F1F"/>
                              </a:solidFill>
                              <a:effectLst/>
                              <a:latin typeface="+mn-lt"/>
                            </a:rPr>
                            <a:t>Tx-Rx Packet</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a:solidFill>
                                <a:srgbClr val="1F1F1F"/>
                              </a:solidFill>
                              <a:effectLst/>
                              <a:latin typeface="+mn-lt"/>
                            </a:rPr>
                            <a:t>Tỷ lệ mất gói (Packet Loss)</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err="1">
                              <a:solidFill>
                                <a:srgbClr val="1F1F1F"/>
                              </a:solidFill>
                              <a:effectLst/>
                              <a:latin typeface="+mn-lt"/>
                            </a:rPr>
                            <a:t>Đánh</a:t>
                          </a:r>
                          <a:r>
                            <a:rPr lang="en-US" sz="1400" b="1" dirty="0">
                              <a:solidFill>
                                <a:srgbClr val="1F1F1F"/>
                              </a:solidFill>
                              <a:effectLst/>
                              <a:latin typeface="+mn-lt"/>
                            </a:rPr>
                            <a:t> </a:t>
                          </a:r>
                          <a:r>
                            <a:rPr lang="en-US" sz="1400" b="1" dirty="0" err="1">
                              <a:solidFill>
                                <a:srgbClr val="1F1F1F"/>
                              </a:solidFill>
                              <a:effectLst/>
                              <a:latin typeface="+mn-lt"/>
                            </a:rPr>
                            <a:t>giá</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8667778"/>
                      </a:ext>
                    </a:extLst>
                  </a:tr>
                  <a:tr h="1147982">
                    <a:tc>
                      <a:txBody>
                        <a:bodyPr/>
                        <a:lstStyle/>
                        <a:p>
                          <a:pPr rtl="0">
                            <a:buNone/>
                          </a:pPr>
                          <a:r>
                            <a:rPr lang="en-US" sz="1400" b="1" dirty="0">
                              <a:solidFill>
                                <a:srgbClr val="1F1F1F"/>
                              </a:solidFill>
                              <a:effectLst/>
                              <a:latin typeface="+mn-lt"/>
                            </a:rPr>
                            <a:t>0</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712" t="-64021" r="-435135" b="-194180"/>
                          </a:stretch>
                        </a:blip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5344" t="-64021" r="-291093" b="-194180"/>
                          </a:stretch>
                        </a:blip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6667" t="-64021" r="-299444" b="-194180"/>
                          </a:stretch>
                        </a:blipFill>
                      </a:tcPr>
                    </a:tc>
                    <a:tc>
                      <a:txBody>
                        <a:bodyPr/>
                        <a:lstStyle/>
                        <a:p>
                          <a:pPr rtl="0">
                            <a:buNone/>
                          </a:pPr>
                          <a:r>
                            <a:rPr lang="en-US" sz="1400" dirty="0">
                              <a:solidFill>
                                <a:srgbClr val="1F1F1F"/>
                              </a:solidFill>
                              <a:effectLst/>
                              <a:latin typeface="+mn-lt"/>
                            </a:rPr>
                            <a:t>9200 - 9194 </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a:solidFill>
                                <a:srgbClr val="1F1F1F"/>
                              </a:solidFill>
                              <a:effectLst/>
                              <a:latin typeface="+mn-lt"/>
                            </a:rPr>
                            <a:t>6 gói (0.07%)</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400">
                              <a:solidFill>
                                <a:srgbClr val="1F1F1F"/>
                              </a:solidFill>
                              <a:effectLst/>
                              <a:latin typeface="+mn-lt"/>
                            </a:rPr>
                            <a:t>Mạng thường (4G/5G eMBB). Độ trễ cao.</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86406"/>
                      </a:ext>
                    </a:extLst>
                  </a:tr>
                  <a:tr h="934622">
                    <a:tc>
                      <a:txBody>
                        <a:bodyPr/>
                        <a:lstStyle/>
                        <a:p>
                          <a:pPr rtl="0">
                            <a:buNone/>
                          </a:pPr>
                          <a:r>
                            <a:rPr lang="en-US" sz="1400" b="1">
                              <a:solidFill>
                                <a:srgbClr val="1F1F1F"/>
                              </a:solidFill>
                              <a:effectLst/>
                              <a:latin typeface="+mn-lt"/>
                            </a:rPr>
                            <a:t>1</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712" t="-201299" r="-435135" b="-138312"/>
                          </a:stretch>
                        </a:blip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5344" t="-201299" r="-291093" b="-138312"/>
                          </a:stretch>
                        </a:blipFill>
                      </a:tcPr>
                    </a:tc>
                    <a:tc>
                      <a:txBody>
                        <a:bodyPr/>
                        <a:lstStyle/>
                        <a:p>
                          <a:pPr rtl="0">
                            <a:buNone/>
                          </a:pPr>
                          <a:r>
                            <a:rPr lang="en-US" sz="1400" b="1" dirty="0">
                              <a:solidFill>
                                <a:srgbClr val="1F1F1F"/>
                              </a:solidFill>
                              <a:effectLst/>
                              <a:latin typeface="+mn-lt"/>
                            </a:rPr>
                            <a:t>1.67 </a:t>
                          </a:r>
                          <a:r>
                            <a:rPr lang="en-US" sz="1400" b="1"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dirty="0">
                              <a:effectLst/>
                              <a:latin typeface="+mn-lt"/>
                            </a:rPr>
                            <a:t>9200 - 9197</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a:solidFill>
                                <a:srgbClr val="1F1F1F"/>
                              </a:solidFill>
                              <a:effectLst/>
                              <a:latin typeface="+mn-lt"/>
                            </a:rPr>
                            <a:t>3 gói (0.03%)</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vi-VN" sz="1400">
                              <a:solidFill>
                                <a:srgbClr val="1F1F1F"/>
                              </a:solidFill>
                              <a:effectLst/>
                              <a:latin typeface="+mn-lt"/>
                            </a:rPr>
                            <a:t>Cải thiện, nhưng chưa đạt chuẩn URLLC.</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5226865"/>
                      </a:ext>
                    </a:extLst>
                  </a:tr>
                  <a:tr h="721262">
                    <a:tc>
                      <a:txBody>
                        <a:bodyPr/>
                        <a:lstStyle/>
                        <a:p>
                          <a:pPr rtl="0">
                            <a:buNone/>
                          </a:pPr>
                          <a:r>
                            <a:rPr lang="en-US" sz="1400" b="1">
                              <a:solidFill>
                                <a:srgbClr val="1F1F1F"/>
                              </a:solidFill>
                              <a:effectLst/>
                              <a:latin typeface="+mn-lt"/>
                            </a:rPr>
                            <a:t>2</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712" t="-393220" r="-435135" b="-80508"/>
                          </a:stretch>
                        </a:blip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5344" t="-393220" r="-291093" b="-80508"/>
                          </a:stretch>
                        </a:blipFill>
                      </a:tcPr>
                    </a:tc>
                    <a:tc>
                      <a:txBody>
                        <a:bodyPr/>
                        <a:lstStyle/>
                        <a:p>
                          <a:pPr rtl="0">
                            <a:buNone/>
                          </a:pPr>
                          <a:r>
                            <a:rPr lang="en-US" sz="1400" b="1" dirty="0">
                              <a:solidFill>
                                <a:srgbClr val="1F1F1F"/>
                              </a:solidFill>
                              <a:effectLst/>
                              <a:latin typeface="+mn-lt"/>
                            </a:rPr>
                            <a:t>0.88 </a:t>
                          </a:r>
                          <a:r>
                            <a:rPr lang="en-US" sz="1400" b="1"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kern="1200" dirty="0">
                              <a:solidFill>
                                <a:schemeClr val="tx1"/>
                              </a:solidFill>
                              <a:effectLst/>
                              <a:latin typeface="+mn-lt"/>
                              <a:ea typeface="+mn-ea"/>
                              <a:cs typeface="+mn-cs"/>
                            </a:rPr>
                            <a:t>9200 - 9199 </a:t>
                          </a:r>
                          <a:endParaRPr lang="en-US" sz="11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a:solidFill>
                                <a:srgbClr val="1F1F1F"/>
                              </a:solidFill>
                              <a:effectLst/>
                              <a:latin typeface="+mn-lt"/>
                            </a:rPr>
                            <a:t>1 gói (0.01%)</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a:solidFill>
                                <a:srgbClr val="1F1F1F"/>
                              </a:solidFill>
                              <a:effectLst/>
                              <a:latin typeface="+mn-lt"/>
                            </a:rPr>
                            <a:t>Đã đạt mức &lt; 1ms (Rất tốt).</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0922389"/>
                      </a:ext>
                    </a:extLst>
                  </a:tr>
                  <a:tr h="516907">
                    <a:tc>
                      <a:txBody>
                        <a:bodyPr/>
                        <a:lstStyle/>
                        <a:p>
                          <a:pPr rtl="0">
                            <a:buNone/>
                          </a:pPr>
                          <a:r>
                            <a:rPr lang="en-US" sz="1400" b="1">
                              <a:solidFill>
                                <a:srgbClr val="1F1F1F"/>
                              </a:solidFill>
                              <a:effectLst/>
                              <a:latin typeface="+mn-lt"/>
                            </a:rPr>
                            <a:t>3</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1712" t="-684706" r="-435135" b="-11765"/>
                          </a:stretch>
                        </a:blipFill>
                      </a:tcPr>
                    </a:tc>
                    <a:tc>
                      <a:txBody>
                        <a:bodyPr/>
                        <a:lstStyle/>
                        <a:p>
                          <a:endParaRPr lang="en-US"/>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5344" t="-684706" r="-291093" b="-11765"/>
                          </a:stretch>
                        </a:blipFill>
                      </a:tcPr>
                    </a:tc>
                    <a:tc>
                      <a:txBody>
                        <a:bodyPr/>
                        <a:lstStyle/>
                        <a:p>
                          <a:pPr rtl="0">
                            <a:buNone/>
                          </a:pPr>
                          <a:r>
                            <a:rPr lang="en-US" sz="1400" b="1" dirty="0">
                              <a:solidFill>
                                <a:srgbClr val="1F1F1F"/>
                              </a:solidFill>
                              <a:effectLst/>
                              <a:latin typeface="+mn-lt"/>
                            </a:rPr>
                            <a:t>0.49 </a:t>
                          </a:r>
                          <a:r>
                            <a:rPr lang="en-US" sz="1400" b="1" dirty="0" err="1">
                              <a:solidFill>
                                <a:srgbClr val="1F1F1F"/>
                              </a:solidFill>
                              <a:effectLst/>
                              <a:latin typeface="+mn-lt"/>
                            </a:rPr>
                            <a:t>ms</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dirty="0">
                              <a:solidFill>
                                <a:srgbClr val="1F1F1F"/>
                              </a:solidFill>
                              <a:effectLst/>
                              <a:latin typeface="+mn-lt"/>
                            </a:rPr>
                            <a:t>9200 - 9200</a:t>
                          </a: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a:solidFill>
                                <a:srgbClr val="1F1F1F"/>
                              </a:solidFill>
                              <a:effectLst/>
                              <a:latin typeface="+mn-lt"/>
                            </a:rPr>
                            <a:t>0 gói (0%)</a:t>
                          </a:r>
                          <a:endParaRPr lang="en-US" sz="140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400" b="1" dirty="0" err="1">
                              <a:solidFill>
                                <a:srgbClr val="1F1F1F"/>
                              </a:solidFill>
                              <a:effectLst/>
                              <a:latin typeface="+mn-lt"/>
                            </a:rPr>
                            <a:t>Chuẩn</a:t>
                          </a:r>
                          <a:r>
                            <a:rPr lang="en-US" sz="1400" b="1" dirty="0">
                              <a:solidFill>
                                <a:srgbClr val="1F1F1F"/>
                              </a:solidFill>
                              <a:effectLst/>
                              <a:latin typeface="+mn-lt"/>
                            </a:rPr>
                            <a:t> URLLC </a:t>
                          </a:r>
                          <a:r>
                            <a:rPr lang="en-US" sz="1400" b="1" dirty="0" err="1">
                              <a:solidFill>
                                <a:srgbClr val="1F1F1F"/>
                              </a:solidFill>
                              <a:effectLst/>
                              <a:latin typeface="+mn-lt"/>
                            </a:rPr>
                            <a:t>cho</a:t>
                          </a:r>
                          <a:r>
                            <a:rPr lang="en-US" sz="1400" b="1" dirty="0">
                              <a:solidFill>
                                <a:srgbClr val="1F1F1F"/>
                              </a:solidFill>
                              <a:effectLst/>
                              <a:latin typeface="+mn-lt"/>
                            </a:rPr>
                            <a:t> </a:t>
                          </a:r>
                          <a:r>
                            <a:rPr lang="en-US" sz="1400" b="1" dirty="0" err="1">
                              <a:solidFill>
                                <a:srgbClr val="1F1F1F"/>
                              </a:solidFill>
                              <a:effectLst/>
                              <a:latin typeface="+mn-lt"/>
                            </a:rPr>
                            <a:t>Cứu</a:t>
                          </a:r>
                          <a:r>
                            <a:rPr lang="en-US" sz="1400" b="1" dirty="0">
                              <a:solidFill>
                                <a:srgbClr val="1F1F1F"/>
                              </a:solidFill>
                              <a:effectLst/>
                              <a:latin typeface="+mn-lt"/>
                            </a:rPr>
                            <a:t> </a:t>
                          </a:r>
                          <a:r>
                            <a:rPr lang="en-US" sz="1400" b="1" dirty="0" err="1">
                              <a:solidFill>
                                <a:srgbClr val="1F1F1F"/>
                              </a:solidFill>
                              <a:effectLst/>
                              <a:latin typeface="+mn-lt"/>
                            </a:rPr>
                            <a:t>hộ</a:t>
                          </a:r>
                          <a:r>
                            <a:rPr lang="en-US" sz="1400" b="1" dirty="0">
                              <a:solidFill>
                                <a:srgbClr val="1F1F1F"/>
                              </a:solidFill>
                              <a:effectLst/>
                              <a:latin typeface="+mn-lt"/>
                            </a:rPr>
                            <a:t>.</a:t>
                          </a:r>
                          <a:endParaRPr lang="en-US" sz="1400" dirty="0">
                            <a:solidFill>
                              <a:srgbClr val="1F1F1F"/>
                            </a:solidFill>
                            <a:effectLst/>
                            <a:latin typeface="+mn-lt"/>
                          </a:endParaRPr>
                        </a:p>
                      </a:txBody>
                      <a:tcPr marL="60886" marR="60886" marT="40591" marB="405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2881274"/>
                      </a:ext>
                    </a:extLst>
                  </a:tr>
                </a:tbl>
              </a:graphicData>
            </a:graphic>
          </p:graphicFrame>
        </mc:Fallback>
      </mc:AlternateContent>
      <p:sp>
        <p:nvSpPr>
          <p:cNvPr id="11" name="TextBox 10">
            <a:extLst>
              <a:ext uri="{FF2B5EF4-FFF2-40B4-BE49-F238E27FC236}">
                <a16:creationId xmlns:a16="http://schemas.microsoft.com/office/drawing/2014/main" id="{31944C9E-6B8C-177B-9FE9-E1EF2F121617}"/>
              </a:ext>
            </a:extLst>
          </p:cNvPr>
          <p:cNvSpPr txBox="1"/>
          <p:nvPr/>
        </p:nvSpPr>
        <p:spPr>
          <a:xfrm>
            <a:off x="412751" y="941189"/>
            <a:ext cx="5596466" cy="984885"/>
          </a:xfrm>
          <a:prstGeom prst="rect">
            <a:avLst/>
          </a:prstGeom>
          <a:noFill/>
        </p:spPr>
        <p:txBody>
          <a:bodyPr wrap="square">
            <a:spAutoFit/>
          </a:bodyPr>
          <a:lstStyle/>
          <a:p>
            <a:pPr>
              <a:buNone/>
            </a:pPr>
            <a:r>
              <a:rPr lang="vi-VN" sz="1600" b="1" u="sng" dirty="0">
                <a:latin typeface="Calibri" panose="020F0502020204030204" pitchFamily="34" charset="0"/>
                <a:ea typeface="Calibri" panose="020F0502020204030204" pitchFamily="34" charset="0"/>
                <a:cs typeface="Calibri" panose="020F0502020204030204" pitchFamily="34" charset="0"/>
              </a:rPr>
              <a:t>Kịch bản 1: Đánh giá hiệu năng URLLC theo Numerology</a:t>
            </a:r>
            <a:endParaRPr lang="vi-VN" sz="1600" u="sng"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vi-VN" sz="1400" b="1" dirty="0">
                <a:latin typeface="Calibri" panose="020F0502020204030204" pitchFamily="34" charset="0"/>
                <a:ea typeface="Calibri" panose="020F0502020204030204" pitchFamily="34" charset="0"/>
                <a:cs typeface="Calibri" panose="020F0502020204030204" pitchFamily="34" charset="0"/>
              </a:rPr>
              <a:t>Mục đích:</a:t>
            </a:r>
            <a:r>
              <a:rPr lang="vi-VN" sz="1400" dirty="0">
                <a:latin typeface="Calibri" panose="020F0502020204030204" pitchFamily="34" charset="0"/>
                <a:ea typeface="Calibri" panose="020F0502020204030204" pitchFamily="34" charset="0"/>
                <a:cs typeface="Calibri" panose="020F0502020204030204" pitchFamily="34" charset="0"/>
              </a:rPr>
              <a:t> Chứng minh việc thay đổi cấu hình vật lý (PHY) ảnh hưởng trực tiếp đến độ trễ.</a:t>
            </a:r>
          </a:p>
          <a:p>
            <a:pPr marL="171450" indent="-171450">
              <a:buFont typeface="Arial" panose="020B0604020202020204" pitchFamily="34" charset="0"/>
              <a:buChar char="•"/>
            </a:pPr>
            <a:r>
              <a:rPr lang="vi-VN" sz="1400" b="1" dirty="0">
                <a:latin typeface="Calibri" panose="020F0502020204030204" pitchFamily="34" charset="0"/>
                <a:ea typeface="Calibri" panose="020F0502020204030204" pitchFamily="34" charset="0"/>
                <a:cs typeface="Calibri" panose="020F0502020204030204" pitchFamily="34" charset="0"/>
              </a:rPr>
              <a:t>Thiết lập:</a:t>
            </a:r>
            <a:r>
              <a:rPr lang="vi-VN" sz="1400" dirty="0">
                <a:latin typeface="Calibri" panose="020F0502020204030204" pitchFamily="34" charset="0"/>
                <a:ea typeface="Calibri" panose="020F0502020204030204" pitchFamily="34" charset="0"/>
                <a:cs typeface="Calibri" panose="020F0502020204030204" pitchFamily="34" charset="0"/>
              </a:rPr>
              <a:t> Giữ nguyên vị trí, thay đổi biến numerologyBwp1 từ 0 đến 3.</a:t>
            </a:r>
          </a:p>
        </p:txBody>
      </p:sp>
    </p:spTree>
    <p:extLst>
      <p:ext uri="{BB962C8B-B14F-4D97-AF65-F5344CB8AC3E}">
        <p14:creationId xmlns:p14="http://schemas.microsoft.com/office/powerpoint/2010/main" val="206272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9849C4-5BEC-03EE-71E2-D574E2B465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2E17E8-7ED5-73DD-A4CE-21C19CD32105}"/>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C8D1815F-C534-D606-3975-A8D999080741}"/>
              </a:ext>
            </a:extLst>
          </p:cNvPr>
          <p:cNvSpPr>
            <a:spLocks noGrp="1"/>
          </p:cNvSpPr>
          <p:nvPr>
            <p:ph type="title"/>
          </p:nvPr>
        </p:nvSpPr>
        <p:spPr/>
        <p:txBody>
          <a:bodyPr/>
          <a:lstStyle/>
          <a:p>
            <a:r>
              <a:rPr lang="en-US" dirty="0"/>
              <a:t>4. </a:t>
            </a:r>
            <a:r>
              <a:rPr lang="en-US" dirty="0" err="1"/>
              <a:t>Kiến</a:t>
            </a:r>
            <a:r>
              <a:rPr lang="en-US" dirty="0"/>
              <a:t> </a:t>
            </a:r>
            <a:r>
              <a:rPr lang="en-US" dirty="0" err="1"/>
              <a:t>trúc</a:t>
            </a:r>
            <a:endParaRPr lang="en-US" dirty="0"/>
          </a:p>
        </p:txBody>
      </p:sp>
      <p:sp>
        <p:nvSpPr>
          <p:cNvPr id="8" name="TextBox 7">
            <a:extLst>
              <a:ext uri="{FF2B5EF4-FFF2-40B4-BE49-F238E27FC236}">
                <a16:creationId xmlns:a16="http://schemas.microsoft.com/office/drawing/2014/main" id="{BF7B9B26-D9EB-94E0-3B6F-A174E3494681}"/>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pic>
        <p:nvPicPr>
          <p:cNvPr id="7" name="Picture 6">
            <a:extLst>
              <a:ext uri="{FF2B5EF4-FFF2-40B4-BE49-F238E27FC236}">
                <a16:creationId xmlns:a16="http://schemas.microsoft.com/office/drawing/2014/main" id="{6DEDC17C-04FA-180B-BC4E-18CA05184CA2}"/>
              </a:ext>
            </a:extLst>
          </p:cNvPr>
          <p:cNvPicPr>
            <a:picLocks noChangeAspect="1"/>
          </p:cNvPicPr>
          <p:nvPr/>
        </p:nvPicPr>
        <p:blipFill>
          <a:blip r:embed="rId2"/>
          <a:stretch>
            <a:fillRect/>
          </a:stretch>
        </p:blipFill>
        <p:spPr>
          <a:xfrm>
            <a:off x="17756" y="785765"/>
            <a:ext cx="4735399" cy="2449141"/>
          </a:xfrm>
          <a:prstGeom prst="rect">
            <a:avLst/>
          </a:prstGeom>
        </p:spPr>
      </p:pic>
      <p:pic>
        <p:nvPicPr>
          <p:cNvPr id="11" name="Picture 10">
            <a:extLst>
              <a:ext uri="{FF2B5EF4-FFF2-40B4-BE49-F238E27FC236}">
                <a16:creationId xmlns:a16="http://schemas.microsoft.com/office/drawing/2014/main" id="{0E286763-DFDB-C629-3C69-176312340E95}"/>
              </a:ext>
            </a:extLst>
          </p:cNvPr>
          <p:cNvPicPr>
            <a:picLocks noChangeAspect="1"/>
          </p:cNvPicPr>
          <p:nvPr/>
        </p:nvPicPr>
        <p:blipFill>
          <a:blip r:embed="rId3"/>
          <a:stretch>
            <a:fillRect/>
          </a:stretch>
        </p:blipFill>
        <p:spPr>
          <a:xfrm>
            <a:off x="2475458" y="3060385"/>
            <a:ext cx="6449325" cy="3391373"/>
          </a:xfrm>
          <a:prstGeom prst="rect">
            <a:avLst/>
          </a:prstGeom>
        </p:spPr>
      </p:pic>
      <p:pic>
        <p:nvPicPr>
          <p:cNvPr id="14" name="Picture 13">
            <a:extLst>
              <a:ext uri="{FF2B5EF4-FFF2-40B4-BE49-F238E27FC236}">
                <a16:creationId xmlns:a16="http://schemas.microsoft.com/office/drawing/2014/main" id="{07C1D7BC-DE6D-EA4A-2574-1746AE7B07F3}"/>
              </a:ext>
            </a:extLst>
          </p:cNvPr>
          <p:cNvPicPr>
            <a:picLocks noChangeAspect="1"/>
          </p:cNvPicPr>
          <p:nvPr/>
        </p:nvPicPr>
        <p:blipFill>
          <a:blip r:embed="rId4"/>
          <a:stretch>
            <a:fillRect/>
          </a:stretch>
        </p:blipFill>
        <p:spPr>
          <a:xfrm>
            <a:off x="2076565" y="2144934"/>
            <a:ext cx="6077798" cy="3620005"/>
          </a:xfrm>
          <a:prstGeom prst="rect">
            <a:avLst/>
          </a:prstGeom>
        </p:spPr>
      </p:pic>
      <p:pic>
        <p:nvPicPr>
          <p:cNvPr id="5" name="Picture 4">
            <a:extLst>
              <a:ext uri="{FF2B5EF4-FFF2-40B4-BE49-F238E27FC236}">
                <a16:creationId xmlns:a16="http://schemas.microsoft.com/office/drawing/2014/main" id="{58E1213C-C299-6667-C06B-D4E243873DA2}"/>
              </a:ext>
            </a:extLst>
          </p:cNvPr>
          <p:cNvPicPr>
            <a:picLocks noChangeAspect="1"/>
          </p:cNvPicPr>
          <p:nvPr/>
        </p:nvPicPr>
        <p:blipFill>
          <a:blip r:embed="rId5"/>
          <a:stretch>
            <a:fillRect/>
          </a:stretch>
        </p:blipFill>
        <p:spPr>
          <a:xfrm>
            <a:off x="189744" y="1070053"/>
            <a:ext cx="8501942" cy="4544675"/>
          </a:xfrm>
          <a:prstGeom prst="rect">
            <a:avLst/>
          </a:prstGeom>
        </p:spPr>
      </p:pic>
    </p:spTree>
    <p:extLst>
      <p:ext uri="{BB962C8B-B14F-4D97-AF65-F5344CB8AC3E}">
        <p14:creationId xmlns:p14="http://schemas.microsoft.com/office/powerpoint/2010/main" val="1446533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2B249E-DCE9-B9EF-C71F-CEB166921A22}"/>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E5EC3AAD-89F9-3AF5-5247-C8E34AD8D659}"/>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A421B0DC-5224-F9DE-FD09-FF469268F921}"/>
              </a:ext>
            </a:extLst>
          </p:cNvPr>
          <p:cNvSpPr>
            <a:spLocks noGrp="1"/>
          </p:cNvSpPr>
          <p:nvPr>
            <p:ph type="body" sz="quarter" idx="13"/>
          </p:nvPr>
        </p:nvSpPr>
        <p:spPr/>
        <p:txBody>
          <a:bodyPr/>
          <a:lstStyle/>
          <a:p>
            <a:endParaRPr lang="en-US" dirty="0"/>
          </a:p>
        </p:txBody>
      </p:sp>
      <p:pic>
        <p:nvPicPr>
          <p:cNvPr id="6" name="Picture 5">
            <a:extLst>
              <a:ext uri="{FF2B5EF4-FFF2-40B4-BE49-F238E27FC236}">
                <a16:creationId xmlns:a16="http://schemas.microsoft.com/office/drawing/2014/main" id="{41F89B0D-CA96-8C52-D02B-63BD1E8E2FD0}"/>
              </a:ext>
            </a:extLst>
          </p:cNvPr>
          <p:cNvPicPr>
            <a:picLocks noChangeAspect="1"/>
          </p:cNvPicPr>
          <p:nvPr/>
        </p:nvPicPr>
        <p:blipFill>
          <a:blip r:embed="rId2"/>
          <a:stretch>
            <a:fillRect/>
          </a:stretch>
        </p:blipFill>
        <p:spPr>
          <a:xfrm>
            <a:off x="-80084" y="1257478"/>
            <a:ext cx="5439534" cy="3877216"/>
          </a:xfrm>
          <a:prstGeom prst="rect">
            <a:avLst/>
          </a:prstGeom>
        </p:spPr>
      </p:pic>
      <p:pic>
        <p:nvPicPr>
          <p:cNvPr id="8" name="Picture 7">
            <a:extLst>
              <a:ext uri="{FF2B5EF4-FFF2-40B4-BE49-F238E27FC236}">
                <a16:creationId xmlns:a16="http://schemas.microsoft.com/office/drawing/2014/main" id="{BDE9691E-3070-BCA0-384B-0382D0A5E299}"/>
              </a:ext>
            </a:extLst>
          </p:cNvPr>
          <p:cNvPicPr>
            <a:picLocks noChangeAspect="1"/>
          </p:cNvPicPr>
          <p:nvPr/>
        </p:nvPicPr>
        <p:blipFill>
          <a:blip r:embed="rId3"/>
          <a:stretch>
            <a:fillRect/>
          </a:stretch>
        </p:blipFill>
        <p:spPr>
          <a:xfrm>
            <a:off x="3552045" y="2417831"/>
            <a:ext cx="5591955" cy="3972479"/>
          </a:xfrm>
          <a:prstGeom prst="rect">
            <a:avLst/>
          </a:prstGeom>
        </p:spPr>
      </p:pic>
    </p:spTree>
    <p:extLst>
      <p:ext uri="{BB962C8B-B14F-4D97-AF65-F5344CB8AC3E}">
        <p14:creationId xmlns:p14="http://schemas.microsoft.com/office/powerpoint/2010/main" val="2125056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7B04EF-D833-36E5-38FA-5578256F0234}"/>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3CDA1EAE-1A52-E9B9-9825-874AFBD5106B}"/>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4E9A22B5-958B-A6B3-68A7-A77959D5DD7F}"/>
              </a:ext>
            </a:extLst>
          </p:cNvPr>
          <p:cNvSpPr>
            <a:spLocks noGrp="1"/>
          </p:cNvSpPr>
          <p:nvPr>
            <p:ph type="body" sz="quarter" idx="13"/>
          </p:nvPr>
        </p:nvSpPr>
        <p:spPr/>
        <p:txBody>
          <a:bodyPr/>
          <a:lstStyle/>
          <a:p>
            <a:endParaRPr lang="en-US" dirty="0"/>
          </a:p>
        </p:txBody>
      </p:sp>
      <p:pic>
        <p:nvPicPr>
          <p:cNvPr id="6" name="Picture 5">
            <a:extLst>
              <a:ext uri="{FF2B5EF4-FFF2-40B4-BE49-F238E27FC236}">
                <a16:creationId xmlns:a16="http://schemas.microsoft.com/office/drawing/2014/main" id="{60C0CB9A-774F-66A1-9B51-5295282DCDC0}"/>
              </a:ext>
            </a:extLst>
          </p:cNvPr>
          <p:cNvPicPr>
            <a:picLocks noChangeAspect="1"/>
          </p:cNvPicPr>
          <p:nvPr/>
        </p:nvPicPr>
        <p:blipFill>
          <a:blip r:embed="rId2"/>
          <a:stretch>
            <a:fillRect/>
          </a:stretch>
        </p:blipFill>
        <p:spPr>
          <a:xfrm>
            <a:off x="2199944" y="918812"/>
            <a:ext cx="4744112" cy="5020376"/>
          </a:xfrm>
          <a:prstGeom prst="rect">
            <a:avLst/>
          </a:prstGeom>
        </p:spPr>
      </p:pic>
    </p:spTree>
    <p:extLst>
      <p:ext uri="{BB962C8B-B14F-4D97-AF65-F5344CB8AC3E}">
        <p14:creationId xmlns:p14="http://schemas.microsoft.com/office/powerpoint/2010/main" val="1766645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879DF-FBE6-2688-0513-C460900CAF5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99EE1E-67E2-55B8-0CAD-446D56174F75}"/>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itle 2">
            <a:extLst>
              <a:ext uri="{FF2B5EF4-FFF2-40B4-BE49-F238E27FC236}">
                <a16:creationId xmlns:a16="http://schemas.microsoft.com/office/drawing/2014/main" id="{E08AFA7F-29B2-FE2D-2AC2-6D5668F35BEC}"/>
              </a:ext>
            </a:extLst>
          </p:cNvPr>
          <p:cNvSpPr>
            <a:spLocks noGrp="1"/>
          </p:cNvSpPr>
          <p:nvPr>
            <p:ph type="title"/>
          </p:nvPr>
        </p:nvSpPr>
        <p:spPr/>
        <p:txBody>
          <a:bodyPr/>
          <a:lstStyle/>
          <a:p>
            <a:r>
              <a:rPr lang="en-US" dirty="0"/>
              <a:t>1. </a:t>
            </a:r>
            <a:r>
              <a:rPr lang="en-US" dirty="0" err="1"/>
              <a:t>Tổng</a:t>
            </a:r>
            <a:r>
              <a:rPr lang="en-US" dirty="0"/>
              <a:t> </a:t>
            </a:r>
            <a:r>
              <a:rPr lang="en-US" dirty="0" err="1"/>
              <a:t>quan</a:t>
            </a:r>
            <a:r>
              <a:rPr lang="en-US" dirty="0"/>
              <a:t> </a:t>
            </a:r>
            <a:r>
              <a:rPr lang="en-US" dirty="0" err="1"/>
              <a:t>đề</a:t>
            </a:r>
            <a:r>
              <a:rPr lang="en-US" dirty="0"/>
              <a:t> </a:t>
            </a:r>
            <a:r>
              <a:rPr lang="en-US" dirty="0" err="1"/>
              <a:t>tài</a:t>
            </a:r>
            <a:endParaRPr lang="en-US" dirty="0"/>
          </a:p>
        </p:txBody>
      </p:sp>
      <p:sp>
        <p:nvSpPr>
          <p:cNvPr id="4" name="Text Placeholder 3">
            <a:extLst>
              <a:ext uri="{FF2B5EF4-FFF2-40B4-BE49-F238E27FC236}">
                <a16:creationId xmlns:a16="http://schemas.microsoft.com/office/drawing/2014/main" id="{2FBD102C-BF56-9458-DFDF-E749BE499739}"/>
              </a:ext>
            </a:extLst>
          </p:cNvPr>
          <p:cNvSpPr>
            <a:spLocks noGrp="1"/>
          </p:cNvSpPr>
          <p:nvPr>
            <p:ph type="body" sz="quarter" idx="13"/>
          </p:nvPr>
        </p:nvSpPr>
        <p:spPr>
          <a:xfrm>
            <a:off x="234950" y="963168"/>
            <a:ext cx="8674100" cy="4738892"/>
          </a:xfrm>
        </p:spPr>
        <p:txBody>
          <a:bodyPr/>
          <a:lstStyle/>
          <a:p>
            <a:r>
              <a:rPr lang="vi-VN" sz="1800" dirty="0">
                <a:latin typeface="+mn-lt"/>
              </a:rPr>
              <a:t>Đề tài tập trung vào việc nghiên cứu, thiết kế và đánh giá hiệu năng của mạng 5G riêng (Private 5G Network) dành cho các dịch vụ khẩn cấp, với trọng tâm là ứng dụng điều khiển UAV (Unmanned Aerial Vehicle) trong hoạt động tìm kiếm cứu nạn (Search and Rescue - SAR)</a:t>
            </a:r>
            <a:endParaRPr lang="en-US" sz="1800" dirty="0">
              <a:latin typeface="+mn-lt"/>
            </a:endParaRPr>
          </a:p>
          <a:p>
            <a:endParaRPr lang="vi-VN" sz="2400" dirty="0"/>
          </a:p>
          <a:p>
            <a:endParaRPr lang="vi-VN" sz="2400" dirty="0"/>
          </a:p>
        </p:txBody>
      </p:sp>
      <p:pic>
        <p:nvPicPr>
          <p:cNvPr id="8" name="Picture 7">
            <a:extLst>
              <a:ext uri="{FF2B5EF4-FFF2-40B4-BE49-F238E27FC236}">
                <a16:creationId xmlns:a16="http://schemas.microsoft.com/office/drawing/2014/main" id="{39C5A4AB-7C5A-C08F-7824-20307AB4772E}"/>
              </a:ext>
            </a:extLst>
          </p:cNvPr>
          <p:cNvPicPr>
            <a:picLocks noChangeAspect="1"/>
          </p:cNvPicPr>
          <p:nvPr/>
        </p:nvPicPr>
        <p:blipFill>
          <a:blip r:embed="rId2"/>
          <a:stretch>
            <a:fillRect/>
          </a:stretch>
        </p:blipFill>
        <p:spPr>
          <a:xfrm>
            <a:off x="483705" y="2778914"/>
            <a:ext cx="3452191" cy="2589143"/>
          </a:xfrm>
          <a:prstGeom prst="rect">
            <a:avLst/>
          </a:prstGeom>
        </p:spPr>
      </p:pic>
      <p:sp>
        <p:nvSpPr>
          <p:cNvPr id="10" name="TextBox 9">
            <a:extLst>
              <a:ext uri="{FF2B5EF4-FFF2-40B4-BE49-F238E27FC236}">
                <a16:creationId xmlns:a16="http://schemas.microsoft.com/office/drawing/2014/main" id="{C1FA984E-B436-FF30-4BF4-7D2F2C16CB61}"/>
              </a:ext>
            </a:extLst>
          </p:cNvPr>
          <p:cNvSpPr txBox="1"/>
          <p:nvPr/>
        </p:nvSpPr>
        <p:spPr>
          <a:xfrm>
            <a:off x="4046474" y="2349181"/>
            <a:ext cx="4899435" cy="3545651"/>
          </a:xfrm>
          <a:prstGeom prst="rect">
            <a:avLst/>
          </a:prstGeom>
          <a:noFill/>
        </p:spPr>
        <p:txBody>
          <a:bodyPr wrap="square">
            <a:spAutoFit/>
          </a:bodyPr>
          <a:lstStyle/>
          <a:p>
            <a:pPr marR="0" lvl="2" algn="just" fontAlgn="base">
              <a:lnSpc>
                <a:spcPct val="110000"/>
              </a:lnSpc>
              <a:spcBef>
                <a:spcPts val="600"/>
              </a:spcBef>
            </a:pPr>
            <a:r>
              <a:rPr lang="en-US" sz="1400" b="1" u="none" strike="noStrike" kern="0" spc="0" dirty="0" err="1">
                <a:ln>
                  <a:noFill/>
                </a:ln>
                <a:effectLst>
                  <a:glow>
                    <a:srgbClr val="000000"/>
                  </a:glow>
                  <a:outerShdw sx="0" sy="0">
                    <a:srgbClr val="000000"/>
                  </a:outerShdw>
                  <a:reflection stA="0" endPos="0" fadeDir="0" sx="0" sy="0"/>
                </a:effectLst>
                <a:latin typeface="Arial" panose="020B0604020202020204" pitchFamily="34" charset="0"/>
                <a:ea typeface="Times New Roman" panose="02020603050405020304" pitchFamily="18" charset="0"/>
                <a:cs typeface="Arial" panose="020B0604020202020204" pitchFamily="34" charset="0"/>
              </a:rPr>
              <a:t>Mục</a:t>
            </a:r>
            <a:r>
              <a:rPr lang="en-US" sz="1400" b="1" u="none" strike="noStrike" kern="0" spc="0" dirty="0">
                <a:ln>
                  <a:noFill/>
                </a:ln>
                <a:effectLst>
                  <a:glow>
                    <a:srgbClr val="000000"/>
                  </a:glow>
                  <a:outerShdw sx="0" sy="0">
                    <a:srgbClr val="000000"/>
                  </a:outerShdw>
                  <a:reflection stA="0" endPos="0" fadeDir="0" sx="0" sy="0"/>
                </a:effectLst>
                <a:latin typeface="Arial" panose="020B0604020202020204" pitchFamily="34" charset="0"/>
                <a:ea typeface="Times New Roman" panose="02020603050405020304" pitchFamily="18" charset="0"/>
                <a:cs typeface="Arial" panose="020B0604020202020204" pitchFamily="34" charset="0"/>
              </a:rPr>
              <a:t> </a:t>
            </a:r>
            <a:r>
              <a:rPr lang="en-US" sz="1400" b="1" u="none" strike="noStrike" kern="0" spc="0" dirty="0" err="1">
                <a:ln>
                  <a:noFill/>
                </a:ln>
                <a:effectLst>
                  <a:glow>
                    <a:srgbClr val="000000"/>
                  </a:glow>
                  <a:outerShdw sx="0" sy="0">
                    <a:srgbClr val="000000"/>
                  </a:outerShdw>
                  <a:reflection stA="0" endPos="0" fadeDir="0" sx="0" sy="0"/>
                </a:effectLst>
                <a:latin typeface="Arial" panose="020B0604020202020204" pitchFamily="34" charset="0"/>
                <a:ea typeface="Times New Roman" panose="02020603050405020304" pitchFamily="18" charset="0"/>
                <a:cs typeface="Arial" panose="020B0604020202020204" pitchFamily="34" charset="0"/>
              </a:rPr>
              <a:t>tiêu</a:t>
            </a:r>
            <a:r>
              <a:rPr lang="en-US" sz="1400" b="1" u="none" strike="noStrike" kern="0" spc="0" dirty="0">
                <a:ln>
                  <a:noFill/>
                </a:ln>
                <a:effectLst>
                  <a:glow>
                    <a:srgbClr val="000000"/>
                  </a:glow>
                  <a:outerShdw sx="0" sy="0">
                    <a:srgbClr val="000000"/>
                  </a:outerShdw>
                  <a:reflection stA="0" endPos="0" fadeDir="0" sx="0" sy="0"/>
                </a:effectLst>
                <a:latin typeface="Arial" panose="020B0604020202020204" pitchFamily="34" charset="0"/>
                <a:ea typeface="Times New Roman" panose="02020603050405020304" pitchFamily="18" charset="0"/>
                <a:cs typeface="Arial" panose="020B0604020202020204" pitchFamily="34" charset="0"/>
              </a:rPr>
              <a:t> </a:t>
            </a:r>
            <a:r>
              <a:rPr lang="en-US" sz="1400" b="1" u="none" strike="noStrike" kern="0" spc="0" dirty="0" err="1">
                <a:ln>
                  <a:noFill/>
                </a:ln>
                <a:effectLst>
                  <a:glow>
                    <a:srgbClr val="000000"/>
                  </a:glow>
                  <a:outerShdw sx="0" sy="0">
                    <a:srgbClr val="000000"/>
                  </a:outerShdw>
                  <a:reflection stA="0" endPos="0" fadeDir="0" sx="0" sy="0"/>
                </a:effectLst>
                <a:latin typeface="Arial" panose="020B0604020202020204" pitchFamily="34" charset="0"/>
                <a:ea typeface="Times New Roman" panose="02020603050405020304" pitchFamily="18" charset="0"/>
                <a:cs typeface="Arial" panose="020B0604020202020204" pitchFamily="34" charset="0"/>
              </a:rPr>
              <a:t>nghiên</a:t>
            </a:r>
            <a:r>
              <a:rPr lang="en-US" sz="1400" b="1" u="none" strike="noStrike" kern="0" spc="0" dirty="0">
                <a:ln>
                  <a:noFill/>
                </a:ln>
                <a:effectLst>
                  <a:glow>
                    <a:srgbClr val="000000"/>
                  </a:glow>
                  <a:outerShdw sx="0" sy="0">
                    <a:srgbClr val="000000"/>
                  </a:outerShdw>
                  <a:reflection stA="0" endPos="0" fadeDir="0" sx="0" sy="0"/>
                </a:effectLst>
                <a:latin typeface="Arial" panose="020B0604020202020204" pitchFamily="34" charset="0"/>
                <a:ea typeface="Times New Roman" panose="02020603050405020304" pitchFamily="18" charset="0"/>
                <a:cs typeface="Arial" panose="020B0604020202020204" pitchFamily="34" charset="0"/>
              </a:rPr>
              <a:t> </a:t>
            </a:r>
            <a:r>
              <a:rPr lang="en-US" sz="1400" b="1" u="none" strike="noStrike" kern="0" spc="0" dirty="0" err="1">
                <a:ln>
                  <a:noFill/>
                </a:ln>
                <a:effectLst>
                  <a:glow>
                    <a:srgbClr val="000000"/>
                  </a:glow>
                  <a:outerShdw sx="0" sy="0">
                    <a:srgbClr val="000000"/>
                  </a:outerShdw>
                  <a:reflection stA="0" endPos="0" fadeDir="0" sx="0" sy="0"/>
                </a:effectLst>
                <a:latin typeface="Arial" panose="020B0604020202020204" pitchFamily="34" charset="0"/>
                <a:ea typeface="Times New Roman" panose="02020603050405020304" pitchFamily="18" charset="0"/>
                <a:cs typeface="Arial" panose="020B0604020202020204" pitchFamily="34" charset="0"/>
              </a:rPr>
              <a:t>cứu</a:t>
            </a:r>
            <a:endParaRPr lang="en-US" sz="1400" b="1" u="none" strike="noStrike" kern="0" spc="0" dirty="0">
              <a:ln>
                <a:noFill/>
              </a:ln>
              <a:effectLst>
                <a:glow>
                  <a:srgbClr val="000000"/>
                </a:glow>
                <a:outerShdw sx="0" sy="0">
                  <a:srgbClr val="000000"/>
                </a:outerShdw>
                <a:reflection stA="0" endPos="0" fadeDir="0" sx="0" sy="0"/>
              </a:effectLst>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lnSpc>
                <a:spcPct val="110000"/>
              </a:lnSpc>
              <a:spcBef>
                <a:spcPts val="300"/>
              </a:spcBef>
              <a:buSzPts val="1000"/>
              <a:buFont typeface="Symbol" panose="05050102010706020507" pitchFamily="18" charset="2"/>
              <a:buChar char=""/>
              <a:tabLst>
                <a:tab pos="457200" algn="l"/>
              </a:tabLst>
            </a:pP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Khía</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cạnh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lý</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thuyết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Nghiên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cứu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về</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kiến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trúc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mạng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5G Standalone (SA)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và</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các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công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nghệ</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liên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quan</a:t>
            </a:r>
            <a:endPar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ct val="110000"/>
              </a:lnSpc>
              <a:spcBef>
                <a:spcPts val="300"/>
              </a:spcBef>
              <a:buSzPts val="1000"/>
              <a:buFont typeface="Symbol" panose="05050102010706020507" pitchFamily="18" charset="2"/>
              <a:buChar char=""/>
              <a:tabLst>
                <a:tab pos="457200" algn="l"/>
              </a:tabLst>
            </a:pP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Khía</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cạnh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thiết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kế</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đề</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xuất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kiến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trúc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mạng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5G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riêng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đơn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giản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dễ</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triển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khai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phù</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hợp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với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điều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kiện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thực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tế</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tại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Việt Nam,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thiết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kế</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cơ</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chế</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Network Slicing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để</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đảm</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bảo</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QoS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cho</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các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loại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lưu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lượng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khác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nhau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lựa</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chọn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các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tham</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số</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mạng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tối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ưu</a:t>
            </a:r>
            <a:endPar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ct val="110000"/>
              </a:lnSpc>
              <a:spcBef>
                <a:spcPts val="300"/>
              </a:spcBef>
              <a:buSzPts val="1000"/>
              <a:buFont typeface="Symbol" panose="05050102010706020507" pitchFamily="18" charset="2"/>
              <a:buChar char=""/>
              <a:tabLst>
                <a:tab pos="457200" algn="l"/>
              </a:tabLst>
            </a:pP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Khía</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cạnh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thực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nghiệm</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xây</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dụng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mô</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hình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mô</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phỏng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chi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tiết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với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NS-3 (Network simulator 3),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đánh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giá</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so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sánh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định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lượng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hiệu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năng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mạng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trong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các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điều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kiện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khác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nhau</a:t>
            </a:r>
            <a:endPar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ct val="110000"/>
              </a:lnSpc>
              <a:spcBef>
                <a:spcPts val="300"/>
              </a:spcBef>
              <a:buSzPts val="1000"/>
              <a:buFont typeface="Symbol" panose="05050102010706020507" pitchFamily="18" charset="2"/>
              <a:buChar char=""/>
              <a:tabLst>
                <a:tab pos="457200" algn="l"/>
              </a:tabLst>
            </a:pP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Khía</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cạnh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ứng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dụng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chứng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minh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tính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khả</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của</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mạng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5G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riêng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cho</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ứng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dụng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cứu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hộ</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thực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tế</a:t>
            </a:r>
            <a:endPar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86138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dirty="0"/>
              <a:t>2. </a:t>
            </a:r>
            <a:r>
              <a:rPr lang="en-US" dirty="0" err="1"/>
              <a:t>Tổng</a:t>
            </a:r>
            <a:r>
              <a:rPr lang="en-US" dirty="0"/>
              <a:t> </a:t>
            </a:r>
            <a:r>
              <a:rPr lang="en-US" dirty="0" err="1"/>
              <a:t>quan</a:t>
            </a:r>
            <a:r>
              <a:rPr lang="en-US" dirty="0"/>
              <a:t> 5G Private Network </a:t>
            </a:r>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a:xfrm>
            <a:off x="234950" y="963168"/>
            <a:ext cx="8674100" cy="4738892"/>
          </a:xfrm>
        </p:spPr>
        <p:txBody>
          <a:bodyPr/>
          <a:lstStyle/>
          <a:p>
            <a:r>
              <a:rPr lang="vi-VN" sz="2400" dirty="0"/>
              <a:t>Mạng Private Network là mạng di động chuyên dụng (4G LTE hoặc 5G) được triển khai trong phạm vi giới hạn, nhằm cung cấp kết nối an toàn, tin cậy và hiệu năng cao cho doanh nghiệp, cơ quan hoặc tổ chức, nơi mạng Wi-Fi hoặc mạng công cộng không đáp ứng được yêu cầu về bảo mật, độ phủ và độ tin cậy.</a:t>
            </a:r>
            <a:endParaRPr lang="en-US" sz="2400" dirty="0"/>
          </a:p>
        </p:txBody>
      </p:sp>
      <p:pic>
        <p:nvPicPr>
          <p:cNvPr id="6" name="Picture 5">
            <a:extLst>
              <a:ext uri="{FF2B5EF4-FFF2-40B4-BE49-F238E27FC236}">
                <a16:creationId xmlns:a16="http://schemas.microsoft.com/office/drawing/2014/main" id="{1E8893C5-38BD-BD7C-A352-B7B92A31E732}"/>
              </a:ext>
            </a:extLst>
          </p:cNvPr>
          <p:cNvPicPr>
            <a:picLocks noChangeAspect="1"/>
          </p:cNvPicPr>
          <p:nvPr/>
        </p:nvPicPr>
        <p:blipFill>
          <a:blip r:embed="rId2"/>
          <a:stretch>
            <a:fillRect/>
          </a:stretch>
        </p:blipFill>
        <p:spPr>
          <a:xfrm>
            <a:off x="979098" y="3046870"/>
            <a:ext cx="7530860" cy="2516690"/>
          </a:xfrm>
          <a:prstGeom prst="rect">
            <a:avLst/>
          </a:prstGeom>
        </p:spPr>
      </p:pic>
      <p:sp>
        <p:nvSpPr>
          <p:cNvPr id="7" name="TextBox 6">
            <a:extLst>
              <a:ext uri="{FF2B5EF4-FFF2-40B4-BE49-F238E27FC236}">
                <a16:creationId xmlns:a16="http://schemas.microsoft.com/office/drawing/2014/main" id="{BE3D8C69-D38C-BE79-1854-C5E1382115DC}"/>
              </a:ext>
            </a:extLst>
          </p:cNvPr>
          <p:cNvSpPr txBox="1"/>
          <p:nvPr/>
        </p:nvSpPr>
        <p:spPr>
          <a:xfrm>
            <a:off x="5146413" y="5563560"/>
            <a:ext cx="3441940" cy="276999"/>
          </a:xfrm>
          <a:prstGeom prst="rect">
            <a:avLst/>
          </a:prstGeom>
          <a:noFill/>
        </p:spPr>
        <p:txBody>
          <a:bodyPr wrap="square" rtlCol="0">
            <a:spAutoFit/>
          </a:bodyPr>
          <a:lstStyle/>
          <a:p>
            <a:r>
              <a:rPr lang="en-US" sz="1200" dirty="0"/>
              <a:t>Source: </a:t>
            </a:r>
            <a:r>
              <a:rPr lang="en-US" sz="1200" dirty="0">
                <a:hlinkClick r:id="rId3"/>
              </a:rPr>
              <a:t>Private Cellular Buyers Guide | </a:t>
            </a:r>
            <a:r>
              <a:rPr lang="en-US" sz="1200" dirty="0" err="1">
                <a:hlinkClick r:id="rId3"/>
              </a:rPr>
              <a:t>Cradlepoint</a:t>
            </a:r>
            <a:endParaRPr lang="en-US" sz="1200" dirty="0"/>
          </a:p>
        </p:txBody>
      </p:sp>
    </p:spTree>
    <p:extLst>
      <p:ext uri="{BB962C8B-B14F-4D97-AF65-F5344CB8AC3E}">
        <p14:creationId xmlns:p14="http://schemas.microsoft.com/office/powerpoint/2010/main" val="2751358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21</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dirty="0"/>
              <a:t>Wi-Fi vs. Private 5G vs. Public 5G</a:t>
            </a:r>
          </a:p>
        </p:txBody>
      </p:sp>
      <p:graphicFrame>
        <p:nvGraphicFramePr>
          <p:cNvPr id="6" name="Table 5">
            <a:extLst>
              <a:ext uri="{FF2B5EF4-FFF2-40B4-BE49-F238E27FC236}">
                <a16:creationId xmlns:a16="http://schemas.microsoft.com/office/drawing/2014/main" id="{B0E34E86-A54E-8A23-A9BC-404DC05DC6C7}"/>
              </a:ext>
            </a:extLst>
          </p:cNvPr>
          <p:cNvGraphicFramePr>
            <a:graphicFrameLocks noGrp="1"/>
          </p:cNvGraphicFramePr>
          <p:nvPr>
            <p:extLst>
              <p:ext uri="{D42A27DB-BD31-4B8C-83A1-F6EECF244321}">
                <p14:modId xmlns:p14="http://schemas.microsoft.com/office/powerpoint/2010/main" val="1004860626"/>
              </p:ext>
            </p:extLst>
          </p:nvPr>
        </p:nvGraphicFramePr>
        <p:xfrm>
          <a:off x="254052" y="889911"/>
          <a:ext cx="8493132" cy="4967900"/>
        </p:xfrm>
        <a:graphic>
          <a:graphicData uri="http://schemas.openxmlformats.org/drawingml/2006/table">
            <a:tbl>
              <a:tblPr/>
              <a:tblGrid>
                <a:gridCol w="988152">
                  <a:extLst>
                    <a:ext uri="{9D8B030D-6E8A-4147-A177-3AD203B41FA5}">
                      <a16:colId xmlns:a16="http://schemas.microsoft.com/office/drawing/2014/main" val="849415743"/>
                    </a:ext>
                  </a:extLst>
                </a:gridCol>
                <a:gridCol w="2562045">
                  <a:extLst>
                    <a:ext uri="{9D8B030D-6E8A-4147-A177-3AD203B41FA5}">
                      <a16:colId xmlns:a16="http://schemas.microsoft.com/office/drawing/2014/main" val="1311832891"/>
                    </a:ext>
                  </a:extLst>
                </a:gridCol>
                <a:gridCol w="2389517">
                  <a:extLst>
                    <a:ext uri="{9D8B030D-6E8A-4147-A177-3AD203B41FA5}">
                      <a16:colId xmlns:a16="http://schemas.microsoft.com/office/drawing/2014/main" val="578499430"/>
                    </a:ext>
                  </a:extLst>
                </a:gridCol>
                <a:gridCol w="2553418">
                  <a:extLst>
                    <a:ext uri="{9D8B030D-6E8A-4147-A177-3AD203B41FA5}">
                      <a16:colId xmlns:a16="http://schemas.microsoft.com/office/drawing/2014/main" val="43292370"/>
                    </a:ext>
                  </a:extLst>
                </a:gridCol>
              </a:tblGrid>
              <a:tr h="139812">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Tiêu chí</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Wi-Fi</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Private 5G</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Public 5G</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0477108"/>
                  </a:ext>
                </a:extLst>
              </a:tr>
              <a:tr h="454389">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Phạm vi hoạt động</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dirty="0" err="1">
                          <a:latin typeface="Lato" panose="020F0502020204030203" pitchFamily="34" charset="0"/>
                          <a:ea typeface="Lato" panose="020F0502020204030203" pitchFamily="34" charset="0"/>
                          <a:cs typeface="Lato" panose="020F0502020204030203" pitchFamily="34" charset="0"/>
                        </a:rPr>
                        <a:t>Ngắn</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chủ</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yếu</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trong</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nhà</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vài</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chục</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mét</a:t>
                      </a:r>
                      <a:r>
                        <a:rPr lang="en-US" sz="1200" b="0" dirty="0">
                          <a:latin typeface="Lato" panose="020F0502020204030203" pitchFamily="34" charset="0"/>
                          <a:ea typeface="Lato" panose="020F0502020204030203" pitchFamily="34" charset="0"/>
                          <a:cs typeface="Lato" panose="020F0502020204030203" pitchFamily="34" charset="0"/>
                        </a:rPr>
                        <a:t>.</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a:latin typeface="Lato" panose="020F0502020204030203" pitchFamily="34" charset="0"/>
                          <a:ea typeface="Lato" panose="020F0502020204030203" pitchFamily="34" charset="0"/>
                          <a:cs typeface="Lato" panose="020F0502020204030203" pitchFamily="34" charset="0"/>
                        </a:rPr>
                        <a:t>Giới hạn trong khu vực riêng (nhà máy, sân bay, bệnh viện, cảng…).</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a:latin typeface="Lato" panose="020F0502020204030203" pitchFamily="34" charset="0"/>
                          <a:ea typeface="Lato" panose="020F0502020204030203" pitchFamily="34" charset="0"/>
                          <a:cs typeface="Lato" panose="020F0502020204030203" pitchFamily="34" charset="0"/>
                        </a:rPr>
                        <a:t>Rộng, bao phủ khu vực lớn, thành phố, quốc gia.</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6172723"/>
                  </a:ext>
                </a:extLst>
              </a:tr>
              <a:tr h="349529">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Băng tần sử dụng</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dirty="0" err="1">
                          <a:latin typeface="Lato" panose="020F0502020204030203" pitchFamily="34" charset="0"/>
                          <a:ea typeface="Lato" panose="020F0502020204030203" pitchFamily="34" charset="0"/>
                          <a:cs typeface="Lato" panose="020F0502020204030203" pitchFamily="34" charset="0"/>
                        </a:rPr>
                        <a:t>Không</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cấp</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phép</a:t>
                      </a:r>
                      <a:r>
                        <a:rPr lang="en-US" sz="1200" b="0" dirty="0">
                          <a:latin typeface="Lato" panose="020F0502020204030203" pitchFamily="34" charset="0"/>
                          <a:ea typeface="Lato" panose="020F0502020204030203" pitchFamily="34" charset="0"/>
                          <a:cs typeface="Lato" panose="020F0502020204030203" pitchFamily="34" charset="0"/>
                        </a:rPr>
                        <a:t> (2.4 / 5 / 6 GHz).</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a:latin typeface="Lato" panose="020F0502020204030203" pitchFamily="34" charset="0"/>
                          <a:ea typeface="Lato" panose="020F0502020204030203" pitchFamily="34" charset="0"/>
                          <a:cs typeface="Lato" panose="020F0502020204030203" pitchFamily="34" charset="0"/>
                        </a:rPr>
                        <a:t>Cấp phép hoặc chia sẻ (licensed / shared spectrum).</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a:latin typeface="Lato" panose="020F0502020204030203" pitchFamily="34" charset="0"/>
                          <a:ea typeface="Lato" panose="020F0502020204030203" pitchFamily="34" charset="0"/>
                          <a:cs typeface="Lato" panose="020F0502020204030203" pitchFamily="34" charset="0"/>
                        </a:rPr>
                        <a:t>Cấp phép hoàn toàn (licensed spectrum).</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1950169"/>
                  </a:ext>
                </a:extLst>
              </a:tr>
              <a:tr h="349529">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Tốc độ &amp; Độ trễ</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dirty="0">
                          <a:latin typeface="Lato" panose="020F0502020204030203" pitchFamily="34" charset="0"/>
                          <a:ea typeface="Lato" panose="020F0502020204030203" pitchFamily="34" charset="0"/>
                          <a:cs typeface="Lato" panose="020F0502020204030203" pitchFamily="34" charset="0"/>
                        </a:rPr>
                        <a:t>Cao nhưng biến động, độ trễ không ổn định.</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a:latin typeface="Lato" panose="020F0502020204030203" pitchFamily="34" charset="0"/>
                          <a:ea typeface="Lato" panose="020F0502020204030203" pitchFamily="34" charset="0"/>
                          <a:cs typeface="Lato" panose="020F0502020204030203" pitchFamily="34" charset="0"/>
                        </a:rPr>
                        <a:t>Rất cao, độ trễ thấp và ổn định (URLLC).</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a:latin typeface="Lato" panose="020F0502020204030203" pitchFamily="34" charset="0"/>
                          <a:ea typeface="Lato" panose="020F0502020204030203" pitchFamily="34" charset="0"/>
                          <a:cs typeface="Lato" panose="020F0502020204030203" pitchFamily="34" charset="0"/>
                        </a:rPr>
                        <a:t>Cao, nhưng có thể giảm khi tải mạng tăng.</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3168411"/>
                  </a:ext>
                </a:extLst>
              </a:tr>
              <a:tr h="664107">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Độ tin cậy (Reliability)</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dirty="0">
                          <a:latin typeface="Lato" panose="020F0502020204030203" pitchFamily="34" charset="0"/>
                          <a:ea typeface="Lato" panose="020F0502020204030203" pitchFamily="34" charset="0"/>
                          <a:cs typeface="Lato" panose="020F0502020204030203" pitchFamily="34" charset="0"/>
                        </a:rPr>
                        <a:t>Phụ thuộc môi trường, dễ nhiễu, không phù hợp cho critical operations.</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a:latin typeface="Lato" panose="020F0502020204030203" pitchFamily="34" charset="0"/>
                          <a:ea typeface="Lato" panose="020F0502020204030203" pitchFamily="34" charset="0"/>
                          <a:cs typeface="Lato" panose="020F0502020204030203" pitchFamily="34" charset="0"/>
                        </a:rPr>
                        <a:t>Rất cao, hoạt động ổn định trong môi trường nhiều thiết bị, cả trong nhà và ngoài trời.</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dirty="0">
                          <a:latin typeface="Lato" panose="020F0502020204030203" pitchFamily="34" charset="0"/>
                          <a:ea typeface="Lato" panose="020F0502020204030203" pitchFamily="34" charset="0"/>
                          <a:cs typeface="Lato" panose="020F0502020204030203" pitchFamily="34" charset="0"/>
                        </a:rPr>
                        <a:t>Cao, nhưng có thể ảnh hưởng khi nghẽn mạng hoặc mất sóng.</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2970804"/>
                  </a:ext>
                </a:extLst>
              </a:tr>
              <a:tr h="664107">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Bảo mật (Security)</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dirty="0">
                          <a:latin typeface="Lato" panose="020F0502020204030203" pitchFamily="34" charset="0"/>
                          <a:ea typeface="Lato" panose="020F0502020204030203" pitchFamily="34" charset="0"/>
                          <a:cs typeface="Lato" panose="020F0502020204030203" pitchFamily="34" charset="0"/>
                        </a:rPr>
                        <a:t>Mã hóa WPA2/WPA3, không có xác thực SIM, dễ bị tấn công hơn.</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a:latin typeface="Lato" panose="020F0502020204030203" pitchFamily="34" charset="0"/>
                          <a:ea typeface="Lato" panose="020F0502020204030203" pitchFamily="34" charset="0"/>
                          <a:cs typeface="Lato" panose="020F0502020204030203" pitchFamily="34" charset="0"/>
                        </a:rPr>
                        <a:t>Mức bảo mật cao nhất, có xác thực SIM/USIM, chính sách bảo mật riêng, cách ly dữ liệu.</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dirty="0">
                          <a:latin typeface="Lato" panose="020F0502020204030203" pitchFamily="34" charset="0"/>
                          <a:ea typeface="Lato" panose="020F0502020204030203" pitchFamily="34" charset="0"/>
                          <a:cs typeface="Lato" panose="020F0502020204030203" pitchFamily="34" charset="0"/>
                        </a:rPr>
                        <a:t>Bảo mật tốt, nhưng dữ liệu đi qua hạ tầng công cộng, khó kiểm soát hoàn toàn.</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1773347"/>
                  </a:ext>
                </a:extLst>
              </a:tr>
              <a:tr h="454389">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Tính di động (Mobility)</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dirty="0" err="1">
                          <a:latin typeface="Lato" panose="020F0502020204030203" pitchFamily="34" charset="0"/>
                          <a:ea typeface="Lato" panose="020F0502020204030203" pitchFamily="34" charset="0"/>
                          <a:cs typeface="Lato" panose="020F0502020204030203" pitchFamily="34" charset="0"/>
                        </a:rPr>
                        <a:t>Kém</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chuyển</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vùng</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giữa</a:t>
                      </a:r>
                      <a:r>
                        <a:rPr lang="en-US" sz="1200" b="0" dirty="0">
                          <a:latin typeface="Lato" panose="020F0502020204030203" pitchFamily="34" charset="0"/>
                          <a:ea typeface="Lato" panose="020F0502020204030203" pitchFamily="34" charset="0"/>
                          <a:cs typeface="Lato" panose="020F0502020204030203" pitchFamily="34" charset="0"/>
                        </a:rPr>
                        <a:t> AP </a:t>
                      </a:r>
                      <a:r>
                        <a:rPr lang="en-US" sz="1200" b="0" dirty="0" err="1">
                          <a:latin typeface="Lato" panose="020F0502020204030203" pitchFamily="34" charset="0"/>
                          <a:ea typeface="Lato" panose="020F0502020204030203" pitchFamily="34" charset="0"/>
                          <a:cs typeface="Lato" panose="020F0502020204030203" pitchFamily="34" charset="0"/>
                        </a:rPr>
                        <a:t>dễ</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bị</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ngắt</a:t>
                      </a:r>
                      <a:r>
                        <a:rPr lang="en-US" sz="1200" b="0" dirty="0">
                          <a:latin typeface="Lato" panose="020F0502020204030203" pitchFamily="34" charset="0"/>
                          <a:ea typeface="Lato" panose="020F0502020204030203" pitchFamily="34" charset="0"/>
                          <a:cs typeface="Lato" panose="020F0502020204030203" pitchFamily="34" charset="0"/>
                        </a:rPr>
                        <a:t> (sticky client).</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a:latin typeface="Lato" panose="020F0502020204030203" pitchFamily="34" charset="0"/>
                          <a:ea typeface="Lato" panose="020F0502020204030203" pitchFamily="34" charset="0"/>
                          <a:cs typeface="Lato" panose="020F0502020204030203" pitchFamily="34" charset="0"/>
                        </a:rPr>
                        <a:t>Rất tốt, hỗ trợ handover liền mạch như mạng di động.</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a:latin typeface="Lato" panose="020F0502020204030203" pitchFamily="34" charset="0"/>
                          <a:ea typeface="Lato" panose="020F0502020204030203" pitchFamily="34" charset="0"/>
                          <a:cs typeface="Lato" panose="020F0502020204030203" pitchFamily="34" charset="0"/>
                        </a:rPr>
                        <a:t>Rất tốt, được tối ưu cho di động.</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5010743"/>
                  </a:ext>
                </a:extLst>
              </a:tr>
              <a:tr h="559248">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Chi phí triển khai &amp; vận hành</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a:latin typeface="Lato" panose="020F0502020204030203" pitchFamily="34" charset="0"/>
                          <a:ea typeface="Lato" panose="020F0502020204030203" pitchFamily="34" charset="0"/>
                          <a:cs typeface="Lato" panose="020F0502020204030203" pitchFamily="34" charset="0"/>
                        </a:rPr>
                        <a:t>Thấp, dễ cài đặt, IT nội bộ quen thuộc.</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a:latin typeface="Lato" panose="020F0502020204030203" pitchFamily="34" charset="0"/>
                          <a:ea typeface="Lato" panose="020F0502020204030203" pitchFamily="34" charset="0"/>
                          <a:cs typeface="Lato" panose="020F0502020204030203" pitchFamily="34" charset="0"/>
                        </a:rPr>
                        <a:t>Cao hơn, cần đầu tư hạ tầng, quản lý riêng.</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a:latin typeface="Lato" panose="020F0502020204030203" pitchFamily="34" charset="0"/>
                          <a:ea typeface="Lato" panose="020F0502020204030203" pitchFamily="34" charset="0"/>
                          <a:cs typeface="Lato" panose="020F0502020204030203" pitchFamily="34" charset="0"/>
                        </a:rPr>
                        <a:t>Người dùng trả phí thuê bao, doanh nghiệp không kiểm soát trực tiếp hạ tầng.</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319236"/>
                  </a:ext>
                </a:extLst>
              </a:tr>
              <a:tr h="559248">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Quyền kiểm soát (Control)</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a:latin typeface="Lato" panose="020F0502020204030203" pitchFamily="34" charset="0"/>
                          <a:ea typeface="Lato" panose="020F0502020204030203" pitchFamily="34" charset="0"/>
                          <a:cs typeface="Lato" panose="020F0502020204030203" pitchFamily="34" charset="0"/>
                        </a:rPr>
                        <a:t>Toàn bộ do tổ chức quản lý nội bộ, nhưng khả năng điều khiển hạn chế.</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dirty="0" err="1">
                          <a:latin typeface="Lato" panose="020F0502020204030203" pitchFamily="34" charset="0"/>
                          <a:ea typeface="Lato" panose="020F0502020204030203" pitchFamily="34" charset="0"/>
                          <a:cs typeface="Lato" panose="020F0502020204030203" pitchFamily="34" charset="0"/>
                        </a:rPr>
                        <a:t>Kiểm</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soát</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hoàn</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toàn</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mạng</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dữ</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liệu</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chính</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sách</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truy</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cập</a:t>
                      </a:r>
                      <a:r>
                        <a:rPr lang="en-US" sz="1200" b="0" dirty="0">
                          <a:latin typeface="Lato" panose="020F0502020204030203" pitchFamily="34" charset="0"/>
                          <a:ea typeface="Lato" panose="020F0502020204030203" pitchFamily="34" charset="0"/>
                          <a:cs typeface="Lato" panose="020F0502020204030203" pitchFamily="34" charset="0"/>
                        </a:rPr>
                        <a:t>, QoS.</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a:latin typeface="Lato" panose="020F0502020204030203" pitchFamily="34" charset="0"/>
                          <a:ea typeface="Lato" panose="020F0502020204030203" pitchFamily="34" charset="0"/>
                          <a:cs typeface="Lato" panose="020F0502020204030203" pitchFamily="34" charset="0"/>
                        </a:rPr>
                        <a:t>Do nhà mạng kiểm soát; doanh nghiệp có ít khả năng tùy chỉnh.</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6209028"/>
                  </a:ext>
                </a:extLst>
              </a:tr>
              <a:tr h="559248">
                <a:tc>
                  <a:txBody>
                    <a:bodyPr/>
                    <a:lstStyle/>
                    <a:p>
                      <a:pPr>
                        <a:buNone/>
                      </a:pPr>
                      <a:r>
                        <a:rPr lang="en-US" sz="1200" b="1">
                          <a:latin typeface="Lato" panose="020F0502020204030203" pitchFamily="34" charset="0"/>
                          <a:ea typeface="Lato" panose="020F0502020204030203" pitchFamily="34" charset="0"/>
                          <a:cs typeface="Lato" panose="020F0502020204030203" pitchFamily="34" charset="0"/>
                        </a:rPr>
                        <a:t>Phù hợp cho</a:t>
                      </a:r>
                      <a:endParaRPr lang="en-US" sz="1200">
                        <a:latin typeface="Lato" panose="020F0502020204030203" pitchFamily="34" charset="0"/>
                        <a:ea typeface="Lato" panose="020F0502020204030203" pitchFamily="34" charset="0"/>
                        <a:cs typeface="Lato" panose="020F0502020204030203" pitchFamily="34" charset="0"/>
                      </a:endParaRP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a:latin typeface="Lato" panose="020F0502020204030203" pitchFamily="34" charset="0"/>
                          <a:ea typeface="Lato" panose="020F0502020204030203" pitchFamily="34" charset="0"/>
                          <a:cs typeface="Lato" panose="020F0502020204030203" pitchFamily="34" charset="0"/>
                        </a:rPr>
                        <a:t>Văn phòng, khu dân cư, không yêu cầu độ tin cậy cao.</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b="0" dirty="0" err="1">
                          <a:latin typeface="Lato" panose="020F0502020204030203" pitchFamily="34" charset="0"/>
                          <a:ea typeface="Lato" panose="020F0502020204030203" pitchFamily="34" charset="0"/>
                          <a:cs typeface="Lato" panose="020F0502020204030203" pitchFamily="34" charset="0"/>
                        </a:rPr>
                        <a:t>Nhà</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máy</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cảng</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bệnh</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viện</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cứu</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hộ</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quốc</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phòng</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yêu</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cầu</a:t>
                      </a:r>
                      <a:r>
                        <a:rPr lang="en-US" sz="1200" b="0" dirty="0">
                          <a:latin typeface="Lato" panose="020F0502020204030203" pitchFamily="34" charset="0"/>
                          <a:ea typeface="Lato" panose="020F0502020204030203" pitchFamily="34" charset="0"/>
                          <a:cs typeface="Lato" panose="020F0502020204030203" pitchFamily="34" charset="0"/>
                        </a:rPr>
                        <a:t> latency </a:t>
                      </a:r>
                      <a:r>
                        <a:rPr lang="en-US" sz="1200" b="0" dirty="0" err="1">
                          <a:latin typeface="Lato" panose="020F0502020204030203" pitchFamily="34" charset="0"/>
                          <a:ea typeface="Lato" panose="020F0502020204030203" pitchFamily="34" charset="0"/>
                          <a:cs typeface="Lato" panose="020F0502020204030203" pitchFamily="34" charset="0"/>
                        </a:rPr>
                        <a:t>thấp</a:t>
                      </a:r>
                      <a:r>
                        <a:rPr lang="en-US" sz="1200" b="0" dirty="0">
                          <a:latin typeface="Lato" panose="020F0502020204030203" pitchFamily="34" charset="0"/>
                          <a:ea typeface="Lato" panose="020F0502020204030203" pitchFamily="34" charset="0"/>
                          <a:cs typeface="Lato" panose="020F0502020204030203" pitchFamily="34" charset="0"/>
                        </a:rPr>
                        <a:t> &amp; </a:t>
                      </a:r>
                      <a:r>
                        <a:rPr lang="en-US" sz="1200" b="0" dirty="0" err="1">
                          <a:latin typeface="Lato" panose="020F0502020204030203" pitchFamily="34" charset="0"/>
                          <a:ea typeface="Lato" panose="020F0502020204030203" pitchFamily="34" charset="0"/>
                          <a:cs typeface="Lato" panose="020F0502020204030203" pitchFamily="34" charset="0"/>
                        </a:rPr>
                        <a:t>bảo</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mật</a:t>
                      </a:r>
                      <a:r>
                        <a:rPr lang="en-US" sz="1200" b="0" dirty="0">
                          <a:latin typeface="Lato" panose="020F0502020204030203" pitchFamily="34" charset="0"/>
                          <a:ea typeface="Lato" panose="020F0502020204030203" pitchFamily="34" charset="0"/>
                          <a:cs typeface="Lato" panose="020F0502020204030203" pitchFamily="34" charset="0"/>
                        </a:rPr>
                        <a:t> </a:t>
                      </a:r>
                      <a:r>
                        <a:rPr lang="en-US" sz="1200" b="0" dirty="0" err="1">
                          <a:latin typeface="Lato" panose="020F0502020204030203" pitchFamily="34" charset="0"/>
                          <a:ea typeface="Lato" panose="020F0502020204030203" pitchFamily="34" charset="0"/>
                          <a:cs typeface="Lato" panose="020F0502020204030203" pitchFamily="34" charset="0"/>
                        </a:rPr>
                        <a:t>cao</a:t>
                      </a:r>
                      <a:r>
                        <a:rPr lang="en-US" sz="1200" b="0" dirty="0">
                          <a:latin typeface="Lato" panose="020F0502020204030203" pitchFamily="34" charset="0"/>
                          <a:ea typeface="Lato" panose="020F0502020204030203" pitchFamily="34" charset="0"/>
                          <a:cs typeface="Lato" panose="020F0502020204030203" pitchFamily="34" charset="0"/>
                        </a:rPr>
                        <a:t>.</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vi-VN" sz="1200" b="0" dirty="0">
                          <a:latin typeface="Lato" panose="020F0502020204030203" pitchFamily="34" charset="0"/>
                          <a:ea typeface="Lato" panose="020F0502020204030203" pitchFamily="34" charset="0"/>
                          <a:cs typeface="Lato" panose="020F0502020204030203" pitchFamily="34" charset="0"/>
                        </a:rPr>
                        <a:t>Người dùng đại trà, dịch vụ công cộng, di động diện rộng.</a:t>
                      </a:r>
                    </a:p>
                  </a:txBody>
                  <a:tcPr marL="31995" marR="31995" marT="15998" marB="159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2639519"/>
                  </a:ext>
                </a:extLst>
              </a:tr>
            </a:tbl>
          </a:graphicData>
        </a:graphic>
      </p:graphicFrame>
      <p:sp>
        <p:nvSpPr>
          <p:cNvPr id="7" name="TextBox 6">
            <a:extLst>
              <a:ext uri="{FF2B5EF4-FFF2-40B4-BE49-F238E27FC236}">
                <a16:creationId xmlns:a16="http://schemas.microsoft.com/office/drawing/2014/main" id="{33BC6485-0D42-2250-E8BF-8C6AC0DD7A7D}"/>
              </a:ext>
            </a:extLst>
          </p:cNvPr>
          <p:cNvSpPr txBox="1"/>
          <p:nvPr/>
        </p:nvSpPr>
        <p:spPr>
          <a:xfrm>
            <a:off x="4175184" y="5898345"/>
            <a:ext cx="4813539" cy="276999"/>
          </a:xfrm>
          <a:prstGeom prst="rect">
            <a:avLst/>
          </a:prstGeom>
          <a:noFill/>
        </p:spPr>
        <p:txBody>
          <a:bodyPr wrap="square" rtlCol="0">
            <a:spAutoFit/>
          </a:bodyPr>
          <a:lstStyle/>
          <a:p>
            <a:r>
              <a:rPr lang="en-US" sz="1200" dirty="0"/>
              <a:t>Source: </a:t>
            </a:r>
            <a:r>
              <a:rPr lang="en-US" sz="1200" dirty="0">
                <a:hlinkClick r:id="rId2"/>
              </a:rPr>
              <a:t>Private Networks: 4G &amp; 5G Connectivity Explained - Ericsson</a:t>
            </a:r>
            <a:endParaRPr lang="en-US" sz="1200" dirty="0"/>
          </a:p>
        </p:txBody>
      </p:sp>
    </p:spTree>
    <p:extLst>
      <p:ext uri="{BB962C8B-B14F-4D97-AF65-F5344CB8AC3E}">
        <p14:creationId xmlns:p14="http://schemas.microsoft.com/office/powerpoint/2010/main" val="64084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4BABF-E536-B6F1-05D0-BAA183D322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61F788-7364-9FFF-2DD2-36F65C80A5A3}"/>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Title 2">
            <a:extLst>
              <a:ext uri="{FF2B5EF4-FFF2-40B4-BE49-F238E27FC236}">
                <a16:creationId xmlns:a16="http://schemas.microsoft.com/office/drawing/2014/main" id="{A8E63B9C-4A46-A275-ED82-978AEE0D9343}"/>
              </a:ext>
            </a:extLst>
          </p:cNvPr>
          <p:cNvSpPr>
            <a:spLocks noGrp="1"/>
          </p:cNvSpPr>
          <p:nvPr>
            <p:ph type="title"/>
          </p:nvPr>
        </p:nvSpPr>
        <p:spPr/>
        <p:txBody>
          <a:bodyPr/>
          <a:lstStyle/>
          <a:p>
            <a:r>
              <a:rPr lang="en-US" dirty="0"/>
              <a:t>3. </a:t>
            </a:r>
            <a:r>
              <a:rPr lang="en-US" dirty="0" err="1"/>
              <a:t>Kiến</a:t>
            </a:r>
            <a:r>
              <a:rPr lang="en-US" dirty="0"/>
              <a:t> </a:t>
            </a:r>
            <a:r>
              <a:rPr lang="en-US" dirty="0" err="1"/>
              <a:t>trúc</a:t>
            </a:r>
            <a:r>
              <a:rPr lang="en-US" dirty="0"/>
              <a:t> 5G SA</a:t>
            </a:r>
          </a:p>
        </p:txBody>
      </p:sp>
      <p:sp>
        <p:nvSpPr>
          <p:cNvPr id="8" name="TextBox 7">
            <a:extLst>
              <a:ext uri="{FF2B5EF4-FFF2-40B4-BE49-F238E27FC236}">
                <a16:creationId xmlns:a16="http://schemas.microsoft.com/office/drawing/2014/main" id="{26AAB617-2A02-0D21-CD0E-0EDEA32CCA83}"/>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17" name="Rectangle 16">
            <a:extLst>
              <a:ext uri="{FF2B5EF4-FFF2-40B4-BE49-F238E27FC236}">
                <a16:creationId xmlns:a16="http://schemas.microsoft.com/office/drawing/2014/main" id="{9163E4D5-E1CE-B2DF-6B37-6A9A25687139}"/>
              </a:ext>
            </a:extLst>
          </p:cNvPr>
          <p:cNvSpPr/>
          <p:nvPr/>
        </p:nvSpPr>
        <p:spPr>
          <a:xfrm>
            <a:off x="4168719" y="1954742"/>
            <a:ext cx="3640667" cy="2664497"/>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C6823C9-7019-59AB-E5D3-73D0353BF9FA}"/>
              </a:ext>
            </a:extLst>
          </p:cNvPr>
          <p:cNvSpPr txBox="1"/>
          <p:nvPr/>
        </p:nvSpPr>
        <p:spPr>
          <a:xfrm>
            <a:off x="4206383" y="1902994"/>
            <a:ext cx="1634067" cy="369332"/>
          </a:xfrm>
          <a:prstGeom prst="rect">
            <a:avLst/>
          </a:prstGeom>
          <a:noFill/>
        </p:spPr>
        <p:txBody>
          <a:bodyPr wrap="square" rtlCol="0">
            <a:spAutoFit/>
          </a:bodyPr>
          <a:lstStyle/>
          <a:p>
            <a:r>
              <a:rPr lang="en-US" dirty="0"/>
              <a:t>On-premise</a:t>
            </a:r>
          </a:p>
        </p:txBody>
      </p:sp>
      <p:sp>
        <p:nvSpPr>
          <p:cNvPr id="6" name="TextBox 5">
            <a:extLst>
              <a:ext uri="{FF2B5EF4-FFF2-40B4-BE49-F238E27FC236}">
                <a16:creationId xmlns:a16="http://schemas.microsoft.com/office/drawing/2014/main" id="{B4B469A5-D26B-CF5E-63CF-0506BB899DFF}"/>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11" name="Rectangle 1">
            <a:extLst>
              <a:ext uri="{FF2B5EF4-FFF2-40B4-BE49-F238E27FC236}">
                <a16:creationId xmlns:a16="http://schemas.microsoft.com/office/drawing/2014/main" id="{7A47104E-83AF-1B21-1074-55B3F42E9EE7}"/>
              </a:ext>
            </a:extLst>
          </p:cNvPr>
          <p:cNvSpPr>
            <a:spLocks noChangeArrowheads="1"/>
          </p:cNvSpPr>
          <p:nvPr/>
        </p:nvSpPr>
        <p:spPr bwMode="auto">
          <a:xfrm>
            <a:off x="6478625" y="997515"/>
            <a:ext cx="178334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100" dirty="0">
                <a:latin typeface="Arial" panose="020B0604020202020204" pitchFamily="34" charset="0"/>
              </a:rPr>
              <a:t>Control plane </a:t>
            </a:r>
          </a:p>
          <a:p>
            <a:pPr lvl="0" defTabSz="914400" eaLnBrk="0" fontAlgn="base" hangingPunct="0">
              <a:spcBef>
                <a:spcPct val="0"/>
              </a:spcBef>
              <a:spcAft>
                <a:spcPct val="0"/>
              </a:spcAft>
            </a:pPr>
            <a:r>
              <a:rPr lang="en-US" altLang="en-US" sz="1100" dirty="0">
                <a:latin typeface="Arial" panose="020B0604020202020204" pitchFamily="34" charset="0"/>
              </a:rPr>
              <a:t>User plane</a:t>
            </a:r>
          </a:p>
        </p:txBody>
      </p:sp>
      <p:cxnSp>
        <p:nvCxnSpPr>
          <p:cNvPr id="19" name="Straight Connector 18">
            <a:extLst>
              <a:ext uri="{FF2B5EF4-FFF2-40B4-BE49-F238E27FC236}">
                <a16:creationId xmlns:a16="http://schemas.microsoft.com/office/drawing/2014/main" id="{DD90DA1F-6641-C862-173B-3371FF285FC5}"/>
              </a:ext>
            </a:extLst>
          </p:cNvPr>
          <p:cNvCxnSpPr/>
          <p:nvPr/>
        </p:nvCxnSpPr>
        <p:spPr>
          <a:xfrm>
            <a:off x="7621265" y="1128371"/>
            <a:ext cx="870799" cy="0"/>
          </a:xfrm>
          <a:prstGeom prst="line">
            <a:avLst/>
          </a:prstGeom>
          <a:ln w="19050">
            <a:solidFill>
              <a:srgbClr val="0E0E0E"/>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4637249-AA6A-EDCD-E432-2257DC802609}"/>
              </a:ext>
            </a:extLst>
          </p:cNvPr>
          <p:cNvCxnSpPr/>
          <p:nvPr/>
        </p:nvCxnSpPr>
        <p:spPr>
          <a:xfrm>
            <a:off x="7621265" y="1332949"/>
            <a:ext cx="870799" cy="0"/>
          </a:xfrm>
          <a:prstGeom prst="line">
            <a:avLst/>
          </a:prstGeom>
          <a:ln w="19050">
            <a:solidFill>
              <a:srgbClr val="0E0E0E"/>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C82810F-B51A-1EB3-131E-DC897DD72807}"/>
              </a:ext>
            </a:extLst>
          </p:cNvPr>
          <p:cNvPicPr>
            <a:picLocks noChangeAspect="1"/>
          </p:cNvPicPr>
          <p:nvPr/>
        </p:nvPicPr>
        <p:blipFill>
          <a:blip r:embed="rId2"/>
          <a:srcRect l="34646" t="18034"/>
          <a:stretch>
            <a:fillRect/>
          </a:stretch>
        </p:blipFill>
        <p:spPr>
          <a:xfrm>
            <a:off x="470974" y="1428402"/>
            <a:ext cx="8496627" cy="4601258"/>
          </a:xfrm>
          <a:prstGeom prst="rect">
            <a:avLst/>
          </a:prstGeom>
        </p:spPr>
      </p:pic>
    </p:spTree>
    <p:extLst>
      <p:ext uri="{BB962C8B-B14F-4D97-AF65-F5344CB8AC3E}">
        <p14:creationId xmlns:p14="http://schemas.microsoft.com/office/powerpoint/2010/main" val="2871184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29056-2D30-A289-6765-CEA5C85076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F24BD6-C1DC-894D-BC3D-FAAB0BA2BFBB}"/>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2">
            <a:extLst>
              <a:ext uri="{FF2B5EF4-FFF2-40B4-BE49-F238E27FC236}">
                <a16:creationId xmlns:a16="http://schemas.microsoft.com/office/drawing/2014/main" id="{20F0F8C9-7D70-4489-3468-319F915FDFAE}"/>
              </a:ext>
            </a:extLst>
          </p:cNvPr>
          <p:cNvSpPr>
            <a:spLocks noGrp="1"/>
          </p:cNvSpPr>
          <p:nvPr>
            <p:ph type="title"/>
          </p:nvPr>
        </p:nvSpPr>
        <p:spPr/>
        <p:txBody>
          <a:bodyPr/>
          <a:lstStyle/>
          <a:p>
            <a:r>
              <a:rPr lang="en-US" dirty="0"/>
              <a:t>3. </a:t>
            </a:r>
            <a:r>
              <a:rPr lang="en-US" dirty="0" err="1"/>
              <a:t>Kiến</a:t>
            </a:r>
            <a:r>
              <a:rPr lang="en-US" dirty="0"/>
              <a:t> </a:t>
            </a:r>
            <a:r>
              <a:rPr lang="en-US" dirty="0" err="1"/>
              <a:t>trúc</a:t>
            </a:r>
            <a:r>
              <a:rPr lang="en-US" dirty="0"/>
              <a:t> 5G SA</a:t>
            </a:r>
          </a:p>
        </p:txBody>
      </p:sp>
      <p:sp>
        <p:nvSpPr>
          <p:cNvPr id="8" name="TextBox 7">
            <a:extLst>
              <a:ext uri="{FF2B5EF4-FFF2-40B4-BE49-F238E27FC236}">
                <a16:creationId xmlns:a16="http://schemas.microsoft.com/office/drawing/2014/main" id="{DDCF3DF2-B308-C332-DAD8-FC3E5F168F8A}"/>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CB52299E-7645-9BCF-FC0C-B7F506E56B6E}"/>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10" name="Rectangle 1">
            <a:extLst>
              <a:ext uri="{FF2B5EF4-FFF2-40B4-BE49-F238E27FC236}">
                <a16:creationId xmlns:a16="http://schemas.microsoft.com/office/drawing/2014/main" id="{B521658A-799E-9819-F2FB-9E7E89D2A537}"/>
              </a:ext>
            </a:extLst>
          </p:cNvPr>
          <p:cNvSpPr>
            <a:spLocks noChangeArrowheads="1"/>
          </p:cNvSpPr>
          <p:nvPr/>
        </p:nvSpPr>
        <p:spPr bwMode="auto">
          <a:xfrm>
            <a:off x="470974" y="791231"/>
            <a:ext cx="8202052"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b="1" dirty="0">
                <a:latin typeface="Arial" panose="020B0604020202020204" pitchFamily="34" charset="0"/>
              </a:rPr>
              <a:t>CÁC THÀNH PHẦN</a:t>
            </a:r>
            <a:endParaRPr lang="en-US" altLang="en-US" sz="1400" b="1" dirty="0">
              <a:latin typeface="Arial" panose="020B0604020202020204" pitchFamily="34" charset="0"/>
            </a:endParaRPr>
          </a:p>
          <a:p>
            <a:pPr marL="228600" lvl="0" indent="-228600" defTabSz="914400" eaLnBrk="0" fontAlgn="base" hangingPunct="0">
              <a:spcBef>
                <a:spcPct val="0"/>
              </a:spcBef>
              <a:spcAft>
                <a:spcPct val="0"/>
              </a:spcAft>
              <a:buAutoNum type="arabicPeriod"/>
            </a:pPr>
            <a:r>
              <a:rPr lang="en-US" altLang="en-US" sz="1400" b="1" dirty="0">
                <a:latin typeface="Arial" panose="020B0604020202020204" pitchFamily="34" charset="0"/>
              </a:rPr>
              <a:t>UE</a:t>
            </a:r>
          </a:p>
          <a:p>
            <a:pPr marL="171450" lvl="0" indent="-171450" defTabSz="914400" eaLnBrk="0" fontAlgn="base" hangingPunct="0">
              <a:spcBef>
                <a:spcPct val="0"/>
              </a:spcBef>
              <a:spcAft>
                <a:spcPct val="0"/>
              </a:spcAft>
              <a:buFontTx/>
              <a:buChar char="-"/>
            </a:pPr>
            <a:r>
              <a:rPr lang="en-US" altLang="en-US" sz="1400" dirty="0">
                <a:latin typeface="Arial" panose="020B0604020202020204" pitchFamily="34" charset="0"/>
              </a:rPr>
              <a:t>Trong </a:t>
            </a:r>
            <a:r>
              <a:rPr lang="en-US" altLang="en-US" sz="1400" dirty="0" err="1">
                <a:latin typeface="Arial" panose="020B0604020202020204" pitchFamily="34" charset="0"/>
              </a:rPr>
              <a:t>cứu</a:t>
            </a:r>
            <a:r>
              <a:rPr lang="en-US" altLang="en-US" sz="1400" dirty="0">
                <a:latin typeface="Arial" panose="020B0604020202020204" pitchFamily="34" charset="0"/>
              </a:rPr>
              <a:t> </a:t>
            </a:r>
            <a:r>
              <a:rPr lang="en-US" altLang="en-US" sz="1400" dirty="0" err="1">
                <a:latin typeface="Arial" panose="020B0604020202020204" pitchFamily="34" charset="0"/>
              </a:rPr>
              <a:t>hộ</a:t>
            </a:r>
            <a:r>
              <a:rPr lang="en-US" altLang="en-US" sz="1400" dirty="0">
                <a:latin typeface="Arial" panose="020B0604020202020204" pitchFamily="34" charset="0"/>
              </a:rPr>
              <a:t>, UE </a:t>
            </a:r>
            <a:r>
              <a:rPr lang="en-US" altLang="en-US" sz="1400" dirty="0" err="1">
                <a:latin typeface="Arial" panose="020B0604020202020204" pitchFamily="34" charset="0"/>
              </a:rPr>
              <a:t>có</a:t>
            </a:r>
            <a:r>
              <a:rPr lang="en-US" altLang="en-US" sz="1400" dirty="0">
                <a:latin typeface="Arial" panose="020B0604020202020204" pitchFamily="34" charset="0"/>
              </a:rPr>
              <a:t> </a:t>
            </a:r>
            <a:r>
              <a:rPr lang="en-US" altLang="en-US" sz="1400" dirty="0" err="1">
                <a:latin typeface="Arial" panose="020B0604020202020204" pitchFamily="34" charset="0"/>
              </a:rPr>
              <a:t>thể</a:t>
            </a:r>
            <a:r>
              <a:rPr lang="en-US" altLang="en-US" sz="1400" dirty="0">
                <a:latin typeface="Arial" panose="020B0604020202020204" pitchFamily="34" charset="0"/>
              </a:rPr>
              <a:t> bao </a:t>
            </a:r>
            <a:r>
              <a:rPr lang="en-US" altLang="en-US" sz="1400" dirty="0" err="1">
                <a:latin typeface="Arial" panose="020B0604020202020204" pitchFamily="34" charset="0"/>
              </a:rPr>
              <a:t>gồm</a:t>
            </a:r>
            <a:r>
              <a:rPr lang="en-US" altLang="en-US" sz="1400" dirty="0">
                <a:latin typeface="Arial" panose="020B0604020202020204" pitchFamily="34" charset="0"/>
              </a:rPr>
              <a:t> Drone, Camera, Sensor, …</a:t>
            </a:r>
          </a:p>
          <a:p>
            <a:pPr lvl="0" defTabSz="914400" eaLnBrk="0" fontAlgn="base" hangingPunct="0">
              <a:spcBef>
                <a:spcPct val="0"/>
              </a:spcBef>
              <a:spcAft>
                <a:spcPct val="0"/>
              </a:spcAft>
            </a:pPr>
            <a:r>
              <a:rPr lang="en-US" altLang="en-US" sz="1400" b="1" dirty="0">
                <a:latin typeface="Arial" panose="020B0604020202020204" pitchFamily="34" charset="0"/>
              </a:rPr>
              <a:t>2. RAN (</a:t>
            </a:r>
            <a:r>
              <a:rPr lang="en-US" altLang="en-US" sz="1400" b="1" dirty="0" err="1">
                <a:latin typeface="Arial" panose="020B0604020202020204" pitchFamily="34" charset="0"/>
              </a:rPr>
              <a:t>gNB</a:t>
            </a:r>
            <a:r>
              <a:rPr lang="en-US" altLang="en-US" sz="1400" b="1" dirty="0">
                <a:latin typeface="Arial" panose="020B0604020202020204" pitchFamily="34" charset="0"/>
              </a:rPr>
              <a:t>)</a:t>
            </a:r>
          </a:p>
          <a:p>
            <a:pPr marL="171450" lvl="0" indent="-171450" defTabSz="914400" eaLnBrk="0" fontAlgn="base" hangingPunct="0">
              <a:spcBef>
                <a:spcPct val="0"/>
              </a:spcBef>
              <a:spcAft>
                <a:spcPct val="0"/>
              </a:spcAft>
              <a:buFontTx/>
              <a:buChar char="-"/>
            </a:pPr>
            <a:r>
              <a:rPr lang="en-US" altLang="en-US" sz="1400" dirty="0" err="1">
                <a:latin typeface="Arial" panose="020B0604020202020204" pitchFamily="34" charset="0"/>
              </a:rPr>
              <a:t>Trạm</a:t>
            </a:r>
            <a:r>
              <a:rPr lang="en-US" altLang="en-US" sz="1400" dirty="0">
                <a:latin typeface="Arial" panose="020B0604020202020204" pitchFamily="34" charset="0"/>
              </a:rPr>
              <a:t> </a:t>
            </a:r>
            <a:r>
              <a:rPr lang="en-US" altLang="en-US" sz="1400" dirty="0" err="1">
                <a:latin typeface="Arial" panose="020B0604020202020204" pitchFamily="34" charset="0"/>
              </a:rPr>
              <a:t>thu</a:t>
            </a:r>
            <a:r>
              <a:rPr lang="en-US" altLang="en-US" sz="1400" dirty="0">
                <a:latin typeface="Arial" panose="020B0604020202020204" pitchFamily="34" charset="0"/>
              </a:rPr>
              <a:t> </a:t>
            </a:r>
            <a:r>
              <a:rPr lang="en-US" altLang="en-US" sz="1400" dirty="0" err="1">
                <a:latin typeface="Arial" panose="020B0604020202020204" pitchFamily="34" charset="0"/>
              </a:rPr>
              <a:t>phát</a:t>
            </a:r>
            <a:r>
              <a:rPr lang="en-US" altLang="en-US" sz="1400" dirty="0">
                <a:latin typeface="Arial" panose="020B0604020202020204" pitchFamily="34" charset="0"/>
              </a:rPr>
              <a:t> </a:t>
            </a:r>
            <a:r>
              <a:rPr lang="en-US" altLang="en-US" sz="1400" dirty="0" err="1">
                <a:latin typeface="Arial" panose="020B0604020202020204" pitchFamily="34" charset="0"/>
              </a:rPr>
              <a:t>sóng</a:t>
            </a:r>
            <a:r>
              <a:rPr lang="en-US" altLang="en-US" sz="1400" dirty="0">
                <a:latin typeface="Arial" panose="020B0604020202020204" pitchFamily="34" charset="0"/>
              </a:rPr>
              <a:t> 5G</a:t>
            </a:r>
          </a:p>
          <a:p>
            <a:pPr marL="171450" lvl="0" indent="-171450" defTabSz="914400" eaLnBrk="0" fontAlgn="base" hangingPunct="0">
              <a:spcBef>
                <a:spcPct val="0"/>
              </a:spcBef>
              <a:spcAft>
                <a:spcPct val="0"/>
              </a:spcAft>
              <a:buFontTx/>
              <a:buChar char="-"/>
            </a:pPr>
            <a:r>
              <a:rPr lang="en-US" altLang="en-US" sz="1400" dirty="0">
                <a:latin typeface="Arial" panose="020B0604020202020204" pitchFamily="34" charset="0"/>
              </a:rPr>
              <a:t>Coverage: bang </a:t>
            </a:r>
            <a:r>
              <a:rPr lang="en-US" altLang="en-US" sz="1400" dirty="0" err="1">
                <a:latin typeface="Arial" panose="020B0604020202020204" pitchFamily="34" charset="0"/>
              </a:rPr>
              <a:t>tần</a:t>
            </a:r>
            <a:r>
              <a:rPr lang="en-US" altLang="en-US" sz="1400" dirty="0">
                <a:latin typeface="Arial" panose="020B0604020202020204" pitchFamily="34" charset="0"/>
              </a:rPr>
              <a:t> </a:t>
            </a:r>
            <a:r>
              <a:rPr lang="en-US" altLang="en-US" sz="1400" dirty="0" err="1">
                <a:latin typeface="Arial" panose="020B0604020202020204" pitchFamily="34" charset="0"/>
              </a:rPr>
              <a:t>thấp</a:t>
            </a:r>
            <a:r>
              <a:rPr lang="en-US" altLang="en-US" sz="1400" dirty="0">
                <a:latin typeface="Arial" panose="020B0604020202020204" pitchFamily="34" charset="0"/>
              </a:rPr>
              <a:t> 700MHx (n28) </a:t>
            </a:r>
            <a:r>
              <a:rPr lang="en-US" altLang="en-US" sz="1400" dirty="0" err="1">
                <a:latin typeface="Arial" panose="020B0604020202020204" pitchFamily="34" charset="0"/>
              </a:rPr>
              <a:t>để</a:t>
            </a:r>
            <a:r>
              <a:rPr lang="en-US" altLang="en-US" sz="1400" dirty="0">
                <a:latin typeface="Arial" panose="020B0604020202020204" pitchFamily="34" charset="0"/>
              </a:rPr>
              <a:t> </a:t>
            </a:r>
            <a:r>
              <a:rPr lang="en-US" altLang="en-US" sz="1400" dirty="0" err="1">
                <a:latin typeface="Arial" panose="020B0604020202020204" pitchFamily="34" charset="0"/>
              </a:rPr>
              <a:t>sóng</a:t>
            </a:r>
            <a:r>
              <a:rPr lang="en-US" altLang="en-US" sz="1400" dirty="0">
                <a:latin typeface="Arial" panose="020B0604020202020204" pitchFamily="34" charset="0"/>
              </a:rPr>
              <a:t> </a:t>
            </a:r>
            <a:r>
              <a:rPr lang="en-US" altLang="en-US" sz="1400" dirty="0" err="1">
                <a:latin typeface="Arial" panose="020B0604020202020204" pitchFamily="34" charset="0"/>
              </a:rPr>
              <a:t>có</a:t>
            </a:r>
            <a:r>
              <a:rPr lang="en-US" altLang="en-US" sz="1400" dirty="0">
                <a:latin typeface="Arial" panose="020B0604020202020204" pitchFamily="34" charset="0"/>
              </a:rPr>
              <a:t> </a:t>
            </a:r>
            <a:r>
              <a:rPr lang="en-US" altLang="en-US" sz="1400" dirty="0" err="1">
                <a:latin typeface="Arial" panose="020B0604020202020204" pitchFamily="34" charset="0"/>
              </a:rPr>
              <a:t>thể</a:t>
            </a:r>
            <a:r>
              <a:rPr lang="en-US" altLang="en-US" sz="1400" dirty="0">
                <a:latin typeface="Arial" panose="020B0604020202020204" pitchFamily="34" charset="0"/>
              </a:rPr>
              <a:t> </a:t>
            </a:r>
            <a:r>
              <a:rPr lang="en-US" altLang="en-US" sz="1400" dirty="0" err="1">
                <a:latin typeface="Arial" panose="020B0604020202020204" pitchFamily="34" charset="0"/>
              </a:rPr>
              <a:t>xuyên</a:t>
            </a:r>
            <a:r>
              <a:rPr lang="en-US" altLang="en-US" sz="1400" dirty="0">
                <a:latin typeface="Arial" panose="020B0604020202020204" pitchFamily="34" charset="0"/>
              </a:rPr>
              <a:t> qua </a:t>
            </a:r>
            <a:r>
              <a:rPr lang="en-US" altLang="en-US" sz="1400" dirty="0" err="1">
                <a:latin typeface="Arial" panose="020B0604020202020204" pitchFamily="34" charset="0"/>
              </a:rPr>
              <a:t>bê</a:t>
            </a:r>
            <a:r>
              <a:rPr lang="en-US" altLang="en-US" sz="1400" dirty="0">
                <a:latin typeface="Arial" panose="020B0604020202020204" pitchFamily="34" charset="0"/>
              </a:rPr>
              <a:t> </a:t>
            </a:r>
            <a:r>
              <a:rPr lang="en-US" altLang="en-US" sz="1400" dirty="0" err="1">
                <a:latin typeface="Arial" panose="020B0604020202020204" pitchFamily="34" charset="0"/>
              </a:rPr>
              <a:t>tông</a:t>
            </a:r>
            <a:endParaRPr lang="en-US" altLang="en-US" sz="1400" dirty="0">
              <a:latin typeface="Arial" panose="020B0604020202020204" pitchFamily="34" charset="0"/>
            </a:endParaRPr>
          </a:p>
          <a:p>
            <a:pPr marL="171450" lvl="0" indent="-171450" defTabSz="914400" eaLnBrk="0" fontAlgn="base" hangingPunct="0">
              <a:spcBef>
                <a:spcPct val="0"/>
              </a:spcBef>
              <a:spcAft>
                <a:spcPct val="0"/>
              </a:spcAft>
              <a:buFontTx/>
              <a:buChar char="-"/>
            </a:pPr>
            <a:r>
              <a:rPr lang="en-US" altLang="en-US" sz="1400" dirty="0">
                <a:latin typeface="Arial" panose="020B0604020202020204" pitchFamily="34" charset="0"/>
              </a:rPr>
              <a:t>Capacity: 3.5GHz-4.8Hz (n77/n78)</a:t>
            </a:r>
          </a:p>
          <a:p>
            <a:pPr marL="171450" lvl="0" indent="-171450" defTabSz="914400" eaLnBrk="0" fontAlgn="base" hangingPunct="0">
              <a:spcBef>
                <a:spcPct val="0"/>
              </a:spcBef>
              <a:spcAft>
                <a:spcPct val="0"/>
              </a:spcAft>
              <a:buFontTx/>
              <a:buChar char="-"/>
            </a:pPr>
            <a:r>
              <a:rPr lang="en-US" altLang="en-US" sz="1400" dirty="0">
                <a:latin typeface="Arial" panose="020B0604020202020204" pitchFamily="34" charset="0"/>
              </a:rPr>
              <a:t>Tx Power: 250mW – 5W</a:t>
            </a:r>
          </a:p>
          <a:p>
            <a:pPr marL="171450" lvl="0" indent="-171450" defTabSz="914400" eaLnBrk="0" fontAlgn="base" hangingPunct="0">
              <a:spcBef>
                <a:spcPct val="0"/>
              </a:spcBef>
              <a:spcAft>
                <a:spcPct val="0"/>
              </a:spcAft>
              <a:buFontTx/>
              <a:buChar char="-"/>
            </a:pPr>
            <a:r>
              <a:rPr lang="en-US" altLang="en-US" sz="1400" dirty="0">
                <a:latin typeface="Arial" panose="020B0604020202020204" pitchFamily="34" charset="0"/>
              </a:rPr>
              <a:t>Sensitivity: -100dBm –&gt; -104 dBm</a:t>
            </a:r>
          </a:p>
          <a:p>
            <a:pPr lvl="0" defTabSz="914400" eaLnBrk="0" fontAlgn="base" hangingPunct="0">
              <a:spcBef>
                <a:spcPct val="0"/>
              </a:spcBef>
              <a:spcAft>
                <a:spcPct val="0"/>
              </a:spcAft>
            </a:pPr>
            <a:endParaRPr lang="en-US" altLang="en-US" sz="1400" dirty="0">
              <a:latin typeface="Arial" panose="020B0604020202020204" pitchFamily="34" charset="0"/>
            </a:endParaRPr>
          </a:p>
          <a:p>
            <a:pPr lvl="0" defTabSz="914400" eaLnBrk="0" fontAlgn="base" hangingPunct="0">
              <a:spcBef>
                <a:spcPct val="0"/>
              </a:spcBef>
              <a:spcAft>
                <a:spcPct val="0"/>
              </a:spcAft>
            </a:pPr>
            <a:r>
              <a:rPr lang="en-US" altLang="en-US" b="1" dirty="0">
                <a:latin typeface="Arial" panose="020B0604020202020204" pitchFamily="34" charset="0"/>
              </a:rPr>
              <a:t>INTERFACE</a:t>
            </a:r>
          </a:p>
          <a:p>
            <a:pPr lvl="0" defTabSz="914400" eaLnBrk="0" fontAlgn="base" hangingPunct="0">
              <a:spcBef>
                <a:spcPct val="0"/>
              </a:spcBef>
              <a:spcAft>
                <a:spcPct val="0"/>
              </a:spcAft>
            </a:pPr>
            <a:endParaRPr lang="en-US" altLang="en-US" sz="1400" b="1" dirty="0">
              <a:latin typeface="Arial" panose="020B0604020202020204" pitchFamily="34" charset="0"/>
            </a:endParaRPr>
          </a:p>
          <a:p>
            <a:pPr marL="228600" lvl="0" indent="-228600" defTabSz="914400" eaLnBrk="0" fontAlgn="base" hangingPunct="0">
              <a:spcBef>
                <a:spcPct val="0"/>
              </a:spcBef>
              <a:spcAft>
                <a:spcPct val="0"/>
              </a:spcAft>
              <a:buAutoNum type="arabicPeriod"/>
            </a:pPr>
            <a:r>
              <a:rPr lang="en-US" altLang="en-US" sz="1400" b="1" dirty="0">
                <a:latin typeface="Arial" panose="020B0604020202020204" pitchFamily="34" charset="0"/>
              </a:rPr>
              <a:t>N1(NAS - Non-Access Stratum): </a:t>
            </a:r>
            <a:r>
              <a:rPr lang="en-US" altLang="en-US" sz="1400" dirty="0" err="1">
                <a:latin typeface="Arial" panose="020B0604020202020204" pitchFamily="34" charset="0"/>
              </a:rPr>
              <a:t>Đây</a:t>
            </a:r>
            <a:r>
              <a:rPr lang="en-US" altLang="en-US" sz="1400" dirty="0">
                <a:latin typeface="Arial" panose="020B0604020202020204" pitchFamily="34" charset="0"/>
              </a:rPr>
              <a:t> </a:t>
            </a:r>
            <a:r>
              <a:rPr lang="en-US" altLang="en-US" sz="1400" dirty="0" err="1">
                <a:latin typeface="Arial" panose="020B0604020202020204" pitchFamily="34" charset="0"/>
              </a:rPr>
              <a:t>là</a:t>
            </a:r>
            <a:r>
              <a:rPr lang="en-US" altLang="en-US" sz="1400" dirty="0">
                <a:latin typeface="Arial" panose="020B0604020202020204" pitchFamily="34" charset="0"/>
              </a:rPr>
              <a:t> </a:t>
            </a:r>
            <a:r>
              <a:rPr lang="en-US" altLang="en-US" sz="1400" dirty="0" err="1">
                <a:latin typeface="Arial" panose="020B0604020202020204" pitchFamily="34" charset="0"/>
              </a:rPr>
              <a:t>giao</a:t>
            </a:r>
            <a:r>
              <a:rPr lang="en-US" altLang="en-US" sz="1400" dirty="0">
                <a:latin typeface="Arial" panose="020B0604020202020204" pitchFamily="34" charset="0"/>
              </a:rPr>
              <a:t> </a:t>
            </a:r>
            <a:r>
              <a:rPr lang="en-US" altLang="en-US" sz="1400" dirty="0" err="1">
                <a:latin typeface="Arial" panose="020B0604020202020204" pitchFamily="34" charset="0"/>
              </a:rPr>
              <a:t>thức</a:t>
            </a:r>
            <a:r>
              <a:rPr lang="en-US" altLang="en-US" sz="1400" dirty="0">
                <a:latin typeface="Arial" panose="020B0604020202020204" pitchFamily="34" charset="0"/>
              </a:rPr>
              <a:t> </a:t>
            </a:r>
            <a:r>
              <a:rPr lang="en-US" altLang="en-US" sz="1400" dirty="0" err="1">
                <a:latin typeface="Arial" panose="020B0604020202020204" pitchFamily="34" charset="0"/>
              </a:rPr>
              <a:t>báo</a:t>
            </a:r>
            <a:r>
              <a:rPr lang="en-US" altLang="en-US" sz="1400" dirty="0">
                <a:latin typeface="Arial" panose="020B0604020202020204" pitchFamily="34" charset="0"/>
              </a:rPr>
              <a:t> </a:t>
            </a:r>
            <a:r>
              <a:rPr lang="en-US" altLang="en-US" sz="1400" dirty="0" err="1">
                <a:latin typeface="Arial" panose="020B0604020202020204" pitchFamily="34" charset="0"/>
              </a:rPr>
              <a:t>hiệu</a:t>
            </a:r>
            <a:r>
              <a:rPr lang="en-US" altLang="en-US" sz="1400" dirty="0">
                <a:latin typeface="Arial" panose="020B0604020202020204" pitchFamily="34" charset="0"/>
              </a:rPr>
              <a:t> </a:t>
            </a:r>
            <a:r>
              <a:rPr lang="en-US" altLang="en-US" sz="1400" dirty="0" err="1">
                <a:latin typeface="Arial" panose="020B0604020202020204" pitchFamily="34" charset="0"/>
              </a:rPr>
              <a:t>trực</a:t>
            </a:r>
            <a:r>
              <a:rPr lang="en-US" altLang="en-US" sz="1400" dirty="0">
                <a:latin typeface="Arial" panose="020B0604020202020204" pitchFamily="34" charset="0"/>
              </a:rPr>
              <a:t> </a:t>
            </a:r>
            <a:r>
              <a:rPr lang="en-US" altLang="en-US" sz="1400" dirty="0" err="1">
                <a:latin typeface="Arial" panose="020B0604020202020204" pitchFamily="34" charset="0"/>
              </a:rPr>
              <a:t>tiếp</a:t>
            </a:r>
            <a:r>
              <a:rPr lang="en-US" altLang="en-US" sz="1400" dirty="0">
                <a:latin typeface="Arial" panose="020B0604020202020204" pitchFamily="34" charset="0"/>
              </a:rPr>
              <a:t> </a:t>
            </a:r>
            <a:r>
              <a:rPr lang="en-US" altLang="en-US" sz="1400" dirty="0" err="1">
                <a:latin typeface="Arial" panose="020B0604020202020204" pitchFamily="34" charset="0"/>
              </a:rPr>
              <a:t>giữa</a:t>
            </a:r>
            <a:r>
              <a:rPr lang="en-US" altLang="en-US" sz="1400" dirty="0">
                <a:latin typeface="Arial" panose="020B0604020202020204" pitchFamily="34" charset="0"/>
              </a:rPr>
              <a:t> UE </a:t>
            </a:r>
            <a:r>
              <a:rPr lang="en-US" altLang="en-US" sz="1400" dirty="0" err="1">
                <a:latin typeface="Arial" panose="020B0604020202020204" pitchFamily="34" charset="0"/>
              </a:rPr>
              <a:t>và</a:t>
            </a:r>
            <a:r>
              <a:rPr lang="en-US" altLang="en-US" sz="1400" dirty="0">
                <a:latin typeface="Arial" panose="020B0604020202020204" pitchFamily="34" charset="0"/>
              </a:rPr>
              <a:t> AMF (</a:t>
            </a:r>
            <a:r>
              <a:rPr lang="en-US" altLang="en-US" sz="1400" dirty="0" err="1">
                <a:latin typeface="Arial" panose="020B0604020202020204" pitchFamily="34" charset="0"/>
              </a:rPr>
              <a:t>xuyên</a:t>
            </a:r>
            <a:r>
              <a:rPr lang="en-US" altLang="en-US" sz="1400" dirty="0">
                <a:latin typeface="Arial" panose="020B0604020202020204" pitchFamily="34" charset="0"/>
              </a:rPr>
              <a:t> qua </a:t>
            </a:r>
            <a:r>
              <a:rPr lang="en-US" altLang="en-US" sz="1400" dirty="0" err="1">
                <a:latin typeface="Arial" panose="020B0604020202020204" pitchFamily="34" charset="0"/>
              </a:rPr>
              <a:t>trạm</a:t>
            </a:r>
            <a:r>
              <a:rPr lang="en-US" altLang="en-US" sz="1400" dirty="0">
                <a:latin typeface="Arial" panose="020B0604020202020204" pitchFamily="34" charset="0"/>
              </a:rPr>
              <a:t> </a:t>
            </a:r>
            <a:r>
              <a:rPr lang="en-US" altLang="en-US" sz="1400" dirty="0" err="1">
                <a:latin typeface="Arial" panose="020B0604020202020204" pitchFamily="34" charset="0"/>
              </a:rPr>
              <a:t>phát</a:t>
            </a:r>
            <a:r>
              <a:rPr lang="en-US" altLang="en-US" sz="1400" dirty="0">
                <a:latin typeface="Arial" panose="020B0604020202020204" pitchFamily="34" charset="0"/>
              </a:rPr>
              <a:t> </a:t>
            </a:r>
            <a:r>
              <a:rPr lang="en-US" altLang="en-US" sz="1400" dirty="0" err="1">
                <a:latin typeface="Arial" panose="020B0604020202020204" pitchFamily="34" charset="0"/>
              </a:rPr>
              <a:t>sóng</a:t>
            </a:r>
            <a:r>
              <a:rPr lang="en-US" altLang="en-US" sz="1400" dirty="0">
                <a:latin typeface="Arial" panose="020B0604020202020204" pitchFamily="34" charset="0"/>
              </a:rPr>
              <a:t>)</a:t>
            </a:r>
          </a:p>
          <a:p>
            <a:pPr marL="228600" lvl="0" indent="-228600" defTabSz="914400" eaLnBrk="0" fontAlgn="base" hangingPunct="0">
              <a:spcBef>
                <a:spcPct val="0"/>
              </a:spcBef>
              <a:spcAft>
                <a:spcPct val="0"/>
              </a:spcAft>
              <a:buAutoNum type="arabicPeriod"/>
            </a:pPr>
            <a:r>
              <a:rPr lang="en-US" altLang="en-US" sz="1400" b="1" dirty="0">
                <a:latin typeface="Arial" panose="020B0604020202020204" pitchFamily="34" charset="0"/>
              </a:rPr>
              <a:t>N2 (NGAP): </a:t>
            </a:r>
            <a:r>
              <a:rPr lang="en-US" altLang="en-US" sz="1400" dirty="0" err="1">
                <a:latin typeface="Arial" panose="020B0604020202020204" pitchFamily="34" charset="0"/>
              </a:rPr>
              <a:t>Kết</a:t>
            </a:r>
            <a:r>
              <a:rPr lang="en-US" altLang="en-US" sz="1400" dirty="0">
                <a:latin typeface="Arial" panose="020B0604020202020204" pitchFamily="34" charset="0"/>
              </a:rPr>
              <a:t> </a:t>
            </a:r>
            <a:r>
              <a:rPr lang="en-US" altLang="en-US" sz="1400" dirty="0" err="1">
                <a:latin typeface="Arial" panose="020B0604020202020204" pitchFamily="34" charset="0"/>
              </a:rPr>
              <a:t>nối</a:t>
            </a:r>
            <a:r>
              <a:rPr lang="en-US" altLang="en-US" sz="1400" dirty="0">
                <a:latin typeface="Arial" panose="020B0604020202020204" pitchFamily="34" charset="0"/>
              </a:rPr>
              <a:t> </a:t>
            </a:r>
            <a:r>
              <a:rPr lang="en-US" altLang="en-US" sz="1400" dirty="0" err="1">
                <a:latin typeface="Arial" panose="020B0604020202020204" pitchFamily="34" charset="0"/>
              </a:rPr>
              <a:t>báo</a:t>
            </a:r>
            <a:r>
              <a:rPr lang="en-US" altLang="en-US" sz="1400" dirty="0">
                <a:latin typeface="Arial" panose="020B0604020202020204" pitchFamily="34" charset="0"/>
              </a:rPr>
              <a:t> </a:t>
            </a:r>
            <a:r>
              <a:rPr lang="en-US" altLang="en-US" sz="1400" dirty="0" err="1">
                <a:latin typeface="Arial" panose="020B0604020202020204" pitchFamily="34" charset="0"/>
              </a:rPr>
              <a:t>hiệu</a:t>
            </a:r>
            <a:r>
              <a:rPr lang="en-US" altLang="en-US" sz="1400" dirty="0">
                <a:latin typeface="Arial" panose="020B0604020202020204" pitchFamily="34" charset="0"/>
              </a:rPr>
              <a:t> tin </a:t>
            </a:r>
            <a:r>
              <a:rPr lang="en-US" altLang="en-US" sz="1400" dirty="0" err="1">
                <a:latin typeface="Arial" panose="020B0604020202020204" pitchFamily="34" charset="0"/>
              </a:rPr>
              <a:t>cậy</a:t>
            </a:r>
            <a:r>
              <a:rPr lang="en-US" altLang="en-US" sz="1400" dirty="0">
                <a:latin typeface="Arial" panose="020B0604020202020204" pitchFamily="34" charset="0"/>
              </a:rPr>
              <a:t> (SCTP) </a:t>
            </a:r>
            <a:r>
              <a:rPr lang="en-US" altLang="en-US" sz="1400" dirty="0" err="1">
                <a:latin typeface="Arial" panose="020B0604020202020204" pitchFamily="34" charset="0"/>
              </a:rPr>
              <a:t>về</a:t>
            </a:r>
            <a:r>
              <a:rPr lang="en-US" altLang="en-US" sz="1400" dirty="0">
                <a:latin typeface="Arial" panose="020B0604020202020204" pitchFamily="34" charset="0"/>
              </a:rPr>
              <a:t> AMF.</a:t>
            </a:r>
          </a:p>
          <a:p>
            <a:pPr marL="228600" lvl="0" indent="-228600" defTabSz="914400" eaLnBrk="0" fontAlgn="base" hangingPunct="0">
              <a:spcBef>
                <a:spcPct val="0"/>
              </a:spcBef>
              <a:spcAft>
                <a:spcPct val="0"/>
              </a:spcAft>
              <a:buAutoNum type="arabicPeriod"/>
            </a:pPr>
            <a:r>
              <a:rPr lang="vi-VN" altLang="en-US" sz="1400" b="1" dirty="0"/>
              <a:t>N3 (GTP-U): </a:t>
            </a:r>
            <a:r>
              <a:rPr lang="vi-VN" altLang="en-US" sz="1400" dirty="0"/>
              <a:t>Đường hầm (Tunnel) truyền dữ liệu người dùng về UPF.</a:t>
            </a:r>
            <a:endParaRPr lang="en-US" altLang="en-US" sz="1400" dirty="0">
              <a:latin typeface="Arial" panose="020B0604020202020204" pitchFamily="34" charset="0"/>
            </a:endParaRPr>
          </a:p>
          <a:p>
            <a:pPr marL="171450" lvl="0" indent="-171450" defTabSz="914400" eaLnBrk="0" fontAlgn="base" hangingPunct="0">
              <a:spcBef>
                <a:spcPct val="0"/>
              </a:spcBef>
              <a:spcAft>
                <a:spcPct val="0"/>
              </a:spcAft>
              <a:buFont typeface="Arial" panose="020B0604020202020204" pitchFamily="34" charset="0"/>
              <a:buChar char="•"/>
            </a:pPr>
            <a:r>
              <a:rPr lang="vi-VN" altLang="en-US" sz="1400" dirty="0"/>
              <a:t>N11:</a:t>
            </a:r>
            <a:r>
              <a:rPr lang="en-US" altLang="en-US" sz="1400" dirty="0">
                <a:latin typeface="Arial" panose="020B0604020202020204" pitchFamily="34" charset="0"/>
              </a:rPr>
              <a:t> </a:t>
            </a:r>
            <a:r>
              <a:rPr lang="en-US" altLang="en-US" sz="1400" dirty="0" err="1">
                <a:latin typeface="Arial" panose="020B0604020202020204" pitchFamily="34" charset="0"/>
              </a:rPr>
              <a:t>giao</a:t>
            </a:r>
            <a:r>
              <a:rPr lang="en-US" altLang="en-US" sz="1400" dirty="0">
                <a:latin typeface="Arial" panose="020B0604020202020204" pitchFamily="34" charset="0"/>
              </a:rPr>
              <a:t> </a:t>
            </a:r>
            <a:r>
              <a:rPr lang="en-US" altLang="en-US" sz="1400" dirty="0" err="1">
                <a:latin typeface="Arial" panose="020B0604020202020204" pitchFamily="34" charset="0"/>
              </a:rPr>
              <a:t>diện</a:t>
            </a:r>
            <a:r>
              <a:rPr lang="en-US" altLang="en-US" sz="1400" dirty="0">
                <a:latin typeface="Arial" panose="020B0604020202020204" pitchFamily="34" charset="0"/>
              </a:rPr>
              <a:t> </a:t>
            </a:r>
            <a:r>
              <a:rPr lang="en-US" altLang="en-US" sz="1400" dirty="0" err="1">
                <a:latin typeface="Arial" panose="020B0604020202020204" pitchFamily="34" charset="0"/>
              </a:rPr>
              <a:t>giữa</a:t>
            </a:r>
            <a:r>
              <a:rPr lang="en-US" altLang="en-US" sz="1400" dirty="0">
                <a:latin typeface="Arial" panose="020B0604020202020204" pitchFamily="34" charset="0"/>
              </a:rPr>
              <a:t> </a:t>
            </a:r>
            <a:r>
              <a:rPr lang="vi-VN" altLang="en-US" sz="1400" dirty="0"/>
              <a:t>AMF và SMF. Khi AMF nhận yêu cầu dịch vụ từ UE (ví dụ: Drone muốn truyền video), AMF dùng N11 để kích hoạt SMF thiết lập phiên làm việc.</a:t>
            </a:r>
          </a:p>
          <a:p>
            <a:pPr marL="171450" lvl="0" indent="-171450" defTabSz="914400" eaLnBrk="0" fontAlgn="base" hangingPunct="0">
              <a:spcBef>
                <a:spcPct val="0"/>
              </a:spcBef>
              <a:spcAft>
                <a:spcPct val="0"/>
              </a:spcAft>
              <a:buFont typeface="Arial" panose="020B0604020202020204" pitchFamily="34" charset="0"/>
              <a:buChar char="•"/>
            </a:pPr>
            <a:r>
              <a:rPr lang="vi-VN" altLang="en-US" sz="1400" dirty="0"/>
              <a:t>Tốc độ phản hồi trên N11 quyết định thời gian thiết lập cuộc gọi (Call Setup Time). Trong Private</a:t>
            </a:r>
            <a:r>
              <a:rPr lang="en-US" altLang="en-US" sz="1400" dirty="0">
                <a:latin typeface="Arial" panose="020B0604020202020204" pitchFamily="34" charset="0"/>
              </a:rPr>
              <a:t> Network</a:t>
            </a:r>
            <a:r>
              <a:rPr lang="vi-VN" altLang="en-US" sz="1400" dirty="0"/>
              <a:t> 5G, độ trễ này cần được tối ưu hóa xuống mức mili-giây.</a:t>
            </a:r>
            <a:endParaRPr lang="en-US" altLang="en-US" sz="1400" dirty="0">
              <a:latin typeface="Arial" panose="020B0604020202020204" pitchFamily="34" charset="0"/>
            </a:endParaRPr>
          </a:p>
          <a:p>
            <a:pPr lvl="0" defTabSz="914400" eaLnBrk="0" fontAlgn="base" hangingPunct="0">
              <a:spcBef>
                <a:spcPct val="0"/>
              </a:spcBef>
              <a:spcAft>
                <a:spcPct val="0"/>
              </a:spcAft>
            </a:pPr>
            <a:r>
              <a:rPr lang="en-US" altLang="en-US" sz="1400" b="1" dirty="0">
                <a:latin typeface="Arial" panose="020B0604020202020204" pitchFamily="34" charset="0"/>
              </a:rPr>
              <a:t>4. </a:t>
            </a:r>
            <a:r>
              <a:rPr lang="vi-VN" altLang="en-US" sz="1400" b="1" dirty="0"/>
              <a:t>N4 (PFCP): </a:t>
            </a:r>
            <a:r>
              <a:rPr lang="vi-VN" altLang="en-US" sz="1400" dirty="0"/>
              <a:t>SMF điều khiển UPF qua giao diện này. SMF "bơm" các quy tắc (Rules) vào UPF để UPF biết gói tin nào đi đâu.</a:t>
            </a:r>
          </a:p>
          <a:p>
            <a:pPr lvl="0" defTabSz="914400" eaLnBrk="0" fontAlgn="base" hangingPunct="0">
              <a:spcBef>
                <a:spcPct val="0"/>
              </a:spcBef>
              <a:spcAft>
                <a:spcPct val="0"/>
              </a:spcAft>
            </a:pPr>
            <a:r>
              <a:rPr lang="en-US" altLang="en-US" sz="1400" b="1" dirty="0">
                <a:latin typeface="Arial" panose="020B0604020202020204" pitchFamily="34" charset="0"/>
              </a:rPr>
              <a:t>5. </a:t>
            </a:r>
            <a:r>
              <a:rPr lang="vi-VN" altLang="en-US" sz="1400" b="1" dirty="0"/>
              <a:t>N6: </a:t>
            </a:r>
            <a:r>
              <a:rPr lang="vi-VN" altLang="en-US" sz="1400" dirty="0"/>
              <a:t>Cửa ngõ ra mạng dữ liệu bên ngoài (Data Network).</a:t>
            </a:r>
          </a:p>
          <a:p>
            <a:pPr lvl="0" defTabSz="914400" eaLnBrk="0" fontAlgn="base" hangingPunct="0">
              <a:spcBef>
                <a:spcPct val="0"/>
              </a:spcBef>
              <a:spcAft>
                <a:spcPct val="0"/>
              </a:spcAft>
            </a:pPr>
            <a:r>
              <a:rPr lang="en-US" altLang="en-US" sz="1400" b="1" dirty="0">
                <a:latin typeface="Arial" panose="020B0604020202020204" pitchFamily="34" charset="0"/>
              </a:rPr>
              <a:t>6. </a:t>
            </a:r>
            <a:r>
              <a:rPr lang="vi-VN" altLang="en-US" sz="1400" b="1" dirty="0"/>
              <a:t>N9: (Nếu có nhiều UPF) </a:t>
            </a:r>
            <a:r>
              <a:rPr lang="vi-VN" altLang="en-US" sz="1400" dirty="0"/>
              <a:t>Dùng để chuyển tiếp dữ liệu giữa các UPF trung gian.</a:t>
            </a:r>
          </a:p>
          <a:p>
            <a:pPr lvl="0" defTabSz="914400" eaLnBrk="0" fontAlgn="base" hangingPunct="0">
              <a:spcBef>
                <a:spcPct val="0"/>
              </a:spcBef>
              <a:spcAft>
                <a:spcPct val="0"/>
              </a:spcAft>
            </a:pPr>
            <a:endParaRPr lang="en-US" altLang="en-US" sz="1400" dirty="0">
              <a:latin typeface="Arial" panose="020B0604020202020204" pitchFamily="34" charset="0"/>
            </a:endParaRPr>
          </a:p>
        </p:txBody>
      </p:sp>
    </p:spTree>
    <p:extLst>
      <p:ext uri="{BB962C8B-B14F-4D97-AF65-F5344CB8AC3E}">
        <p14:creationId xmlns:p14="http://schemas.microsoft.com/office/powerpoint/2010/main" val="827538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8869C-1AA2-F208-336F-1318362647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AC8012-5F0A-AB21-E17D-0C5DF5BF2001}"/>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2">
            <a:extLst>
              <a:ext uri="{FF2B5EF4-FFF2-40B4-BE49-F238E27FC236}">
                <a16:creationId xmlns:a16="http://schemas.microsoft.com/office/drawing/2014/main" id="{C2170D90-0F1B-30F6-38F1-C06E1556826B}"/>
              </a:ext>
            </a:extLst>
          </p:cNvPr>
          <p:cNvSpPr>
            <a:spLocks noGrp="1"/>
          </p:cNvSpPr>
          <p:nvPr>
            <p:ph type="title"/>
          </p:nvPr>
        </p:nvSpPr>
        <p:spPr/>
        <p:txBody>
          <a:bodyPr/>
          <a:lstStyle/>
          <a:p>
            <a:r>
              <a:rPr lang="en-US" dirty="0"/>
              <a:t>3. </a:t>
            </a:r>
            <a:r>
              <a:rPr lang="en-US" dirty="0" err="1"/>
              <a:t>Kiến</a:t>
            </a:r>
            <a:r>
              <a:rPr lang="en-US" dirty="0"/>
              <a:t> </a:t>
            </a:r>
            <a:r>
              <a:rPr lang="en-US" dirty="0" err="1"/>
              <a:t>trúc</a:t>
            </a:r>
            <a:r>
              <a:rPr lang="en-US" dirty="0"/>
              <a:t> 5G SA</a:t>
            </a:r>
          </a:p>
        </p:txBody>
      </p:sp>
      <p:sp>
        <p:nvSpPr>
          <p:cNvPr id="8" name="TextBox 7">
            <a:extLst>
              <a:ext uri="{FF2B5EF4-FFF2-40B4-BE49-F238E27FC236}">
                <a16:creationId xmlns:a16="http://schemas.microsoft.com/office/drawing/2014/main" id="{A3FE6460-DB55-52B5-329F-FBB085B88B2E}"/>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2D53E06F-9ABE-D547-A21F-5C5CAB75DD9D}"/>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7" name="Rectangle 1">
            <a:extLst>
              <a:ext uri="{FF2B5EF4-FFF2-40B4-BE49-F238E27FC236}">
                <a16:creationId xmlns:a16="http://schemas.microsoft.com/office/drawing/2014/main" id="{496FF2EE-2931-70C2-267F-22D70BB5C871}"/>
              </a:ext>
            </a:extLst>
          </p:cNvPr>
          <p:cNvSpPr>
            <a:spLocks noChangeArrowheads="1"/>
          </p:cNvSpPr>
          <p:nvPr/>
        </p:nvSpPr>
        <p:spPr bwMode="auto">
          <a:xfrm>
            <a:off x="571106" y="1004656"/>
            <a:ext cx="7893272"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600" b="1" dirty="0">
                <a:latin typeface="Arial" panose="020B0604020202020204" pitchFamily="34" charset="0"/>
              </a:rPr>
              <a:t>NETWORK FUNCTION LAYER</a:t>
            </a:r>
          </a:p>
          <a:p>
            <a:pPr lvl="0" defTabSz="914400" eaLnBrk="0" fontAlgn="base" hangingPunct="0">
              <a:spcBef>
                <a:spcPct val="0"/>
              </a:spcBef>
              <a:spcAft>
                <a:spcPct val="0"/>
              </a:spcAft>
            </a:pPr>
            <a:endParaRPr lang="en-US" altLang="en-US" sz="1600" b="1" dirty="0">
              <a:latin typeface="Arial" panose="020B0604020202020204" pitchFamily="34" charset="0"/>
            </a:endParaRPr>
          </a:p>
          <a:p>
            <a:pPr lvl="0" defTabSz="914400" eaLnBrk="0" fontAlgn="base" hangingPunct="0">
              <a:spcBef>
                <a:spcPct val="0"/>
              </a:spcBef>
              <a:spcAft>
                <a:spcPct val="0"/>
              </a:spcAft>
            </a:pPr>
            <a:r>
              <a:rPr lang="en-US" altLang="en-US" sz="1600" b="1" dirty="0">
                <a:highlight>
                  <a:srgbClr val="FFFF00"/>
                </a:highlight>
                <a:latin typeface="Arial" panose="020B0604020202020204" pitchFamily="34" charset="0"/>
              </a:rPr>
              <a:t>1. Control plane</a:t>
            </a:r>
          </a:p>
          <a:p>
            <a:pPr lvl="0" defTabSz="914400" eaLnBrk="0" fontAlgn="base" hangingPunct="0">
              <a:spcBef>
                <a:spcPct val="0"/>
              </a:spcBef>
              <a:spcAft>
                <a:spcPct val="0"/>
              </a:spcAft>
            </a:pPr>
            <a:r>
              <a:rPr lang="en-US" altLang="en-US" sz="1400" b="1" dirty="0">
                <a:latin typeface="Arial" panose="020B0604020202020204" pitchFamily="34" charset="0"/>
              </a:rPr>
              <a:t>1.1. AMF (Access and </a:t>
            </a:r>
            <a:r>
              <a:rPr lang="vi-VN" altLang="en-US" sz="1400" b="1" dirty="0">
                <a:latin typeface="Arial" panose="020B0604020202020204" pitchFamily="34" charset="0"/>
              </a:rPr>
              <a:t>Mobility Management Function):</a:t>
            </a:r>
          </a:p>
          <a:p>
            <a:pPr marL="171450" indent="-171450" defTabSz="914400" eaLnBrk="0" fontAlgn="base" hangingPunct="0">
              <a:spcBef>
                <a:spcPct val="0"/>
              </a:spcBef>
              <a:spcAft>
                <a:spcPct val="0"/>
              </a:spcAft>
              <a:buFont typeface="Arial" panose="020B0604020202020204" pitchFamily="34" charset="0"/>
              <a:buChar char="•"/>
            </a:pPr>
            <a:r>
              <a:rPr lang="vi-VN" altLang="en-US" sz="1400" dirty="0">
                <a:latin typeface="Arial" panose="020B0604020202020204" pitchFamily="34" charset="0"/>
              </a:rPr>
              <a:t>Đóng vai trò điểm neo (anchor) cho báo hiệu N1/N2.</a:t>
            </a:r>
          </a:p>
          <a:p>
            <a:pPr marL="171450" indent="-171450" defTabSz="914400" eaLnBrk="0" fontAlgn="base" hangingPunct="0">
              <a:spcBef>
                <a:spcPct val="0"/>
              </a:spcBef>
              <a:spcAft>
                <a:spcPct val="0"/>
              </a:spcAft>
              <a:buFont typeface="Arial" panose="020B0604020202020204" pitchFamily="34" charset="0"/>
              <a:buChar char="•"/>
            </a:pPr>
            <a:r>
              <a:rPr lang="vi-VN" altLang="en-US" sz="1400" dirty="0">
                <a:latin typeface="Arial" panose="020B0604020202020204" pitchFamily="34" charset="0"/>
              </a:rPr>
              <a:t>Quản lý tính di động</a:t>
            </a:r>
            <a:r>
              <a:rPr lang="en-US" altLang="en-US" sz="1400" dirty="0">
                <a:latin typeface="Arial" panose="020B0604020202020204" pitchFamily="34" charset="0"/>
              </a:rPr>
              <a:t>, </a:t>
            </a:r>
            <a:r>
              <a:rPr lang="en-US" altLang="en-US" sz="1400" dirty="0" err="1">
                <a:latin typeface="Arial" panose="020B0604020202020204" pitchFamily="34" charset="0"/>
              </a:rPr>
              <a:t>không</a:t>
            </a:r>
            <a:r>
              <a:rPr lang="en-US" altLang="en-US" sz="1400" dirty="0">
                <a:latin typeface="Arial" panose="020B0604020202020204" pitchFamily="34" charset="0"/>
              </a:rPr>
              <a:t> </a:t>
            </a:r>
            <a:r>
              <a:rPr lang="en-US" altLang="en-US" sz="1400" dirty="0" err="1">
                <a:latin typeface="Arial" panose="020B0604020202020204" pitchFamily="34" charset="0"/>
              </a:rPr>
              <a:t>bị</a:t>
            </a:r>
            <a:r>
              <a:rPr lang="en-US" altLang="en-US" sz="1400" dirty="0">
                <a:latin typeface="Arial" panose="020B0604020202020204" pitchFamily="34" charset="0"/>
              </a:rPr>
              <a:t> </a:t>
            </a:r>
            <a:r>
              <a:rPr lang="en-US" altLang="en-US" sz="1400" dirty="0" err="1">
                <a:latin typeface="Arial" panose="020B0604020202020204" pitchFamily="34" charset="0"/>
              </a:rPr>
              <a:t>gián</a:t>
            </a:r>
            <a:r>
              <a:rPr lang="en-US" altLang="en-US" sz="1400" dirty="0">
                <a:latin typeface="Arial" panose="020B0604020202020204" pitchFamily="34" charset="0"/>
              </a:rPr>
              <a:t> </a:t>
            </a:r>
            <a:r>
              <a:rPr lang="en-US" altLang="en-US" sz="1400" dirty="0" err="1">
                <a:latin typeface="Arial" panose="020B0604020202020204" pitchFamily="34" charset="0"/>
              </a:rPr>
              <a:t>đoạn</a:t>
            </a:r>
            <a:r>
              <a:rPr lang="en-US" altLang="en-US" sz="1400" dirty="0">
                <a:latin typeface="Arial" panose="020B0604020202020204" pitchFamily="34" charset="0"/>
              </a:rPr>
              <a:t> </a:t>
            </a:r>
            <a:r>
              <a:rPr lang="en-US" altLang="en-US" sz="1400" dirty="0" err="1">
                <a:latin typeface="Arial" panose="020B0604020202020204" pitchFamily="34" charset="0"/>
              </a:rPr>
              <a:t>kết</a:t>
            </a:r>
            <a:r>
              <a:rPr lang="en-US" altLang="en-US" sz="1400" dirty="0">
                <a:latin typeface="Arial" panose="020B0604020202020204" pitchFamily="34" charset="0"/>
              </a:rPr>
              <a:t> </a:t>
            </a:r>
            <a:r>
              <a:rPr lang="en-US" altLang="en-US" sz="1400" dirty="0" err="1">
                <a:latin typeface="Arial" panose="020B0604020202020204" pitchFamily="34" charset="0"/>
              </a:rPr>
              <a:t>nối</a:t>
            </a:r>
            <a:endParaRPr lang="vi-VN" altLang="en-US" sz="1400" dirty="0">
              <a:latin typeface="Arial" panose="020B0604020202020204" pitchFamily="34" charset="0"/>
            </a:endParaRPr>
          </a:p>
          <a:p>
            <a:pPr marL="171450" indent="-171450" defTabSz="914400" eaLnBrk="0" fontAlgn="base" hangingPunct="0">
              <a:spcBef>
                <a:spcPct val="0"/>
              </a:spcBef>
              <a:spcAft>
                <a:spcPct val="0"/>
              </a:spcAft>
              <a:buFont typeface="Arial" panose="020B0604020202020204" pitchFamily="34" charset="0"/>
              <a:buChar char="•"/>
            </a:pPr>
            <a:r>
              <a:rPr lang="vi-VN" altLang="en-US" sz="1400" dirty="0">
                <a:latin typeface="Arial" panose="020B0604020202020204" pitchFamily="34" charset="0"/>
              </a:rPr>
              <a:t>Xử lý bảo mật sơ cấp và xác thực người dùng thông qua AUSF/UDM.</a:t>
            </a:r>
            <a:endParaRPr lang="en-US" altLang="en-US" sz="1400" dirty="0">
              <a:latin typeface="Arial" panose="020B0604020202020204" pitchFamily="34" charset="0"/>
            </a:endParaRPr>
          </a:p>
          <a:p>
            <a:pPr lvl="0" defTabSz="914400" eaLnBrk="0" fontAlgn="base" hangingPunct="0">
              <a:spcBef>
                <a:spcPct val="0"/>
              </a:spcBef>
              <a:spcAft>
                <a:spcPct val="0"/>
              </a:spcAft>
            </a:pPr>
            <a:r>
              <a:rPr lang="en-US" altLang="en-US" sz="1400" b="1" dirty="0">
                <a:latin typeface="Arial" panose="020B0604020202020204" pitchFamily="34" charset="0"/>
              </a:rPr>
              <a:t>1.2. SMF (Session Management Function):</a:t>
            </a:r>
          </a:p>
          <a:p>
            <a:pPr marL="171450" lvl="0" indent="-1714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Quản </a:t>
            </a:r>
            <a:r>
              <a:rPr lang="en-US" altLang="en-US" sz="1400" dirty="0" err="1">
                <a:latin typeface="Arial" panose="020B0604020202020204" pitchFamily="34" charset="0"/>
              </a:rPr>
              <a:t>lý</a:t>
            </a:r>
            <a:r>
              <a:rPr lang="en-US" altLang="en-US" sz="1400" dirty="0">
                <a:latin typeface="Arial" panose="020B0604020202020204" pitchFamily="34" charset="0"/>
              </a:rPr>
              <a:t> </a:t>
            </a:r>
            <a:r>
              <a:rPr lang="en-US" altLang="en-US" sz="1400" dirty="0" err="1">
                <a:latin typeface="Arial" panose="020B0604020202020204" pitchFamily="34" charset="0"/>
              </a:rPr>
              <a:t>phiên</a:t>
            </a:r>
            <a:r>
              <a:rPr lang="en-US" altLang="en-US" sz="1400" dirty="0">
                <a:latin typeface="Arial" panose="020B0604020202020204" pitchFamily="34" charset="0"/>
              </a:rPr>
              <a:t> PDU (Packet Data Unit).</a:t>
            </a:r>
          </a:p>
          <a:p>
            <a:pPr marL="171450" lvl="0" indent="-171450" defTabSz="914400" eaLnBrk="0" fontAlgn="base" hangingPunct="0">
              <a:spcBef>
                <a:spcPct val="0"/>
              </a:spcBef>
              <a:spcAft>
                <a:spcPct val="0"/>
              </a:spcAft>
              <a:buFont typeface="Arial" panose="020B0604020202020204" pitchFamily="34" charset="0"/>
              <a:buChar char="•"/>
            </a:pPr>
            <a:r>
              <a:rPr lang="en-US" altLang="en-US" sz="1400" dirty="0" err="1">
                <a:latin typeface="Arial" panose="020B0604020202020204" pitchFamily="34" charset="0"/>
              </a:rPr>
              <a:t>Cấp</a:t>
            </a:r>
            <a:r>
              <a:rPr lang="en-US" altLang="en-US" sz="1400" dirty="0">
                <a:latin typeface="Arial" panose="020B0604020202020204" pitchFamily="34" charset="0"/>
              </a:rPr>
              <a:t> </a:t>
            </a:r>
            <a:r>
              <a:rPr lang="en-US" altLang="en-US" sz="1400" dirty="0" err="1">
                <a:latin typeface="Arial" panose="020B0604020202020204" pitchFamily="34" charset="0"/>
              </a:rPr>
              <a:t>phát</a:t>
            </a:r>
            <a:r>
              <a:rPr lang="en-US" altLang="en-US" sz="1400" dirty="0">
                <a:latin typeface="Arial" panose="020B0604020202020204" pitchFamily="34" charset="0"/>
              </a:rPr>
              <a:t> </a:t>
            </a:r>
            <a:r>
              <a:rPr lang="en-US" altLang="en-US" sz="1400" dirty="0" err="1">
                <a:latin typeface="Arial" panose="020B0604020202020204" pitchFamily="34" charset="0"/>
              </a:rPr>
              <a:t>địa</a:t>
            </a:r>
            <a:r>
              <a:rPr lang="en-US" altLang="en-US" sz="1400" dirty="0">
                <a:latin typeface="Arial" panose="020B0604020202020204" pitchFamily="34" charset="0"/>
              </a:rPr>
              <a:t> </a:t>
            </a:r>
            <a:r>
              <a:rPr lang="en-US" altLang="en-US" sz="1400" dirty="0" err="1">
                <a:latin typeface="Arial" panose="020B0604020202020204" pitchFamily="34" charset="0"/>
              </a:rPr>
              <a:t>chỉ</a:t>
            </a:r>
            <a:r>
              <a:rPr lang="en-US" altLang="en-US" sz="1400" dirty="0">
                <a:latin typeface="Arial" panose="020B0604020202020204" pitchFamily="34" charset="0"/>
              </a:rPr>
              <a:t> IP </a:t>
            </a:r>
            <a:r>
              <a:rPr lang="en-US" altLang="en-US" sz="1400" dirty="0" err="1">
                <a:latin typeface="Arial" panose="020B0604020202020204" pitchFamily="34" charset="0"/>
              </a:rPr>
              <a:t>cho</a:t>
            </a:r>
            <a:r>
              <a:rPr lang="en-US" altLang="en-US" sz="1400" dirty="0">
                <a:latin typeface="Arial" panose="020B0604020202020204" pitchFamily="34" charset="0"/>
              </a:rPr>
              <a:t> </a:t>
            </a:r>
            <a:r>
              <a:rPr lang="en-US" altLang="en-US" sz="1400" dirty="0" err="1">
                <a:latin typeface="Arial" panose="020B0604020202020204" pitchFamily="34" charset="0"/>
              </a:rPr>
              <a:t>thiết</a:t>
            </a:r>
            <a:r>
              <a:rPr lang="en-US" altLang="en-US" sz="1400" dirty="0">
                <a:latin typeface="Arial" panose="020B0604020202020204" pitchFamily="34" charset="0"/>
              </a:rPr>
              <a:t> </a:t>
            </a:r>
            <a:r>
              <a:rPr lang="en-US" altLang="en-US" sz="1400" dirty="0" err="1">
                <a:latin typeface="Arial" panose="020B0604020202020204" pitchFamily="34" charset="0"/>
              </a:rPr>
              <a:t>bị</a:t>
            </a:r>
            <a:r>
              <a:rPr lang="en-US" altLang="en-US" sz="1400" dirty="0">
                <a:latin typeface="Arial" panose="020B0604020202020204" pitchFamily="34" charset="0"/>
              </a:rPr>
              <a:t> </a:t>
            </a:r>
            <a:r>
              <a:rPr lang="en-US" altLang="en-US" sz="1400" dirty="0" err="1">
                <a:latin typeface="Arial" panose="020B0604020202020204" pitchFamily="34" charset="0"/>
              </a:rPr>
              <a:t>cứu</a:t>
            </a:r>
            <a:r>
              <a:rPr lang="en-US" altLang="en-US" sz="1400" dirty="0">
                <a:latin typeface="Arial" panose="020B0604020202020204" pitchFamily="34" charset="0"/>
              </a:rPr>
              <a:t> </a:t>
            </a:r>
            <a:r>
              <a:rPr lang="en-US" altLang="en-US" sz="1400" dirty="0" err="1">
                <a:latin typeface="Arial" panose="020B0604020202020204" pitchFamily="34" charset="0"/>
              </a:rPr>
              <a:t>hộ</a:t>
            </a:r>
            <a:r>
              <a:rPr lang="en-US" altLang="en-US" sz="1400" dirty="0">
                <a:latin typeface="Arial" panose="020B0604020202020204" pitchFamily="34" charset="0"/>
              </a:rPr>
              <a:t>.</a:t>
            </a:r>
          </a:p>
          <a:p>
            <a:pPr lvl="0" defTabSz="914400" eaLnBrk="0" fontAlgn="base" hangingPunct="0">
              <a:spcBef>
                <a:spcPct val="0"/>
              </a:spcBef>
              <a:spcAft>
                <a:spcPct val="0"/>
              </a:spcAft>
            </a:pPr>
            <a:r>
              <a:rPr lang="en-US" altLang="en-US" sz="1400" b="1" dirty="0">
                <a:latin typeface="Arial" panose="020B0604020202020204" pitchFamily="34" charset="0"/>
              </a:rPr>
              <a:t>1.3. </a:t>
            </a:r>
            <a:r>
              <a:rPr lang="vi-VN" altLang="en-US" sz="1400" b="1" dirty="0">
                <a:latin typeface="Arial" panose="020B0604020202020204" pitchFamily="34" charset="0"/>
              </a:rPr>
              <a:t>PCF (Policy Control Function):</a:t>
            </a:r>
          </a:p>
          <a:p>
            <a:pPr marL="171450" lvl="0" indent="-171450" defTabSz="914400" eaLnBrk="0" fontAlgn="base" hangingPunct="0">
              <a:spcBef>
                <a:spcPct val="0"/>
              </a:spcBef>
              <a:spcAft>
                <a:spcPct val="0"/>
              </a:spcAft>
              <a:buFont typeface="Arial" panose="020B0604020202020204" pitchFamily="34" charset="0"/>
              <a:buChar char="•"/>
            </a:pPr>
            <a:r>
              <a:rPr lang="vi-VN" altLang="en-US" sz="1400" dirty="0">
                <a:latin typeface="Arial" panose="020B0604020202020204" pitchFamily="34" charset="0"/>
              </a:rPr>
              <a:t>QoS : PCF cung cấp các quy tắc PCC (Policy and Charging Control) để gán mức ưu tiên (5QI) cao nhất cho các luồng dữ liệu (ví dụ: Voice chỉ huy, Video hiện trường). Nó có quyền Pre-emption (chiếm quyền), tức là ngắt kết nối của người dùng không quan trọng để nhường băng thông cho cứu hộ.</a:t>
            </a:r>
            <a:endParaRPr lang="en-US" altLang="en-US" sz="1400" dirty="0">
              <a:latin typeface="Arial" panose="020B0604020202020204" pitchFamily="34" charset="0"/>
            </a:endParaRPr>
          </a:p>
          <a:p>
            <a:pPr lvl="0" defTabSz="914400" eaLnBrk="0" fontAlgn="base" hangingPunct="0">
              <a:spcBef>
                <a:spcPct val="0"/>
              </a:spcBef>
              <a:spcAft>
                <a:spcPct val="0"/>
              </a:spcAft>
            </a:pPr>
            <a:r>
              <a:rPr lang="en-US" altLang="en-US" sz="1400" b="1" dirty="0">
                <a:latin typeface="Arial" panose="020B0604020202020204" pitchFamily="34" charset="0"/>
              </a:rPr>
              <a:t>1.4. NSSF (Network Slice Selection Function): </a:t>
            </a:r>
            <a:r>
              <a:rPr lang="en-US" altLang="en-US" sz="1400" dirty="0">
                <a:latin typeface="Arial" panose="020B0604020202020204" pitchFamily="34" charset="0"/>
              </a:rPr>
              <a:t>Cho </a:t>
            </a:r>
            <a:r>
              <a:rPr lang="en-US" altLang="en-US" sz="1400" dirty="0" err="1">
                <a:latin typeface="Arial" panose="020B0604020202020204" pitchFamily="34" charset="0"/>
              </a:rPr>
              <a:t>phép</a:t>
            </a:r>
            <a:r>
              <a:rPr lang="en-US" altLang="en-US" sz="1400" dirty="0">
                <a:latin typeface="Arial" panose="020B0604020202020204" pitchFamily="34" charset="0"/>
              </a:rPr>
              <a:t> chia </a:t>
            </a:r>
            <a:r>
              <a:rPr lang="en-US" altLang="en-US" sz="1400" dirty="0" err="1">
                <a:latin typeface="Arial" panose="020B0604020202020204" pitchFamily="34" charset="0"/>
              </a:rPr>
              <a:t>mạng</a:t>
            </a:r>
            <a:r>
              <a:rPr lang="en-US" altLang="en-US" sz="1400" dirty="0">
                <a:latin typeface="Arial" panose="020B0604020202020204" pitchFamily="34" charset="0"/>
              </a:rPr>
              <a:t> </a:t>
            </a:r>
            <a:r>
              <a:rPr lang="en-US" altLang="en-US" sz="1400" dirty="0" err="1">
                <a:latin typeface="Arial" panose="020B0604020202020204" pitchFamily="34" charset="0"/>
              </a:rPr>
              <a:t>vật</a:t>
            </a:r>
            <a:r>
              <a:rPr lang="en-US" altLang="en-US" sz="1400" dirty="0">
                <a:latin typeface="Arial" panose="020B0604020202020204" pitchFamily="34" charset="0"/>
              </a:rPr>
              <a:t> </a:t>
            </a:r>
            <a:r>
              <a:rPr lang="en-US" altLang="en-US" sz="1400" dirty="0" err="1">
                <a:latin typeface="Arial" panose="020B0604020202020204" pitchFamily="34" charset="0"/>
              </a:rPr>
              <a:t>lý</a:t>
            </a:r>
            <a:r>
              <a:rPr lang="en-US" altLang="en-US" sz="1400" dirty="0">
                <a:latin typeface="Arial" panose="020B0604020202020204" pitchFamily="34" charset="0"/>
              </a:rPr>
              <a:t> </a:t>
            </a:r>
            <a:r>
              <a:rPr lang="en-US" altLang="en-US" sz="1400" dirty="0" err="1">
                <a:latin typeface="Arial" panose="020B0604020202020204" pitchFamily="34" charset="0"/>
              </a:rPr>
              <a:t>thành</a:t>
            </a:r>
            <a:r>
              <a:rPr lang="en-US" altLang="en-US" sz="1400" dirty="0">
                <a:latin typeface="Arial" panose="020B0604020202020204" pitchFamily="34" charset="0"/>
              </a:rPr>
              <a:t> </a:t>
            </a:r>
            <a:r>
              <a:rPr lang="en-US" altLang="en-US" sz="1400" dirty="0" err="1">
                <a:latin typeface="Arial" panose="020B0604020202020204" pitchFamily="34" charset="0"/>
              </a:rPr>
              <a:t>các</a:t>
            </a:r>
            <a:r>
              <a:rPr lang="en-US" altLang="en-US" sz="1400" dirty="0">
                <a:latin typeface="Arial" panose="020B0604020202020204" pitchFamily="34" charset="0"/>
              </a:rPr>
              <a:t> </a:t>
            </a:r>
            <a:r>
              <a:rPr lang="en-US" altLang="en-US" sz="1400" dirty="0" err="1">
                <a:latin typeface="Arial" panose="020B0604020202020204" pitchFamily="34" charset="0"/>
              </a:rPr>
              <a:t>lát</a:t>
            </a:r>
            <a:r>
              <a:rPr lang="en-US" altLang="en-US" sz="1400" dirty="0">
                <a:latin typeface="Arial" panose="020B0604020202020204" pitchFamily="34" charset="0"/>
              </a:rPr>
              <a:t> </a:t>
            </a:r>
            <a:r>
              <a:rPr lang="en-US" altLang="en-US" sz="1400" dirty="0" err="1">
                <a:latin typeface="Arial" panose="020B0604020202020204" pitchFamily="34" charset="0"/>
              </a:rPr>
              <a:t>cắt</a:t>
            </a:r>
            <a:r>
              <a:rPr lang="en-US" altLang="en-US" sz="1400" dirty="0">
                <a:latin typeface="Arial" panose="020B0604020202020204" pitchFamily="34" charset="0"/>
              </a:rPr>
              <a:t> logic</a:t>
            </a:r>
          </a:p>
          <a:p>
            <a:pPr marL="171450" lvl="0" indent="-1714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Slice URLLC: </a:t>
            </a:r>
            <a:r>
              <a:rPr lang="en-US" altLang="en-US" sz="1400" dirty="0" err="1">
                <a:latin typeface="Arial" panose="020B0604020202020204" pitchFamily="34" charset="0"/>
              </a:rPr>
              <a:t>Dành</a:t>
            </a:r>
            <a:r>
              <a:rPr lang="en-US" altLang="en-US" sz="1400" dirty="0">
                <a:latin typeface="Arial" panose="020B0604020202020204" pitchFamily="34" charset="0"/>
              </a:rPr>
              <a:t> </a:t>
            </a:r>
            <a:r>
              <a:rPr lang="en-US" altLang="en-US" sz="1400" dirty="0" err="1">
                <a:latin typeface="Arial" panose="020B0604020202020204" pitchFamily="34" charset="0"/>
              </a:rPr>
              <a:t>cho</a:t>
            </a:r>
            <a:r>
              <a:rPr lang="en-US" altLang="en-US" sz="1400" dirty="0">
                <a:latin typeface="Arial" panose="020B0604020202020204" pitchFamily="34" charset="0"/>
              </a:rPr>
              <a:t> </a:t>
            </a:r>
            <a:r>
              <a:rPr lang="en-US" altLang="en-US" sz="1400" dirty="0" err="1">
                <a:latin typeface="Arial" panose="020B0604020202020204" pitchFamily="34" charset="0"/>
              </a:rPr>
              <a:t>tín</a:t>
            </a:r>
            <a:r>
              <a:rPr lang="en-US" altLang="en-US" sz="1400" dirty="0">
                <a:latin typeface="Arial" panose="020B0604020202020204" pitchFamily="34" charset="0"/>
              </a:rPr>
              <a:t> </a:t>
            </a:r>
            <a:r>
              <a:rPr lang="en-US" altLang="en-US" sz="1400" dirty="0" err="1">
                <a:latin typeface="Arial" panose="020B0604020202020204" pitchFamily="34" charset="0"/>
              </a:rPr>
              <a:t>hiệu</a:t>
            </a:r>
            <a:r>
              <a:rPr lang="en-US" altLang="en-US" sz="1400" dirty="0">
                <a:latin typeface="Arial" panose="020B0604020202020204" pitchFamily="34" charset="0"/>
              </a:rPr>
              <a:t> </a:t>
            </a:r>
            <a:r>
              <a:rPr lang="en-US" altLang="en-US" sz="1400" dirty="0" err="1">
                <a:latin typeface="Arial" panose="020B0604020202020204" pitchFamily="34" charset="0"/>
              </a:rPr>
              <a:t>điều</a:t>
            </a:r>
            <a:r>
              <a:rPr lang="en-US" altLang="en-US" sz="1400" dirty="0">
                <a:latin typeface="Arial" panose="020B0604020202020204" pitchFamily="34" charset="0"/>
              </a:rPr>
              <a:t> </a:t>
            </a:r>
            <a:r>
              <a:rPr lang="en-US" altLang="en-US" sz="1400" dirty="0" err="1">
                <a:latin typeface="Arial" panose="020B0604020202020204" pitchFamily="34" charset="0"/>
              </a:rPr>
              <a:t>khiển</a:t>
            </a:r>
            <a:r>
              <a:rPr lang="en-US" altLang="en-US" sz="1400" dirty="0">
                <a:latin typeface="Arial" panose="020B0604020202020204" pitchFamily="34" charset="0"/>
              </a:rPr>
              <a:t> Drone (</a:t>
            </a:r>
            <a:r>
              <a:rPr lang="en-US" altLang="en-US" sz="1400" dirty="0" err="1">
                <a:latin typeface="Arial" panose="020B0604020202020204" pitchFamily="34" charset="0"/>
              </a:rPr>
              <a:t>cần</a:t>
            </a:r>
            <a:r>
              <a:rPr lang="en-US" altLang="en-US" sz="1400" dirty="0">
                <a:latin typeface="Arial" panose="020B0604020202020204" pitchFamily="34" charset="0"/>
              </a:rPr>
              <a:t> </a:t>
            </a:r>
            <a:r>
              <a:rPr lang="en-US" altLang="en-US" sz="1400" dirty="0" err="1">
                <a:latin typeface="Arial" panose="020B0604020202020204" pitchFamily="34" charset="0"/>
              </a:rPr>
              <a:t>độ</a:t>
            </a:r>
            <a:r>
              <a:rPr lang="en-US" altLang="en-US" sz="1400" dirty="0">
                <a:latin typeface="Arial" panose="020B0604020202020204" pitchFamily="34" charset="0"/>
              </a:rPr>
              <a:t> </a:t>
            </a:r>
            <a:r>
              <a:rPr lang="en-US" altLang="en-US" sz="1400" dirty="0" err="1">
                <a:latin typeface="Arial" panose="020B0604020202020204" pitchFamily="34" charset="0"/>
              </a:rPr>
              <a:t>trễ</a:t>
            </a:r>
            <a:r>
              <a:rPr lang="en-US" altLang="en-US" sz="1400" dirty="0">
                <a:latin typeface="Arial" panose="020B0604020202020204" pitchFamily="34" charset="0"/>
              </a:rPr>
              <a:t> </a:t>
            </a:r>
            <a:r>
              <a:rPr lang="en-US" altLang="en-US" sz="1400" dirty="0" err="1">
                <a:latin typeface="Arial" panose="020B0604020202020204" pitchFamily="34" charset="0"/>
              </a:rPr>
              <a:t>thấp</a:t>
            </a:r>
            <a:r>
              <a:rPr lang="en-US" altLang="en-US" sz="1400" dirty="0">
                <a:latin typeface="Arial" panose="020B0604020202020204" pitchFamily="34" charset="0"/>
              </a:rPr>
              <a:t> &lt;10ms, </a:t>
            </a:r>
            <a:r>
              <a:rPr lang="en-US" altLang="en-US" sz="1400" dirty="0" err="1">
                <a:latin typeface="Arial" panose="020B0604020202020204" pitchFamily="34" charset="0"/>
              </a:rPr>
              <a:t>độ</a:t>
            </a:r>
            <a:r>
              <a:rPr lang="en-US" altLang="en-US" sz="1400" dirty="0">
                <a:latin typeface="Arial" panose="020B0604020202020204" pitchFamily="34" charset="0"/>
              </a:rPr>
              <a:t> tin </a:t>
            </a:r>
            <a:r>
              <a:rPr lang="en-US" altLang="en-US" sz="1400" dirty="0" err="1">
                <a:latin typeface="Arial" panose="020B0604020202020204" pitchFamily="34" charset="0"/>
              </a:rPr>
              <a:t>cậy</a:t>
            </a:r>
            <a:r>
              <a:rPr lang="en-US" altLang="en-US" sz="1400" dirty="0">
                <a:latin typeface="Arial" panose="020B0604020202020204" pitchFamily="34" charset="0"/>
              </a:rPr>
              <a:t> 99.999%).</a:t>
            </a:r>
          </a:p>
          <a:p>
            <a:pPr marL="171450" lvl="0" indent="-171450" defTabSz="91440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rPr>
              <a:t>Slice </a:t>
            </a:r>
            <a:r>
              <a:rPr lang="en-US" altLang="en-US" sz="1400" dirty="0" err="1">
                <a:latin typeface="Arial" panose="020B0604020202020204" pitchFamily="34" charset="0"/>
              </a:rPr>
              <a:t>eMBB</a:t>
            </a:r>
            <a:r>
              <a:rPr lang="en-US" altLang="en-US" sz="1400" dirty="0">
                <a:latin typeface="Arial" panose="020B0604020202020204" pitchFamily="34" charset="0"/>
              </a:rPr>
              <a:t>: </a:t>
            </a:r>
            <a:r>
              <a:rPr lang="en-US" altLang="en-US" sz="1400" dirty="0" err="1">
                <a:latin typeface="Arial" panose="020B0604020202020204" pitchFamily="34" charset="0"/>
              </a:rPr>
              <a:t>Dành</a:t>
            </a:r>
            <a:r>
              <a:rPr lang="en-US" altLang="en-US" sz="1400" dirty="0">
                <a:latin typeface="Arial" panose="020B0604020202020204" pitchFamily="34" charset="0"/>
              </a:rPr>
              <a:t> </a:t>
            </a:r>
            <a:r>
              <a:rPr lang="en-US" altLang="en-US" sz="1400" dirty="0" err="1">
                <a:latin typeface="Arial" panose="020B0604020202020204" pitchFamily="34" charset="0"/>
              </a:rPr>
              <a:t>cho</a:t>
            </a:r>
            <a:r>
              <a:rPr lang="en-US" altLang="en-US" sz="1400" dirty="0">
                <a:latin typeface="Arial" panose="020B0604020202020204" pitchFamily="34" charset="0"/>
              </a:rPr>
              <a:t> </a:t>
            </a:r>
            <a:r>
              <a:rPr lang="en-US" altLang="en-US" sz="1400" dirty="0" err="1">
                <a:latin typeface="Arial" panose="020B0604020202020204" pitchFamily="34" charset="0"/>
              </a:rPr>
              <a:t>truyền</a:t>
            </a:r>
            <a:r>
              <a:rPr lang="en-US" altLang="en-US" sz="1400" dirty="0">
                <a:latin typeface="Arial" panose="020B0604020202020204" pitchFamily="34" charset="0"/>
              </a:rPr>
              <a:t> </a:t>
            </a:r>
            <a:r>
              <a:rPr lang="en-US" altLang="en-US" sz="1400" dirty="0" err="1">
                <a:latin typeface="Arial" panose="020B0604020202020204" pitchFamily="34" charset="0"/>
              </a:rPr>
              <a:t>tải</a:t>
            </a:r>
            <a:r>
              <a:rPr lang="en-US" altLang="en-US" sz="1400" dirty="0">
                <a:latin typeface="Arial" panose="020B0604020202020204" pitchFamily="34" charset="0"/>
              </a:rPr>
              <a:t> Video 4K </a:t>
            </a:r>
            <a:r>
              <a:rPr lang="en-US" altLang="en-US" sz="1400" dirty="0" err="1">
                <a:latin typeface="Arial" panose="020B0604020202020204" pitchFamily="34" charset="0"/>
              </a:rPr>
              <a:t>từ</a:t>
            </a:r>
            <a:r>
              <a:rPr lang="en-US" altLang="en-US" sz="1400" dirty="0">
                <a:latin typeface="Arial" panose="020B0604020202020204" pitchFamily="34" charset="0"/>
              </a:rPr>
              <a:t> </a:t>
            </a:r>
            <a:r>
              <a:rPr lang="en-US" altLang="en-US" sz="1400" dirty="0" err="1">
                <a:latin typeface="Arial" panose="020B0604020202020204" pitchFamily="34" charset="0"/>
              </a:rPr>
              <a:t>Flycam</a:t>
            </a:r>
            <a:r>
              <a:rPr lang="en-US" altLang="en-US" sz="1400" dirty="0">
                <a:latin typeface="Arial" panose="020B0604020202020204" pitchFamily="34" charset="0"/>
              </a:rPr>
              <a:t>.</a:t>
            </a:r>
          </a:p>
          <a:p>
            <a:pPr marL="171450" lvl="0" indent="-171450" defTabSz="914400" eaLnBrk="0" fontAlgn="base" hangingPunct="0">
              <a:spcBef>
                <a:spcPct val="0"/>
              </a:spcBef>
              <a:spcAft>
                <a:spcPct val="0"/>
              </a:spcAft>
              <a:buFont typeface="Arial" panose="020B0604020202020204" pitchFamily="34" charset="0"/>
              <a:buChar char="•"/>
            </a:pPr>
            <a:endParaRPr lang="en-US" altLang="en-US" sz="1400" dirty="0">
              <a:latin typeface="Arial" panose="020B0604020202020204" pitchFamily="34" charset="0"/>
            </a:endParaRPr>
          </a:p>
          <a:p>
            <a:pPr lvl="0" defTabSz="914400" eaLnBrk="0" fontAlgn="base" hangingPunct="0">
              <a:spcBef>
                <a:spcPct val="0"/>
              </a:spcBef>
              <a:spcAft>
                <a:spcPct val="0"/>
              </a:spcAft>
            </a:pPr>
            <a:r>
              <a:rPr lang="en-US" altLang="en-US" sz="1600" b="1" dirty="0">
                <a:highlight>
                  <a:srgbClr val="FFFF00"/>
                </a:highlight>
                <a:latin typeface="Arial" panose="020B0604020202020204" pitchFamily="34" charset="0"/>
              </a:rPr>
              <a:t>4. User plane</a:t>
            </a:r>
          </a:p>
          <a:p>
            <a:pPr lvl="0" defTabSz="914400" eaLnBrk="0" fontAlgn="base" hangingPunct="0">
              <a:spcBef>
                <a:spcPct val="0"/>
              </a:spcBef>
              <a:spcAft>
                <a:spcPct val="0"/>
              </a:spcAft>
            </a:pPr>
            <a:r>
              <a:rPr lang="en-US" altLang="en-US" sz="1400" b="1" dirty="0">
                <a:latin typeface="Arial" panose="020B0604020202020204" pitchFamily="34" charset="0"/>
              </a:rPr>
              <a:t>UPF (User Plane Function): </a:t>
            </a:r>
            <a:r>
              <a:rPr lang="en-US" altLang="en-US" sz="1400" dirty="0" err="1">
                <a:latin typeface="Arial" panose="020B0604020202020204" pitchFamily="34" charset="0"/>
              </a:rPr>
              <a:t>Thực</a:t>
            </a:r>
            <a:r>
              <a:rPr lang="en-US" altLang="en-US" sz="1400" dirty="0">
                <a:latin typeface="Arial" panose="020B0604020202020204" pitchFamily="34" charset="0"/>
              </a:rPr>
              <a:t> </a:t>
            </a:r>
            <a:r>
              <a:rPr lang="en-US" altLang="en-US" sz="1400" dirty="0" err="1">
                <a:latin typeface="Arial" panose="020B0604020202020204" pitchFamily="34" charset="0"/>
              </a:rPr>
              <a:t>hiện</a:t>
            </a:r>
            <a:r>
              <a:rPr lang="en-US" altLang="en-US" sz="1400" dirty="0">
                <a:latin typeface="Arial" panose="020B0604020202020204" pitchFamily="34" charset="0"/>
              </a:rPr>
              <a:t> </a:t>
            </a:r>
            <a:r>
              <a:rPr lang="en-US" altLang="en-US" sz="1400" dirty="0" err="1">
                <a:latin typeface="Arial" panose="020B0604020202020204" pitchFamily="34" charset="0"/>
              </a:rPr>
              <a:t>định</a:t>
            </a:r>
            <a:r>
              <a:rPr lang="en-US" altLang="en-US" sz="1400" dirty="0">
                <a:latin typeface="Arial" panose="020B0604020202020204" pitchFamily="34" charset="0"/>
              </a:rPr>
              <a:t> </a:t>
            </a:r>
            <a:r>
              <a:rPr lang="en-US" altLang="en-US" sz="1400" dirty="0" err="1">
                <a:latin typeface="Arial" panose="020B0604020202020204" pitchFamily="34" charset="0"/>
              </a:rPr>
              <a:t>tuyến</a:t>
            </a:r>
            <a:r>
              <a:rPr lang="en-US" altLang="en-US" sz="1400" dirty="0">
                <a:latin typeface="Arial" panose="020B0604020202020204" pitchFamily="34" charset="0"/>
              </a:rPr>
              <a:t> </a:t>
            </a:r>
            <a:r>
              <a:rPr lang="en-US" altLang="en-US" sz="1400" dirty="0" err="1">
                <a:latin typeface="Arial" panose="020B0604020202020204" pitchFamily="34" charset="0"/>
              </a:rPr>
              <a:t>gói</a:t>
            </a:r>
            <a:r>
              <a:rPr lang="en-US" altLang="en-US" sz="1400" dirty="0">
                <a:latin typeface="Arial" panose="020B0604020202020204" pitchFamily="34" charset="0"/>
              </a:rPr>
              <a:t> tin, </a:t>
            </a:r>
            <a:r>
              <a:rPr lang="en-US" altLang="en-US" sz="1400" dirty="0" err="1">
                <a:latin typeface="Arial" panose="020B0604020202020204" pitchFamily="34" charset="0"/>
              </a:rPr>
              <a:t>lọc</a:t>
            </a:r>
            <a:r>
              <a:rPr lang="en-US" altLang="en-US" sz="1400" dirty="0">
                <a:latin typeface="Arial" panose="020B0604020202020204" pitchFamily="34" charset="0"/>
              </a:rPr>
              <a:t> </a:t>
            </a:r>
            <a:r>
              <a:rPr lang="en-US" altLang="en-US" sz="1400" dirty="0" err="1">
                <a:latin typeface="Arial" panose="020B0604020202020204" pitchFamily="34" charset="0"/>
              </a:rPr>
              <a:t>gói</a:t>
            </a:r>
            <a:r>
              <a:rPr lang="en-US" altLang="en-US" sz="1400" dirty="0">
                <a:latin typeface="Arial" panose="020B0604020202020204" pitchFamily="34" charset="0"/>
              </a:rPr>
              <a:t> tin </a:t>
            </a:r>
            <a:r>
              <a:rPr lang="en-US" altLang="en-US" sz="1400" dirty="0" err="1">
                <a:latin typeface="Arial" panose="020B0604020202020204" pitchFamily="34" charset="0"/>
              </a:rPr>
              <a:t>và</a:t>
            </a:r>
            <a:r>
              <a:rPr lang="en-US" altLang="en-US" sz="1400" dirty="0">
                <a:latin typeface="Arial" panose="020B0604020202020204" pitchFamily="34" charset="0"/>
              </a:rPr>
              <a:t> </a:t>
            </a:r>
            <a:r>
              <a:rPr lang="en-US" altLang="en-US" sz="1400" dirty="0" err="1">
                <a:latin typeface="Arial" panose="020B0604020202020204" pitchFamily="34" charset="0"/>
              </a:rPr>
              <a:t>thực</a:t>
            </a:r>
            <a:r>
              <a:rPr lang="en-US" altLang="en-US" sz="1400" dirty="0">
                <a:latin typeface="Arial" panose="020B0604020202020204" pitchFamily="34" charset="0"/>
              </a:rPr>
              <a:t> </a:t>
            </a:r>
            <a:r>
              <a:rPr lang="en-US" altLang="en-US" sz="1400" dirty="0" err="1">
                <a:latin typeface="Arial" panose="020B0604020202020204" pitchFamily="34" charset="0"/>
              </a:rPr>
              <a:t>thi</a:t>
            </a:r>
            <a:r>
              <a:rPr lang="en-US" altLang="en-US" sz="1400" dirty="0">
                <a:latin typeface="Arial" panose="020B0604020202020204" pitchFamily="34" charset="0"/>
              </a:rPr>
              <a:t> QoS (</a:t>
            </a:r>
            <a:r>
              <a:rPr lang="en-US" altLang="en-US" sz="1400" dirty="0" err="1">
                <a:latin typeface="Arial" panose="020B0604020202020204" pitchFamily="34" charset="0"/>
              </a:rPr>
              <a:t>giới</a:t>
            </a:r>
            <a:r>
              <a:rPr lang="en-US" altLang="en-US" sz="1400" dirty="0">
                <a:latin typeface="Arial" panose="020B0604020202020204" pitchFamily="34" charset="0"/>
              </a:rPr>
              <a:t> </a:t>
            </a:r>
            <a:r>
              <a:rPr lang="en-US" altLang="en-US" sz="1400" dirty="0" err="1">
                <a:latin typeface="Arial" panose="020B0604020202020204" pitchFamily="34" charset="0"/>
              </a:rPr>
              <a:t>hạn</a:t>
            </a:r>
            <a:r>
              <a:rPr lang="en-US" altLang="en-US" sz="1400" dirty="0">
                <a:latin typeface="Arial" panose="020B0604020202020204" pitchFamily="34" charset="0"/>
              </a:rPr>
              <a:t> </a:t>
            </a:r>
            <a:r>
              <a:rPr lang="en-US" altLang="en-US" sz="1400" dirty="0" err="1">
                <a:latin typeface="Arial" panose="020B0604020202020204" pitchFamily="34" charset="0"/>
              </a:rPr>
              <a:t>băng</a:t>
            </a:r>
            <a:r>
              <a:rPr lang="en-US" altLang="en-US" sz="1400" dirty="0">
                <a:latin typeface="Arial" panose="020B0604020202020204" pitchFamily="34" charset="0"/>
              </a:rPr>
              <a:t> </a:t>
            </a:r>
            <a:r>
              <a:rPr lang="en-US" altLang="en-US" sz="1400" dirty="0" err="1">
                <a:latin typeface="Arial" panose="020B0604020202020204" pitchFamily="34" charset="0"/>
              </a:rPr>
              <a:t>thông</a:t>
            </a:r>
            <a:r>
              <a:rPr lang="en-US" altLang="en-US" sz="1400" dirty="0">
                <a:latin typeface="Arial" panose="020B0604020202020204" pitchFamily="34" charset="0"/>
              </a:rPr>
              <a:t>).</a:t>
            </a:r>
          </a:p>
        </p:txBody>
      </p:sp>
    </p:spTree>
    <p:extLst>
      <p:ext uri="{BB962C8B-B14F-4D97-AF65-F5344CB8AC3E}">
        <p14:creationId xmlns:p14="http://schemas.microsoft.com/office/powerpoint/2010/main" val="3898832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CE085-F22D-4864-5255-F728BF2693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37CD53-347C-9306-1603-7B78BEDF32AB}"/>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itle 2">
            <a:extLst>
              <a:ext uri="{FF2B5EF4-FFF2-40B4-BE49-F238E27FC236}">
                <a16:creationId xmlns:a16="http://schemas.microsoft.com/office/drawing/2014/main" id="{B78B3C47-6D69-D585-4C08-F9E8574CF6CF}"/>
              </a:ext>
            </a:extLst>
          </p:cNvPr>
          <p:cNvSpPr>
            <a:spLocks noGrp="1"/>
          </p:cNvSpPr>
          <p:nvPr>
            <p:ph type="title"/>
          </p:nvPr>
        </p:nvSpPr>
        <p:spPr/>
        <p:txBody>
          <a:bodyPr/>
          <a:lstStyle/>
          <a:p>
            <a:r>
              <a:rPr lang="en-US" dirty="0"/>
              <a:t>4. Ultra-Reliable Low Latency Communications</a:t>
            </a:r>
          </a:p>
        </p:txBody>
      </p:sp>
      <p:sp>
        <p:nvSpPr>
          <p:cNvPr id="8" name="TextBox 7">
            <a:extLst>
              <a:ext uri="{FF2B5EF4-FFF2-40B4-BE49-F238E27FC236}">
                <a16:creationId xmlns:a16="http://schemas.microsoft.com/office/drawing/2014/main" id="{464588E5-BEA5-8127-1017-9097D3ADE93F}"/>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B2C078F7-14BC-3AFB-B091-8D2B1CDB2BE3}"/>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pic>
        <p:nvPicPr>
          <p:cNvPr id="7" name="Picture 6" descr="5G Ultra-Reliable Low Latency Communication (URLLC) - 5G HUB TECHNOLOGIES">
            <a:extLst>
              <a:ext uri="{FF2B5EF4-FFF2-40B4-BE49-F238E27FC236}">
                <a16:creationId xmlns:a16="http://schemas.microsoft.com/office/drawing/2014/main" id="{19B1369D-CBED-973F-3946-B99B98EF11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0021" y="1143273"/>
            <a:ext cx="5400040" cy="3181985"/>
          </a:xfrm>
          <a:prstGeom prst="rect">
            <a:avLst/>
          </a:prstGeom>
          <a:noFill/>
          <a:ln>
            <a:noFill/>
          </a:ln>
        </p:spPr>
      </p:pic>
      <p:sp>
        <p:nvSpPr>
          <p:cNvPr id="11" name="TextBox 10">
            <a:extLst>
              <a:ext uri="{FF2B5EF4-FFF2-40B4-BE49-F238E27FC236}">
                <a16:creationId xmlns:a16="http://schemas.microsoft.com/office/drawing/2014/main" id="{887CE038-4BDB-BAA5-CA30-B2BA74F69F5C}"/>
              </a:ext>
            </a:extLst>
          </p:cNvPr>
          <p:cNvSpPr txBox="1"/>
          <p:nvPr/>
        </p:nvSpPr>
        <p:spPr>
          <a:xfrm>
            <a:off x="594542" y="4540803"/>
            <a:ext cx="8129329" cy="1569660"/>
          </a:xfrm>
          <a:prstGeom prst="rect">
            <a:avLst/>
          </a:prstGeom>
          <a:noFill/>
        </p:spPr>
        <p:txBody>
          <a:bodyPr wrap="square">
            <a:spAutoFit/>
          </a:bodyPr>
          <a:lstStyle/>
          <a:p>
            <a:pPr algn="just"/>
            <a:r>
              <a:rPr lang="vi-VN" sz="1200" b="1" kern="1200" dirty="0">
                <a:solidFill>
                  <a:schemeClr val="tx1"/>
                </a:solidFill>
                <a:effectLst/>
                <a:latin typeface="Arial" panose="020B0604020202020204" pitchFamily="34" charset="0"/>
                <a:cs typeface="Arial" panose="020B0604020202020204" pitchFamily="34" charset="0"/>
              </a:rPr>
              <a:t>Các</a:t>
            </a:r>
            <a:r>
              <a:rPr lang="en-US" sz="1200" b="1" kern="1200" dirty="0">
                <a:solidFill>
                  <a:schemeClr val="tx1"/>
                </a:solidFill>
                <a:effectLst/>
                <a:latin typeface="Arial" panose="020B0604020202020204" pitchFamily="34" charset="0"/>
                <a:cs typeface="Arial" panose="020B0604020202020204" pitchFamily="34" charset="0"/>
              </a:rPr>
              <a:t> </a:t>
            </a:r>
            <a:r>
              <a:rPr lang="en-US" sz="1200" b="1" kern="1200" dirty="0" err="1">
                <a:solidFill>
                  <a:schemeClr val="tx1"/>
                </a:solidFill>
                <a:effectLst/>
                <a:latin typeface="Arial" panose="020B0604020202020204" pitchFamily="34" charset="0"/>
                <a:cs typeface="Arial" panose="020B0604020202020204" pitchFamily="34" charset="0"/>
              </a:rPr>
              <a:t>công</a:t>
            </a:r>
            <a:r>
              <a:rPr lang="en-US" sz="1200" b="1" kern="1200" dirty="0">
                <a:solidFill>
                  <a:schemeClr val="tx1"/>
                </a:solidFill>
                <a:effectLst/>
                <a:latin typeface="Arial" panose="020B0604020202020204" pitchFamily="34" charset="0"/>
                <a:cs typeface="Arial" panose="020B0604020202020204" pitchFamily="34" charset="0"/>
              </a:rPr>
              <a:t> </a:t>
            </a:r>
            <a:r>
              <a:rPr lang="en-US" sz="1200" b="1" kern="1200" dirty="0" err="1">
                <a:solidFill>
                  <a:schemeClr val="tx1"/>
                </a:solidFill>
                <a:effectLst/>
                <a:latin typeface="Arial" panose="020B0604020202020204" pitchFamily="34" charset="0"/>
                <a:cs typeface="Arial" panose="020B0604020202020204" pitchFamily="34" charset="0"/>
              </a:rPr>
              <a:t>nghệ</a:t>
            </a:r>
            <a:r>
              <a:rPr lang="en-US" sz="1200" b="1" kern="1200" dirty="0">
                <a:solidFill>
                  <a:schemeClr val="tx1"/>
                </a:solidFill>
                <a:effectLst/>
                <a:latin typeface="Arial" panose="020B0604020202020204" pitchFamily="34" charset="0"/>
                <a:cs typeface="Arial" panose="020B0604020202020204" pitchFamily="34" charset="0"/>
              </a:rPr>
              <a:t> </a:t>
            </a:r>
            <a:r>
              <a:rPr lang="en-US" sz="1200" b="1" kern="1200" dirty="0" err="1">
                <a:solidFill>
                  <a:schemeClr val="tx1"/>
                </a:solidFill>
                <a:effectLst/>
                <a:latin typeface="Arial" panose="020B0604020202020204" pitchFamily="34" charset="0"/>
                <a:cs typeface="Arial" panose="020B0604020202020204" pitchFamily="34" charset="0"/>
              </a:rPr>
              <a:t>hỗ</a:t>
            </a:r>
            <a:r>
              <a:rPr lang="en-US" sz="1200" b="1" kern="1200" dirty="0">
                <a:solidFill>
                  <a:schemeClr val="tx1"/>
                </a:solidFill>
                <a:effectLst/>
                <a:latin typeface="Arial" panose="020B0604020202020204" pitchFamily="34" charset="0"/>
                <a:cs typeface="Arial" panose="020B0604020202020204" pitchFamily="34" charset="0"/>
              </a:rPr>
              <a:t> </a:t>
            </a:r>
            <a:r>
              <a:rPr lang="en-US" sz="1200" b="1" kern="1200" dirty="0" err="1">
                <a:solidFill>
                  <a:schemeClr val="tx1"/>
                </a:solidFill>
                <a:effectLst/>
                <a:latin typeface="Arial" panose="020B0604020202020204" pitchFamily="34" charset="0"/>
                <a:cs typeface="Arial" panose="020B0604020202020204" pitchFamily="34" charset="0"/>
              </a:rPr>
              <a:t>trợ</a:t>
            </a:r>
            <a:r>
              <a:rPr lang="en-US" sz="1200" b="1" kern="1200" dirty="0">
                <a:solidFill>
                  <a:schemeClr val="tx1"/>
                </a:solidFill>
                <a:effectLst/>
                <a:latin typeface="Arial" panose="020B0604020202020204" pitchFamily="34" charset="0"/>
                <a:cs typeface="Arial" panose="020B0604020202020204" pitchFamily="34" charset="0"/>
              </a:rPr>
              <a:t> URLLC </a:t>
            </a:r>
            <a:r>
              <a:rPr lang="en-US" sz="1200" b="1" kern="1200" dirty="0" err="1">
                <a:solidFill>
                  <a:schemeClr val="tx1"/>
                </a:solidFill>
                <a:effectLst/>
                <a:latin typeface="Arial" panose="020B0604020202020204" pitchFamily="34" charset="0"/>
                <a:cs typeface="Arial" panose="020B0604020202020204" pitchFamily="34" charset="0"/>
              </a:rPr>
              <a:t>trong</a:t>
            </a:r>
            <a:r>
              <a:rPr lang="en-US" sz="1200" b="1" kern="1200" dirty="0">
                <a:solidFill>
                  <a:schemeClr val="tx1"/>
                </a:solidFill>
                <a:effectLst/>
                <a:latin typeface="Arial" panose="020B0604020202020204" pitchFamily="34" charset="0"/>
                <a:cs typeface="Arial" panose="020B0604020202020204" pitchFamily="34" charset="0"/>
              </a:rPr>
              <a:t> 5G:</a:t>
            </a:r>
          </a:p>
          <a:p>
            <a:pPr marL="171450" indent="-171450" algn="just">
              <a:buFont typeface="Arial" panose="020B0604020202020204" pitchFamily="34" charset="0"/>
              <a:buChar char="•"/>
            </a:pPr>
            <a:r>
              <a:rPr lang="vi-VN" sz="1200" b="1" dirty="0">
                <a:latin typeface="Arial" panose="020B0604020202020204" pitchFamily="34" charset="0"/>
                <a:cs typeface="Arial" panose="020B0604020202020204" pitchFamily="34" charset="0"/>
              </a:rPr>
              <a:t>Mini-slot và Flexible Numerology</a:t>
            </a:r>
            <a:r>
              <a:rPr lang="vi-VN" sz="1200" dirty="0">
                <a:latin typeface="Arial" panose="020B0604020202020204" pitchFamily="34" charset="0"/>
                <a:cs typeface="Arial" panose="020B0604020202020204" pitchFamily="34" charset="0"/>
              </a:rPr>
              <a:t>: Sử dụng subcarrier spacing (SCS) cao (ví dụ 60 kHz hoặc 120 kHz) để rút ngắn thời gian slot (từ 1 ms xuống 0.125 ms), giúp giảm latency. </a:t>
            </a:r>
            <a:endParaRPr lang="en-US" sz="1200" dirty="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vi-VN" sz="1200" b="1" dirty="0">
                <a:latin typeface="Arial" panose="020B0604020202020204" pitchFamily="34" charset="0"/>
                <a:cs typeface="Arial" panose="020B0604020202020204" pitchFamily="34" charset="0"/>
              </a:rPr>
              <a:t>Grant-Free Transmission (Configured Grant)</a:t>
            </a:r>
            <a:r>
              <a:rPr lang="vi-VN" sz="1200" dirty="0">
                <a:latin typeface="Arial" panose="020B0604020202020204" pitchFamily="34" charset="0"/>
                <a:cs typeface="Arial" panose="020B0604020202020204" pitchFamily="34" charset="0"/>
              </a:rPr>
              <a:t>: Cho phép UE (User Equipment) truyền dữ liệu mà không cần xin grant từ gNB (base station), tránh delay từ scheduling. </a:t>
            </a:r>
            <a:endParaRPr lang="en-US" sz="1200" dirty="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vi-VN" sz="1200" b="1" dirty="0">
                <a:latin typeface="Arial" panose="020B0604020202020204" pitchFamily="34" charset="0"/>
                <a:cs typeface="Arial" panose="020B0604020202020204" pitchFamily="34" charset="0"/>
              </a:rPr>
              <a:t>HARQ và Repetition</a:t>
            </a:r>
            <a:r>
              <a:rPr lang="vi-VN" sz="1200" dirty="0">
                <a:latin typeface="Arial" panose="020B0604020202020204" pitchFamily="34" charset="0"/>
                <a:cs typeface="Arial" panose="020B0604020202020204" pitchFamily="34" charset="0"/>
              </a:rPr>
              <a:t>: Lặp lại truyền dữ liệu để tăng reliability, với HARQ nhanh (fast retransmission). </a:t>
            </a:r>
            <a:endParaRPr lang="en-US" sz="1200" dirty="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vi-VN" sz="1200" b="1" dirty="0">
                <a:latin typeface="Arial" panose="020B0604020202020204" pitchFamily="34" charset="0"/>
                <a:cs typeface="Arial" panose="020B0604020202020204" pitchFamily="34" charset="0"/>
              </a:rPr>
              <a:t>Pre-emption và Dynamic Multiplexing</a:t>
            </a:r>
            <a:r>
              <a:rPr lang="vi-VN" sz="1200" dirty="0">
                <a:latin typeface="Arial" panose="020B0604020202020204" pitchFamily="34" charset="0"/>
                <a:cs typeface="Arial" panose="020B0604020202020204" pitchFamily="34" charset="0"/>
              </a:rPr>
              <a:t>: URLLC có thể chen ngang vào tài nguyên của eMBB để ưu tiên. </a:t>
            </a:r>
            <a:endParaRPr lang="en-US" sz="1200" dirty="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vi-VN" sz="1200" b="1" dirty="0">
                <a:latin typeface="Arial" panose="020B0604020202020204" pitchFamily="34" charset="0"/>
                <a:cs typeface="Arial" panose="020B0604020202020204" pitchFamily="34" charset="0"/>
              </a:rPr>
              <a:t>Diversity Techniques</a:t>
            </a:r>
            <a:r>
              <a:rPr lang="vi-VN" sz="1200" dirty="0">
                <a:latin typeface="Arial" panose="020B0604020202020204" pitchFamily="34" charset="0"/>
                <a:cs typeface="Arial" panose="020B0604020202020204" pitchFamily="34" charset="0"/>
              </a:rPr>
              <a:t>: Sử dụng MIMO (Multiple Input Multiple Output), beamforming để chống nhiễu. </a:t>
            </a:r>
            <a:endParaRPr lang="en-US" sz="12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45B73A91-D07B-1CBD-8C2C-5CE59ECBDD95}"/>
              </a:ext>
            </a:extLst>
          </p:cNvPr>
          <p:cNvSpPr txBox="1"/>
          <p:nvPr/>
        </p:nvSpPr>
        <p:spPr>
          <a:xfrm>
            <a:off x="6005006" y="1658414"/>
            <a:ext cx="2854112" cy="1754326"/>
          </a:xfrm>
          <a:prstGeom prst="rect">
            <a:avLst/>
          </a:prstGeom>
          <a:noFill/>
        </p:spPr>
        <p:txBody>
          <a:bodyPr wrap="square">
            <a:spAutoFit/>
          </a:bodyPr>
          <a:lstStyle/>
          <a:p>
            <a:pPr algn="just"/>
            <a:r>
              <a:rPr lang="vi-VN" sz="1200" b="1" kern="1200" dirty="0">
                <a:solidFill>
                  <a:schemeClr val="tx1"/>
                </a:solidFill>
                <a:effectLst/>
                <a:latin typeface="Arial" panose="020B0604020202020204" pitchFamily="34" charset="0"/>
                <a:cs typeface="Arial" panose="020B0604020202020204" pitchFamily="34" charset="0"/>
              </a:rPr>
              <a:t>URLLC (Ultra-Reliable Low Latency Communications)</a:t>
            </a:r>
            <a:r>
              <a:rPr lang="en-US" sz="1200" b="1" kern="1200" dirty="0">
                <a:solidFill>
                  <a:schemeClr val="tx1"/>
                </a:solidFill>
                <a:effectLst/>
                <a:latin typeface="Arial" panose="020B0604020202020204" pitchFamily="34" charset="0"/>
                <a:cs typeface="Arial" panose="020B0604020202020204" pitchFamily="34" charset="0"/>
              </a:rPr>
              <a:t>: </a:t>
            </a:r>
            <a:r>
              <a:rPr lang="vi-VN" sz="1200" kern="1200" dirty="0">
                <a:solidFill>
                  <a:schemeClr val="tx1"/>
                </a:solidFill>
                <a:effectLst/>
                <a:latin typeface="Arial" panose="020B0604020202020204" pitchFamily="34" charset="0"/>
                <a:cs typeface="Arial" panose="020B0604020202020204" pitchFamily="34" charset="0"/>
              </a:rPr>
              <a:t>Là tập hợp các kỹ thuật nhằm </a:t>
            </a:r>
            <a:r>
              <a:rPr lang="vi-VN" sz="1200" dirty="0">
                <a:latin typeface="Arial" panose="020B0604020202020204" pitchFamily="34" charset="0"/>
                <a:cs typeface="Arial" panose="020B0604020202020204" pitchFamily="34" charset="0"/>
              </a:rPr>
              <a:t>truyền dữ liệu với độ trễ end-to-end (từ thiết bị đến mạng và ngược lại) cực thấp, đồng thời đảm bảo tỷ lệ lỗi gói tin (packet error rate) gần như bằng không.</a:t>
            </a:r>
            <a:endParaRPr lang="vi-VN" sz="1200" kern="1200" dirty="0">
              <a:solidFill>
                <a:schemeClr val="tx1"/>
              </a:solidFill>
              <a:effectLst/>
              <a:latin typeface="Arial" panose="020B0604020202020204" pitchFamily="34" charset="0"/>
              <a:cs typeface="Arial" panose="020B0604020202020204" pitchFamily="34" charset="0"/>
            </a:endParaRPr>
          </a:p>
          <a:p>
            <a:pPr algn="just"/>
            <a:endParaRPr lang="en-US" sz="1200" b="1" kern="1200" dirty="0">
              <a:solidFill>
                <a:schemeClr val="tx1"/>
              </a:solidFill>
              <a:effectLst/>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5140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114C0-5B10-4161-0945-79CA7A6FD1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99F512-F364-E9D6-DCDA-BC176067806E}"/>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3" name="Title 2">
            <a:extLst>
              <a:ext uri="{FF2B5EF4-FFF2-40B4-BE49-F238E27FC236}">
                <a16:creationId xmlns:a16="http://schemas.microsoft.com/office/drawing/2014/main" id="{08C70115-C4A1-8B7C-B0AC-4D49C66DCE1A}"/>
              </a:ext>
            </a:extLst>
          </p:cNvPr>
          <p:cNvSpPr>
            <a:spLocks noGrp="1"/>
          </p:cNvSpPr>
          <p:nvPr>
            <p:ph type="title"/>
          </p:nvPr>
        </p:nvSpPr>
        <p:spPr/>
        <p:txBody>
          <a:bodyPr/>
          <a:lstStyle/>
          <a:p>
            <a:r>
              <a:rPr lang="en-US" dirty="0"/>
              <a:t>5. Network slicing</a:t>
            </a:r>
          </a:p>
        </p:txBody>
      </p:sp>
      <p:sp>
        <p:nvSpPr>
          <p:cNvPr id="8" name="TextBox 7">
            <a:extLst>
              <a:ext uri="{FF2B5EF4-FFF2-40B4-BE49-F238E27FC236}">
                <a16:creationId xmlns:a16="http://schemas.microsoft.com/office/drawing/2014/main" id="{5DD09C67-2501-9E2F-A8B2-11C6FC71581E}"/>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9919CEB7-FAA0-9621-54DF-5CCF2BC78BB3}"/>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12" name="TextBox 11">
            <a:extLst>
              <a:ext uri="{FF2B5EF4-FFF2-40B4-BE49-F238E27FC236}">
                <a16:creationId xmlns:a16="http://schemas.microsoft.com/office/drawing/2014/main" id="{E582CEFA-9A80-D2D1-A592-BB3ED78C057A}"/>
              </a:ext>
            </a:extLst>
          </p:cNvPr>
          <p:cNvSpPr txBox="1"/>
          <p:nvPr/>
        </p:nvSpPr>
        <p:spPr>
          <a:xfrm>
            <a:off x="392500" y="4127873"/>
            <a:ext cx="3699209" cy="1938992"/>
          </a:xfrm>
          <a:prstGeom prst="rect">
            <a:avLst/>
          </a:prstGeom>
          <a:noFill/>
        </p:spPr>
        <p:txBody>
          <a:bodyPr wrap="square">
            <a:spAutoFit/>
          </a:bodyPr>
          <a:lstStyle/>
          <a:p>
            <a:pPr algn="just"/>
            <a:r>
              <a:rPr lang="vi-VN" sz="1200" b="1" kern="1200" dirty="0">
                <a:solidFill>
                  <a:schemeClr val="tx1"/>
                </a:solidFill>
                <a:effectLst/>
                <a:latin typeface="Arial" panose="020B0604020202020204" pitchFamily="34" charset="0"/>
                <a:cs typeface="Arial" panose="020B0604020202020204" pitchFamily="34" charset="0"/>
              </a:rPr>
              <a:t>Network slicing </a:t>
            </a:r>
            <a:r>
              <a:rPr lang="vi-VN" sz="1200" kern="1200" dirty="0">
                <a:solidFill>
                  <a:schemeClr val="tx1"/>
                </a:solidFill>
                <a:effectLst/>
                <a:latin typeface="Arial" panose="020B0604020202020204" pitchFamily="34" charset="0"/>
                <a:cs typeface="Arial" panose="020B0604020202020204" pitchFamily="34" charset="0"/>
              </a:rPr>
              <a:t>là một trong những công nghệ cốt lõi của 5G, cho phép chia một hạ tầng mạng vật lý duy nhất thành nhiều mạng logic độc lập (network slices), trong đó mỗi slice được thiết kế và tối ưu để đáp ứng các yêu cầu dịch vụ khác nhau về độ trễ, độ tin cậy, thông lượng, bảo mật và chính sách ưu tiên. Theo 3GPP, mỗi network slice được xem như một end-to-end logical network, bao gồm các thành phần từ truy nhập vô tuyến (RAN), mạng lõi (5GC) cho đến các ứng dụng</a:t>
            </a:r>
            <a:r>
              <a:rPr lang="en-US" sz="1200" dirty="0">
                <a:latin typeface="Arial" panose="020B0604020202020204" pitchFamily="34" charset="0"/>
                <a:cs typeface="Arial" panose="020B0604020202020204" pitchFamily="34" charset="0"/>
              </a:rPr>
              <a:t>, …</a:t>
            </a:r>
          </a:p>
        </p:txBody>
      </p:sp>
      <p:pic>
        <p:nvPicPr>
          <p:cNvPr id="4" name="Picture 3">
            <a:extLst>
              <a:ext uri="{FF2B5EF4-FFF2-40B4-BE49-F238E27FC236}">
                <a16:creationId xmlns:a16="http://schemas.microsoft.com/office/drawing/2014/main" id="{F661FFCD-D957-6B85-E8E0-F42EA06F8F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4027" y="1218687"/>
            <a:ext cx="3973195" cy="2715895"/>
          </a:xfrm>
          <a:prstGeom prst="rect">
            <a:avLst/>
          </a:prstGeom>
          <a:noFill/>
        </p:spPr>
      </p:pic>
      <p:graphicFrame>
        <p:nvGraphicFramePr>
          <p:cNvPr id="5" name="Table 4">
            <a:extLst>
              <a:ext uri="{FF2B5EF4-FFF2-40B4-BE49-F238E27FC236}">
                <a16:creationId xmlns:a16="http://schemas.microsoft.com/office/drawing/2014/main" id="{01341A0A-5DE5-3FE4-9A78-4F3D5AAF829F}"/>
              </a:ext>
            </a:extLst>
          </p:cNvPr>
          <p:cNvGraphicFramePr>
            <a:graphicFrameLocks noGrp="1"/>
          </p:cNvGraphicFramePr>
          <p:nvPr>
            <p:extLst>
              <p:ext uri="{D42A27DB-BD31-4B8C-83A1-F6EECF244321}">
                <p14:modId xmlns:p14="http://schemas.microsoft.com/office/powerpoint/2010/main" val="946932456"/>
              </p:ext>
            </p:extLst>
          </p:nvPr>
        </p:nvGraphicFramePr>
        <p:xfrm>
          <a:off x="4623165" y="1218687"/>
          <a:ext cx="4301618" cy="1704727"/>
        </p:xfrm>
        <a:graphic>
          <a:graphicData uri="http://schemas.openxmlformats.org/drawingml/2006/table">
            <a:tbl>
              <a:tblPr firstRow="1" firstCol="1" bandRow="1">
                <a:tableStyleId>{5C22544A-7EE6-4342-B048-85BDC9FD1C3A}</a:tableStyleId>
              </a:tblPr>
              <a:tblGrid>
                <a:gridCol w="1354944">
                  <a:extLst>
                    <a:ext uri="{9D8B030D-6E8A-4147-A177-3AD203B41FA5}">
                      <a16:colId xmlns:a16="http://schemas.microsoft.com/office/drawing/2014/main" val="2229008487"/>
                    </a:ext>
                  </a:extLst>
                </a:gridCol>
                <a:gridCol w="1525450">
                  <a:extLst>
                    <a:ext uri="{9D8B030D-6E8A-4147-A177-3AD203B41FA5}">
                      <a16:colId xmlns:a16="http://schemas.microsoft.com/office/drawing/2014/main" val="4198846565"/>
                    </a:ext>
                  </a:extLst>
                </a:gridCol>
                <a:gridCol w="1421224">
                  <a:extLst>
                    <a:ext uri="{9D8B030D-6E8A-4147-A177-3AD203B41FA5}">
                      <a16:colId xmlns:a16="http://schemas.microsoft.com/office/drawing/2014/main" val="809183942"/>
                    </a:ext>
                  </a:extLst>
                </a:gridCol>
              </a:tblGrid>
              <a:tr h="430060">
                <a:tc>
                  <a:txBody>
                    <a:bodyPr/>
                    <a:lstStyle/>
                    <a:p>
                      <a:pPr marL="0" marR="0" algn="just">
                        <a:lnSpc>
                          <a:spcPct val="110000"/>
                        </a:lnSpc>
                        <a:spcBef>
                          <a:spcPts val="300"/>
                        </a:spcBef>
                        <a:buNone/>
                      </a:pPr>
                      <a:r>
                        <a:rPr lang="en-US" sz="1300" dirty="0">
                          <a:effectLst/>
                        </a:rPr>
                        <a:t>Slice</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a:effectLst/>
                        </a:rPr>
                        <a:t>Use case</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Yêu cầu</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532567908"/>
                  </a:ext>
                </a:extLst>
              </a:tr>
              <a:tr h="430060">
                <a:tc>
                  <a:txBody>
                    <a:bodyPr/>
                    <a:lstStyle/>
                    <a:p>
                      <a:pPr marL="0" marR="0" algn="just">
                        <a:lnSpc>
                          <a:spcPct val="110000"/>
                        </a:lnSpc>
                        <a:spcBef>
                          <a:spcPts val="300"/>
                        </a:spcBef>
                        <a:buNone/>
                      </a:pPr>
                      <a:r>
                        <a:rPr lang="en-US" sz="1300">
                          <a:effectLst/>
                        </a:rPr>
                        <a:t>URLLC slice</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UAV control</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Latency &lt; 1 ms</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799518504"/>
                  </a:ext>
                </a:extLst>
              </a:tr>
              <a:tr h="414547">
                <a:tc>
                  <a:txBody>
                    <a:bodyPr/>
                    <a:lstStyle/>
                    <a:p>
                      <a:pPr marL="0" marR="0" algn="just">
                        <a:lnSpc>
                          <a:spcPct val="110000"/>
                        </a:lnSpc>
                        <a:spcBef>
                          <a:spcPts val="300"/>
                        </a:spcBef>
                        <a:buNone/>
                      </a:pPr>
                      <a:r>
                        <a:rPr lang="en-US" sz="1300">
                          <a:effectLst/>
                        </a:rPr>
                        <a:t>eMBB slice</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Video 4K</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50–200 Mbps</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530822944"/>
                  </a:ext>
                </a:extLst>
              </a:tr>
              <a:tr h="430060">
                <a:tc>
                  <a:txBody>
                    <a:bodyPr/>
                    <a:lstStyle/>
                    <a:p>
                      <a:pPr marL="0" marR="0" algn="just">
                        <a:lnSpc>
                          <a:spcPct val="110000"/>
                        </a:lnSpc>
                        <a:spcBef>
                          <a:spcPts val="300"/>
                        </a:spcBef>
                        <a:buNone/>
                      </a:pPr>
                      <a:r>
                        <a:rPr lang="en-US" sz="1300">
                          <a:effectLst/>
                        </a:rPr>
                        <a:t>mMTC slice</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IoT sensors</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a:effectLst/>
                        </a:rPr>
                        <a:t>10⁶ devices/km²</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2944178828"/>
                  </a:ext>
                </a:extLst>
              </a:tr>
            </a:tbl>
          </a:graphicData>
        </a:graphic>
      </p:graphicFrame>
      <p:sp>
        <p:nvSpPr>
          <p:cNvPr id="14" name="TextBox 13">
            <a:extLst>
              <a:ext uri="{FF2B5EF4-FFF2-40B4-BE49-F238E27FC236}">
                <a16:creationId xmlns:a16="http://schemas.microsoft.com/office/drawing/2014/main" id="{C94D4A86-DC33-2B91-9CF9-49C9896FAF2A}"/>
              </a:ext>
            </a:extLst>
          </p:cNvPr>
          <p:cNvSpPr txBox="1"/>
          <p:nvPr/>
        </p:nvSpPr>
        <p:spPr>
          <a:xfrm>
            <a:off x="4358041" y="4108619"/>
            <a:ext cx="4393459" cy="2123658"/>
          </a:xfrm>
          <a:prstGeom prst="rect">
            <a:avLst/>
          </a:prstGeom>
          <a:noFill/>
        </p:spPr>
        <p:txBody>
          <a:bodyPr wrap="square">
            <a:spAutoFit/>
          </a:bodyPr>
          <a:lstStyle/>
          <a:p>
            <a:pPr algn="just"/>
            <a:r>
              <a:rPr lang="vi-VN" sz="1200" kern="1200" dirty="0">
                <a:solidFill>
                  <a:schemeClr val="tx1"/>
                </a:solidFill>
                <a:effectLst/>
                <a:latin typeface="Arial" panose="020B0604020202020204" pitchFamily="34" charset="0"/>
                <a:cs typeface="Arial" panose="020B0604020202020204" pitchFamily="34" charset="0"/>
              </a:rPr>
              <a:t>Trong kiến trúc 3GPP, Network slicing được triển khai xuyên suốt từ RAN đến Core, bao gồm các thành phần chính:</a:t>
            </a:r>
          </a:p>
          <a:p>
            <a:pPr marL="171450" indent="-171450" algn="just">
              <a:buFont typeface="Arial" panose="020B0604020202020204" pitchFamily="34" charset="0"/>
              <a:buChar char="•"/>
            </a:pPr>
            <a:r>
              <a:rPr lang="vi-VN" sz="1200" kern="1200" dirty="0">
                <a:solidFill>
                  <a:schemeClr val="tx1"/>
                </a:solidFill>
                <a:effectLst/>
                <a:latin typeface="Arial" panose="020B0604020202020204" pitchFamily="34" charset="0"/>
                <a:cs typeface="Arial" panose="020B0604020202020204" pitchFamily="34" charset="0"/>
              </a:rPr>
              <a:t>RAN Slicing: Phân bổ BWP (Bandwidth Part) và radio resources (PRB - Physical Resource Block) per slice, sử dụng NrMacScheduler cho prioritization.</a:t>
            </a:r>
          </a:p>
          <a:p>
            <a:pPr marL="171450" indent="-171450" algn="just">
              <a:buFont typeface="Arial" panose="020B0604020202020204" pitchFamily="34" charset="0"/>
              <a:buChar char="•"/>
            </a:pPr>
            <a:r>
              <a:rPr lang="vi-VN" sz="1200" kern="1200" dirty="0">
                <a:solidFill>
                  <a:schemeClr val="tx1"/>
                </a:solidFill>
                <a:effectLst/>
                <a:latin typeface="Arial" panose="020B0604020202020204" pitchFamily="34" charset="0"/>
                <a:cs typeface="Arial" panose="020B0604020202020204" pitchFamily="34" charset="0"/>
              </a:rPr>
              <a:t>Core Slicing: NSSF chọn slice dựa trên UE request, với PCF áp dụng policy per slice.</a:t>
            </a:r>
          </a:p>
          <a:p>
            <a:pPr marL="171450" indent="-171450" algn="just">
              <a:buFont typeface="Arial" panose="020B0604020202020204" pitchFamily="34" charset="0"/>
              <a:buChar char="•"/>
            </a:pPr>
            <a:r>
              <a:rPr lang="vi-VN" sz="1200" kern="1200" dirty="0">
                <a:solidFill>
                  <a:schemeClr val="tx1"/>
                </a:solidFill>
                <a:effectLst/>
                <a:latin typeface="Arial" panose="020B0604020202020204" pitchFamily="34" charset="0"/>
                <a:cs typeface="Arial" panose="020B0604020202020204" pitchFamily="34" charset="0"/>
              </a:rPr>
              <a:t>Transport slicing: đảm bảo độ trễ và thông lượng end-to-end</a:t>
            </a:r>
          </a:p>
          <a:p>
            <a:pPr marL="171450" indent="-171450" algn="just">
              <a:buFont typeface="Arial" panose="020B0604020202020204" pitchFamily="34" charset="0"/>
              <a:buChar char="•"/>
            </a:pPr>
            <a:r>
              <a:rPr lang="vi-VN" sz="1200" kern="1200" dirty="0">
                <a:solidFill>
                  <a:schemeClr val="tx1"/>
                </a:solidFill>
                <a:effectLst/>
                <a:latin typeface="Arial" panose="020B0604020202020204" pitchFamily="34" charset="0"/>
                <a:cs typeface="Arial" panose="020B0604020202020204" pitchFamily="34" charset="0"/>
              </a:rPr>
              <a:t>Application slicing: ánh xạ slice với từng loại ứng dụng cụ thể</a:t>
            </a:r>
          </a:p>
        </p:txBody>
      </p:sp>
    </p:spTree>
    <p:extLst>
      <p:ext uri="{BB962C8B-B14F-4D97-AF65-F5344CB8AC3E}">
        <p14:creationId xmlns:p14="http://schemas.microsoft.com/office/powerpoint/2010/main" val="3740775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F245-9B01-1A41-21E0-0F0FD99141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731023-2A7D-5905-7549-D8676D99BE2C}"/>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3" name="Title 2">
            <a:extLst>
              <a:ext uri="{FF2B5EF4-FFF2-40B4-BE49-F238E27FC236}">
                <a16:creationId xmlns:a16="http://schemas.microsoft.com/office/drawing/2014/main" id="{C864F69A-2A3D-9C3E-CDC3-1D139F05C975}"/>
              </a:ext>
            </a:extLst>
          </p:cNvPr>
          <p:cNvSpPr>
            <a:spLocks noGrp="1"/>
          </p:cNvSpPr>
          <p:nvPr>
            <p:ph type="title"/>
          </p:nvPr>
        </p:nvSpPr>
        <p:spPr/>
        <p:txBody>
          <a:bodyPr/>
          <a:lstStyle/>
          <a:p>
            <a:r>
              <a:rPr lang="en-US" dirty="0"/>
              <a:t>6. </a:t>
            </a:r>
            <a:r>
              <a:rPr lang="en-US" dirty="0" err="1"/>
              <a:t>Sơ</a:t>
            </a:r>
            <a:r>
              <a:rPr lang="en-US" dirty="0"/>
              <a:t> </a:t>
            </a:r>
            <a:r>
              <a:rPr lang="en-US" dirty="0" err="1"/>
              <a:t>đồ</a:t>
            </a:r>
            <a:r>
              <a:rPr lang="en-US" dirty="0"/>
              <a:t> </a:t>
            </a:r>
            <a:r>
              <a:rPr lang="en-US" dirty="0" err="1"/>
              <a:t>mô</a:t>
            </a:r>
            <a:r>
              <a:rPr lang="en-US" dirty="0"/>
              <a:t> </a:t>
            </a:r>
            <a:r>
              <a:rPr lang="en-US" dirty="0" err="1"/>
              <a:t>tả</a:t>
            </a:r>
            <a:r>
              <a:rPr lang="en-US" dirty="0"/>
              <a:t> </a:t>
            </a:r>
            <a:r>
              <a:rPr lang="en-US" dirty="0" err="1"/>
              <a:t>hệ</a:t>
            </a:r>
            <a:r>
              <a:rPr lang="en-US" dirty="0"/>
              <a:t> </a:t>
            </a:r>
            <a:r>
              <a:rPr lang="en-US" dirty="0" err="1"/>
              <a:t>thống</a:t>
            </a:r>
            <a:endParaRPr lang="en-US" dirty="0"/>
          </a:p>
        </p:txBody>
      </p:sp>
      <p:sp>
        <p:nvSpPr>
          <p:cNvPr id="8" name="TextBox 7">
            <a:extLst>
              <a:ext uri="{FF2B5EF4-FFF2-40B4-BE49-F238E27FC236}">
                <a16:creationId xmlns:a16="http://schemas.microsoft.com/office/drawing/2014/main" id="{716A55E4-E4FD-04A8-881A-8746A312B0F6}"/>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2F6EA1E6-DEA9-B97B-2822-94CAA2F6E2E6}"/>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Rectangle 3">
            <a:extLst>
              <a:ext uri="{FF2B5EF4-FFF2-40B4-BE49-F238E27FC236}">
                <a16:creationId xmlns:a16="http://schemas.microsoft.com/office/drawing/2014/main" id="{207870F5-3FCD-D905-6895-6ADA0B879DE5}"/>
              </a:ext>
            </a:extLst>
          </p:cNvPr>
          <p:cNvSpPr/>
          <p:nvPr/>
        </p:nvSpPr>
        <p:spPr>
          <a:xfrm>
            <a:off x="3175267" y="1069249"/>
            <a:ext cx="2372917" cy="10844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E0E0E"/>
                </a:solidFill>
              </a:rPr>
              <a:t>UAV (UE)</a:t>
            </a:r>
          </a:p>
          <a:p>
            <a:pPr marL="285750" indent="-285750" algn="just">
              <a:buFont typeface="Arial" panose="020B0604020202020204" pitchFamily="34" charset="0"/>
              <a:buChar char="•"/>
            </a:pPr>
            <a:r>
              <a:rPr lang="fr-FR" sz="1400" dirty="0">
                <a:solidFill>
                  <a:srgbClr val="0E0E0E"/>
                </a:solidFill>
              </a:rPr>
              <a:t>Communication module  </a:t>
            </a:r>
          </a:p>
          <a:p>
            <a:pPr marL="285750" indent="-285750" algn="just">
              <a:buFont typeface="Arial" panose="020B0604020202020204" pitchFamily="34" charset="0"/>
              <a:buChar char="•"/>
            </a:pPr>
            <a:r>
              <a:rPr lang="fr-FR" sz="1400" dirty="0">
                <a:solidFill>
                  <a:srgbClr val="0E0E0E"/>
                </a:solidFill>
              </a:rPr>
              <a:t>UDP </a:t>
            </a:r>
            <a:r>
              <a:rPr lang="fr-FR" sz="1400" dirty="0" err="1">
                <a:solidFill>
                  <a:srgbClr val="0E0E0E"/>
                </a:solidFill>
              </a:rPr>
              <a:t>traffic</a:t>
            </a:r>
            <a:r>
              <a:rPr lang="fr-FR" sz="1400" dirty="0">
                <a:solidFill>
                  <a:srgbClr val="0E0E0E"/>
                </a:solidFill>
              </a:rPr>
              <a:t> source </a:t>
            </a:r>
            <a:endParaRPr lang="en-US" sz="1400" dirty="0">
              <a:solidFill>
                <a:srgbClr val="0E0E0E"/>
              </a:solidFill>
            </a:endParaRPr>
          </a:p>
        </p:txBody>
      </p:sp>
      <p:sp>
        <p:nvSpPr>
          <p:cNvPr id="5" name="Rectangle 4">
            <a:extLst>
              <a:ext uri="{FF2B5EF4-FFF2-40B4-BE49-F238E27FC236}">
                <a16:creationId xmlns:a16="http://schemas.microsoft.com/office/drawing/2014/main" id="{E6253152-EC17-E3BC-C6E2-3D7144615DA3}"/>
              </a:ext>
            </a:extLst>
          </p:cNvPr>
          <p:cNvSpPr/>
          <p:nvPr/>
        </p:nvSpPr>
        <p:spPr>
          <a:xfrm>
            <a:off x="3175267" y="2573343"/>
            <a:ext cx="2372917" cy="9243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0E0E"/>
                </a:solidFill>
              </a:rPr>
              <a:t>gNB</a:t>
            </a:r>
            <a:endParaRPr lang="en-US" dirty="0">
              <a:solidFill>
                <a:srgbClr val="0E0E0E"/>
              </a:solidFill>
            </a:endParaRPr>
          </a:p>
          <a:p>
            <a:pPr marL="285750" indent="-285750" algn="just">
              <a:buFont typeface="Arial" panose="020B0604020202020204" pitchFamily="34" charset="0"/>
              <a:buChar char="•"/>
            </a:pPr>
            <a:r>
              <a:rPr lang="fr-FR" sz="1400" dirty="0">
                <a:solidFill>
                  <a:srgbClr val="0E0E0E"/>
                </a:solidFill>
              </a:rPr>
              <a:t>Radio Access</a:t>
            </a:r>
          </a:p>
          <a:p>
            <a:pPr marL="285750" indent="-285750" algn="just">
              <a:buFont typeface="Arial" panose="020B0604020202020204" pitchFamily="34" charset="0"/>
              <a:buChar char="•"/>
            </a:pPr>
            <a:r>
              <a:rPr lang="fr-FR" sz="1400" dirty="0" err="1">
                <a:solidFill>
                  <a:srgbClr val="0E0E0E"/>
                </a:solidFill>
              </a:rPr>
              <a:t>Scheduling</a:t>
            </a:r>
            <a:endParaRPr lang="en-US" sz="1400" dirty="0">
              <a:solidFill>
                <a:srgbClr val="0E0E0E"/>
              </a:solidFill>
            </a:endParaRPr>
          </a:p>
        </p:txBody>
      </p:sp>
      <p:sp>
        <p:nvSpPr>
          <p:cNvPr id="7" name="Rectangle 6">
            <a:extLst>
              <a:ext uri="{FF2B5EF4-FFF2-40B4-BE49-F238E27FC236}">
                <a16:creationId xmlns:a16="http://schemas.microsoft.com/office/drawing/2014/main" id="{A75DD5F1-CB83-9BA3-23E9-D0FDA1A13C11}"/>
              </a:ext>
            </a:extLst>
          </p:cNvPr>
          <p:cNvSpPr/>
          <p:nvPr/>
        </p:nvSpPr>
        <p:spPr>
          <a:xfrm>
            <a:off x="3175267" y="4053016"/>
            <a:ext cx="2372917" cy="8632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E0E0E"/>
                </a:solidFill>
              </a:rPr>
              <a:t>5G Core</a:t>
            </a:r>
          </a:p>
          <a:p>
            <a:pPr marL="285750" indent="-285750" algn="just">
              <a:buFont typeface="Arial" panose="020B0604020202020204" pitchFamily="34" charset="0"/>
              <a:buChar char="•"/>
            </a:pPr>
            <a:r>
              <a:rPr lang="fr-FR" sz="1400" dirty="0" err="1">
                <a:solidFill>
                  <a:srgbClr val="0E0E0E"/>
                </a:solidFill>
              </a:rPr>
              <a:t>Mobility</a:t>
            </a:r>
            <a:r>
              <a:rPr lang="fr-FR" sz="1400" dirty="0">
                <a:solidFill>
                  <a:srgbClr val="0E0E0E"/>
                </a:solidFill>
              </a:rPr>
              <a:t> Management</a:t>
            </a:r>
          </a:p>
          <a:p>
            <a:pPr marL="285750" indent="-285750" algn="just">
              <a:buFont typeface="Arial" panose="020B0604020202020204" pitchFamily="34" charset="0"/>
              <a:buChar char="•"/>
            </a:pPr>
            <a:r>
              <a:rPr lang="fr-FR" sz="1400" dirty="0" err="1">
                <a:solidFill>
                  <a:srgbClr val="0E0E0E"/>
                </a:solidFill>
              </a:rPr>
              <a:t>Bearer</a:t>
            </a:r>
            <a:r>
              <a:rPr lang="fr-FR" sz="1400" dirty="0">
                <a:solidFill>
                  <a:srgbClr val="0E0E0E"/>
                </a:solidFill>
              </a:rPr>
              <a:t> Handling</a:t>
            </a:r>
            <a:endParaRPr lang="en-US" sz="1400" dirty="0">
              <a:solidFill>
                <a:srgbClr val="0E0E0E"/>
              </a:solidFill>
            </a:endParaRPr>
          </a:p>
        </p:txBody>
      </p:sp>
      <p:sp>
        <p:nvSpPr>
          <p:cNvPr id="9" name="Rectangle 8">
            <a:extLst>
              <a:ext uri="{FF2B5EF4-FFF2-40B4-BE49-F238E27FC236}">
                <a16:creationId xmlns:a16="http://schemas.microsoft.com/office/drawing/2014/main" id="{ED06B1F5-529D-2294-3108-392B654202DA}"/>
              </a:ext>
            </a:extLst>
          </p:cNvPr>
          <p:cNvSpPr/>
          <p:nvPr/>
        </p:nvSpPr>
        <p:spPr>
          <a:xfrm>
            <a:off x="3175267" y="5358311"/>
            <a:ext cx="2372917" cy="9621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E0E0E"/>
                </a:solidFill>
              </a:rPr>
              <a:t>Remote Server</a:t>
            </a:r>
          </a:p>
          <a:p>
            <a:pPr marL="285750" indent="-285750" algn="just">
              <a:buFont typeface="Arial" panose="020B0604020202020204" pitchFamily="34" charset="0"/>
              <a:buChar char="•"/>
            </a:pPr>
            <a:r>
              <a:rPr lang="fr-FR" sz="1400" dirty="0">
                <a:solidFill>
                  <a:srgbClr val="0E0E0E"/>
                </a:solidFill>
              </a:rPr>
              <a:t>Data </a:t>
            </a:r>
            <a:r>
              <a:rPr lang="fr-FR" sz="1400" dirty="0" err="1">
                <a:solidFill>
                  <a:srgbClr val="0E0E0E"/>
                </a:solidFill>
              </a:rPr>
              <a:t>sink</a:t>
            </a:r>
            <a:endParaRPr lang="fr-FR" sz="1400" dirty="0">
              <a:solidFill>
                <a:srgbClr val="0E0E0E"/>
              </a:solidFill>
            </a:endParaRPr>
          </a:p>
          <a:p>
            <a:pPr marL="285750" indent="-285750" algn="just">
              <a:buFont typeface="Arial" panose="020B0604020202020204" pitchFamily="34" charset="0"/>
              <a:buChar char="•"/>
            </a:pPr>
            <a:r>
              <a:rPr lang="fr-FR" sz="1400" dirty="0">
                <a:solidFill>
                  <a:srgbClr val="0E0E0E"/>
                </a:solidFill>
              </a:rPr>
              <a:t>Monitoring / Control</a:t>
            </a:r>
            <a:endParaRPr lang="en-US" sz="1400" dirty="0">
              <a:solidFill>
                <a:srgbClr val="0E0E0E"/>
              </a:solidFill>
            </a:endParaRPr>
          </a:p>
        </p:txBody>
      </p:sp>
      <p:cxnSp>
        <p:nvCxnSpPr>
          <p:cNvPr id="12" name="Straight Arrow Connector 11">
            <a:extLst>
              <a:ext uri="{FF2B5EF4-FFF2-40B4-BE49-F238E27FC236}">
                <a16:creationId xmlns:a16="http://schemas.microsoft.com/office/drawing/2014/main" id="{44FF8EBF-AF4B-D726-19C3-42B31FFF04C9}"/>
              </a:ext>
            </a:extLst>
          </p:cNvPr>
          <p:cNvCxnSpPr>
            <a:stCxn id="4" idx="2"/>
            <a:endCxn id="5" idx="0"/>
          </p:cNvCxnSpPr>
          <p:nvPr/>
        </p:nvCxnSpPr>
        <p:spPr>
          <a:xfrm>
            <a:off x="4361726" y="2153745"/>
            <a:ext cx="0" cy="419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44B2FFA-464D-B62B-C5CA-E7EC173BF364}"/>
              </a:ext>
            </a:extLst>
          </p:cNvPr>
          <p:cNvCxnSpPr>
            <a:cxnSpLocks/>
          </p:cNvCxnSpPr>
          <p:nvPr/>
        </p:nvCxnSpPr>
        <p:spPr>
          <a:xfrm>
            <a:off x="4342067" y="3497739"/>
            <a:ext cx="0" cy="555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089B75A-A45F-87DD-174B-9EAE3034D01A}"/>
              </a:ext>
            </a:extLst>
          </p:cNvPr>
          <p:cNvCxnSpPr/>
          <p:nvPr/>
        </p:nvCxnSpPr>
        <p:spPr>
          <a:xfrm>
            <a:off x="4345041" y="4938713"/>
            <a:ext cx="0" cy="419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484A480-AC87-CFAF-8062-845918C6100F}"/>
              </a:ext>
            </a:extLst>
          </p:cNvPr>
          <p:cNvSpPr txBox="1"/>
          <p:nvPr/>
        </p:nvSpPr>
        <p:spPr>
          <a:xfrm>
            <a:off x="4572000" y="2232739"/>
            <a:ext cx="2588739" cy="261610"/>
          </a:xfrm>
          <a:prstGeom prst="rect">
            <a:avLst/>
          </a:prstGeom>
          <a:noFill/>
        </p:spPr>
        <p:txBody>
          <a:bodyPr wrap="square">
            <a:spAutoFit/>
          </a:bodyPr>
          <a:lstStyle/>
          <a:p>
            <a:r>
              <a:rPr lang="fr-FR" sz="1100" i="1" dirty="0">
                <a:solidFill>
                  <a:srgbClr val="0E0E0E"/>
                </a:solidFill>
              </a:rPr>
              <a:t>5G NR</a:t>
            </a:r>
            <a:endParaRPr lang="en-US" sz="1100" i="1" dirty="0"/>
          </a:p>
        </p:txBody>
      </p:sp>
      <p:sp>
        <p:nvSpPr>
          <p:cNvPr id="24" name="TextBox 23">
            <a:extLst>
              <a:ext uri="{FF2B5EF4-FFF2-40B4-BE49-F238E27FC236}">
                <a16:creationId xmlns:a16="http://schemas.microsoft.com/office/drawing/2014/main" id="{D2CC8C68-A46A-EA2C-3C9B-E3D08E7AEF54}"/>
              </a:ext>
            </a:extLst>
          </p:cNvPr>
          <p:cNvSpPr txBox="1"/>
          <p:nvPr/>
        </p:nvSpPr>
        <p:spPr>
          <a:xfrm>
            <a:off x="4571999" y="3664720"/>
            <a:ext cx="2588739" cy="261610"/>
          </a:xfrm>
          <a:prstGeom prst="rect">
            <a:avLst/>
          </a:prstGeom>
          <a:noFill/>
        </p:spPr>
        <p:txBody>
          <a:bodyPr wrap="square">
            <a:spAutoFit/>
          </a:bodyPr>
          <a:lstStyle/>
          <a:p>
            <a:r>
              <a:rPr lang="fr-FR" sz="1100" i="1" dirty="0" err="1">
                <a:solidFill>
                  <a:srgbClr val="0E0E0E"/>
                </a:solidFill>
              </a:rPr>
              <a:t>Core</a:t>
            </a:r>
            <a:r>
              <a:rPr lang="fr-FR" sz="1100" i="1" dirty="0">
                <a:solidFill>
                  <a:srgbClr val="0E0E0E"/>
                </a:solidFill>
              </a:rPr>
              <a:t> Network</a:t>
            </a:r>
            <a:endParaRPr lang="en-US" sz="1100" i="1" dirty="0"/>
          </a:p>
        </p:txBody>
      </p:sp>
      <p:sp>
        <p:nvSpPr>
          <p:cNvPr id="25" name="TextBox 24">
            <a:extLst>
              <a:ext uri="{FF2B5EF4-FFF2-40B4-BE49-F238E27FC236}">
                <a16:creationId xmlns:a16="http://schemas.microsoft.com/office/drawing/2014/main" id="{8EDAF444-2751-9E19-40BA-A06DA9F90D4F}"/>
              </a:ext>
            </a:extLst>
          </p:cNvPr>
          <p:cNvSpPr txBox="1"/>
          <p:nvPr/>
        </p:nvSpPr>
        <p:spPr>
          <a:xfrm>
            <a:off x="4571999" y="5024850"/>
            <a:ext cx="2588739" cy="261610"/>
          </a:xfrm>
          <a:prstGeom prst="rect">
            <a:avLst/>
          </a:prstGeom>
          <a:noFill/>
        </p:spPr>
        <p:txBody>
          <a:bodyPr wrap="square">
            <a:spAutoFit/>
          </a:bodyPr>
          <a:lstStyle/>
          <a:p>
            <a:r>
              <a:rPr lang="fr-FR" sz="1100" i="1" dirty="0">
                <a:solidFill>
                  <a:srgbClr val="0E0E0E"/>
                </a:solidFill>
              </a:rPr>
              <a:t>IP Network</a:t>
            </a:r>
            <a:endParaRPr lang="en-US" sz="1100" i="1" dirty="0"/>
          </a:p>
        </p:txBody>
      </p:sp>
    </p:spTree>
    <p:extLst>
      <p:ext uri="{BB962C8B-B14F-4D97-AF65-F5344CB8AC3E}">
        <p14:creationId xmlns:p14="http://schemas.microsoft.com/office/powerpoint/2010/main" val="2086187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1C93-EE34-5AF8-6F2C-6007EDC6C0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E2F239-C199-4E07-C185-279019510D47}"/>
              </a:ext>
            </a:extLst>
          </p:cNvPr>
          <p:cNvSpPr>
            <a:spLocks noGrp="1"/>
          </p:cNvSpPr>
          <p:nvPr>
            <p:ph type="sldNum" sz="quarter" idx="12"/>
          </p:nvPr>
        </p:nvSpPr>
        <p:spPr/>
        <p:txBody>
          <a:bodyPr/>
          <a:lstStyle/>
          <a:p>
            <a:fld id="{9EA0BE3B-158A-4EDF-80DC-E394A0D1600F}" type="slidenum">
              <a:rPr lang="en-US" smtClean="0"/>
              <a:pPr/>
              <a:t>28</a:t>
            </a:fld>
            <a:endParaRPr lang="en-US" dirty="0"/>
          </a:p>
        </p:txBody>
      </p:sp>
      <p:sp>
        <p:nvSpPr>
          <p:cNvPr id="3" name="Title 2">
            <a:extLst>
              <a:ext uri="{FF2B5EF4-FFF2-40B4-BE49-F238E27FC236}">
                <a16:creationId xmlns:a16="http://schemas.microsoft.com/office/drawing/2014/main" id="{83756B76-9A93-A396-56B4-C99CCC57B3AE}"/>
              </a:ext>
            </a:extLst>
          </p:cNvPr>
          <p:cNvSpPr>
            <a:spLocks noGrp="1"/>
          </p:cNvSpPr>
          <p:nvPr>
            <p:ph type="title"/>
          </p:nvPr>
        </p:nvSpPr>
        <p:spPr/>
        <p:txBody>
          <a:bodyPr/>
          <a:lstStyle/>
          <a:p>
            <a:r>
              <a:rPr lang="en-US" dirty="0"/>
              <a:t>7. Scenario (Emergency UAV Deployment)</a:t>
            </a:r>
          </a:p>
        </p:txBody>
      </p:sp>
      <p:sp>
        <p:nvSpPr>
          <p:cNvPr id="8" name="TextBox 7">
            <a:extLst>
              <a:ext uri="{FF2B5EF4-FFF2-40B4-BE49-F238E27FC236}">
                <a16:creationId xmlns:a16="http://schemas.microsoft.com/office/drawing/2014/main" id="{DE6E1D8E-1292-C330-1FC1-072B77E81C7B}"/>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CEA32CB9-FC47-03F1-9B11-8343AF2EDB05}"/>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5" name="TextBox 4">
            <a:extLst>
              <a:ext uri="{FF2B5EF4-FFF2-40B4-BE49-F238E27FC236}">
                <a16:creationId xmlns:a16="http://schemas.microsoft.com/office/drawing/2014/main" id="{95DC23A1-3297-0B3E-F5AA-70CF603F90A1}"/>
              </a:ext>
            </a:extLst>
          </p:cNvPr>
          <p:cNvSpPr txBox="1"/>
          <p:nvPr/>
        </p:nvSpPr>
        <p:spPr>
          <a:xfrm>
            <a:off x="407638" y="1037594"/>
            <a:ext cx="9088265" cy="5355312"/>
          </a:xfrm>
          <a:prstGeom prst="rect">
            <a:avLst/>
          </a:prstGeom>
          <a:noFill/>
        </p:spPr>
        <p:txBody>
          <a:bodyPr wrap="square">
            <a:spAutoFit/>
          </a:bodyPr>
          <a:lstStyle/>
          <a:p>
            <a:r>
              <a:rPr lang="en-US" dirty="0"/>
              <a:t>- </a:t>
            </a:r>
            <a:r>
              <a:rPr lang="vi-VN" dirty="0"/>
              <a:t>Tình huống: Sập tòa nhà đô thị do cháy nổ / động đất</a:t>
            </a:r>
          </a:p>
          <a:p>
            <a:r>
              <a:rPr lang="en-US" dirty="0"/>
              <a:t>- </a:t>
            </a:r>
            <a:r>
              <a:rPr lang="vi-VN" dirty="0"/>
              <a:t>Vấn đề:</a:t>
            </a:r>
          </a:p>
          <a:p>
            <a:pPr marL="742950" lvl="1" indent="-285750">
              <a:buFont typeface="Arial" panose="020B0604020202020204" pitchFamily="34" charset="0"/>
              <a:buChar char="•"/>
            </a:pPr>
            <a:r>
              <a:rPr lang="vi-VN" dirty="0"/>
              <a:t>Hạ tầng viễn thông công cộng mất kết nối hoặc quá tải</a:t>
            </a:r>
            <a:endParaRPr lang="en-US" dirty="0"/>
          </a:p>
          <a:p>
            <a:pPr marL="742950" lvl="1" indent="-285750">
              <a:buFont typeface="Arial" panose="020B0604020202020204" pitchFamily="34" charset="0"/>
              <a:buChar char="•"/>
            </a:pPr>
            <a:r>
              <a:rPr lang="vi-VN" dirty="0"/>
              <a:t>Lực lượng cứu hộ khó tiếp cận hiện trường</a:t>
            </a:r>
          </a:p>
          <a:p>
            <a:r>
              <a:rPr lang="en-US" dirty="0"/>
              <a:t>- </a:t>
            </a:r>
            <a:r>
              <a:rPr lang="vi-VN" dirty="0"/>
              <a:t>Giải pháp:</a:t>
            </a:r>
          </a:p>
          <a:p>
            <a:pPr marL="742950" lvl="1" indent="-285750">
              <a:buFont typeface="Arial" panose="020B0604020202020204" pitchFamily="34" charset="0"/>
              <a:buChar char="•"/>
            </a:pPr>
            <a:r>
              <a:rPr lang="vi-VN" dirty="0"/>
              <a:t>Triển khai xe cứu hộ mang trạm gốc 5G lưu động (mobile gNB)</a:t>
            </a:r>
          </a:p>
          <a:p>
            <a:pPr marL="742950" lvl="1" indent="-285750">
              <a:buFont typeface="Arial" panose="020B0604020202020204" pitchFamily="34" charset="0"/>
              <a:buChar char="•"/>
            </a:pPr>
            <a:r>
              <a:rPr lang="vi-VN" dirty="0"/>
              <a:t>Tạo mạng 5G riêng tạm thời (private 5G SA) phục vụ cứu hộ</a:t>
            </a:r>
          </a:p>
          <a:p>
            <a:r>
              <a:rPr lang="en-US" dirty="0"/>
              <a:t>- </a:t>
            </a:r>
            <a:r>
              <a:rPr lang="vi-VN" dirty="0"/>
              <a:t>Vai trò UAV:</a:t>
            </a:r>
            <a:r>
              <a:rPr lang="en-US" dirty="0"/>
              <a:t> </a:t>
            </a:r>
            <a:r>
              <a:rPr lang="vi-VN" dirty="0"/>
              <a:t>UE trên không, kết nối trực tiếp với mobile gNB</a:t>
            </a:r>
          </a:p>
          <a:p>
            <a:pPr marL="742950" lvl="1" indent="-285750">
              <a:buFont typeface="Arial" panose="020B0604020202020204" pitchFamily="34" charset="0"/>
              <a:buChar char="•"/>
            </a:pPr>
            <a:r>
              <a:rPr lang="vi-VN" dirty="0"/>
              <a:t>Bay khảo sát hiện trường</a:t>
            </a:r>
          </a:p>
          <a:p>
            <a:pPr marL="742950" lvl="1" indent="-285750">
              <a:buFont typeface="Arial" panose="020B0604020202020204" pitchFamily="34" charset="0"/>
              <a:buChar char="•"/>
            </a:pPr>
            <a:r>
              <a:rPr lang="vi-VN" dirty="0"/>
              <a:t>Truyền video thời gian thực</a:t>
            </a:r>
          </a:p>
          <a:p>
            <a:pPr marL="742950" lvl="1" indent="-285750">
              <a:buFont typeface="Arial" panose="020B0604020202020204" pitchFamily="34" charset="0"/>
              <a:buChar char="•"/>
            </a:pPr>
            <a:r>
              <a:rPr lang="vi-VN" dirty="0"/>
              <a:t>Hỗ trợ phát hiện nạn nhân và chỉ huy</a:t>
            </a:r>
            <a:endParaRPr lang="en-US" dirty="0"/>
          </a:p>
          <a:p>
            <a:r>
              <a:rPr lang="en-US" dirty="0"/>
              <a:t>- </a:t>
            </a:r>
            <a:r>
              <a:rPr lang="vi-VN" dirty="0"/>
              <a:t>Dữ liệu được truyền qua mạng 5G riêng đến trung tâm chỉ huy</a:t>
            </a:r>
          </a:p>
          <a:p>
            <a:endParaRPr lang="en-US" dirty="0"/>
          </a:p>
          <a:p>
            <a:r>
              <a:rPr lang="en-US" b="1" dirty="0" err="1"/>
              <a:t>Yêu</a:t>
            </a:r>
            <a:r>
              <a:rPr lang="en-US" b="1" dirty="0"/>
              <a:t> </a:t>
            </a:r>
            <a:r>
              <a:rPr lang="en-US" b="1" dirty="0" err="1"/>
              <a:t>cầu</a:t>
            </a:r>
            <a:r>
              <a:rPr lang="en-US" b="1" dirty="0"/>
              <a:t> </a:t>
            </a:r>
            <a:r>
              <a:rPr lang="en-US" b="1" dirty="0" err="1"/>
              <a:t>mục</a:t>
            </a:r>
            <a:r>
              <a:rPr lang="en-US" b="1" dirty="0"/>
              <a:t> </a:t>
            </a:r>
            <a:r>
              <a:rPr lang="en-US" b="1" dirty="0" err="1"/>
              <a:t>tiêu</a:t>
            </a:r>
            <a:r>
              <a:rPr lang="en-US" b="1" dirty="0"/>
              <a:t> </a:t>
            </a:r>
            <a:r>
              <a:rPr lang="en-US" b="1" dirty="0" err="1"/>
              <a:t>của</a:t>
            </a:r>
            <a:r>
              <a:rPr lang="en-US" b="1" dirty="0"/>
              <a:t> </a:t>
            </a:r>
            <a:r>
              <a:rPr lang="en-US" b="1" dirty="0" err="1"/>
              <a:t>hệ</a:t>
            </a:r>
            <a:r>
              <a:rPr lang="en-US" b="1" dirty="0"/>
              <a:t> </a:t>
            </a:r>
            <a:r>
              <a:rPr lang="en-US" b="1" dirty="0" err="1"/>
              <a:t>thống</a:t>
            </a:r>
            <a:r>
              <a:rPr lang="en-US" b="1" dirty="0"/>
              <a:t>:</a:t>
            </a:r>
            <a:endParaRPr lang="vi-VN" b="1" dirty="0"/>
          </a:p>
          <a:p>
            <a:pPr marL="285750" indent="-285750">
              <a:buFont typeface="Arial" panose="020B0604020202020204" pitchFamily="34" charset="0"/>
              <a:buChar char="•"/>
            </a:pPr>
            <a:r>
              <a:rPr lang="vi-VN" dirty="0"/>
              <a:t>Coverage: 50 – 200 m quanh trạm gốc lưu động</a:t>
            </a:r>
          </a:p>
          <a:p>
            <a:pPr marL="285750" indent="-285750">
              <a:buFont typeface="Arial" panose="020B0604020202020204" pitchFamily="34" charset="0"/>
              <a:buChar char="•"/>
            </a:pPr>
            <a:r>
              <a:rPr lang="vi-VN" dirty="0"/>
              <a:t>Latency (C2 control): &lt; 1 ms</a:t>
            </a:r>
          </a:p>
          <a:p>
            <a:pPr marL="285750" indent="-285750">
              <a:buFont typeface="Arial" panose="020B0604020202020204" pitchFamily="34" charset="0"/>
              <a:buChar char="•"/>
            </a:pPr>
            <a:r>
              <a:rPr lang="vi-VN" dirty="0"/>
              <a:t>Throughput (video): &gt; 20 Mbps / luồng</a:t>
            </a:r>
          </a:p>
          <a:p>
            <a:pPr marL="285750" indent="-285750">
              <a:buFont typeface="Arial" panose="020B0604020202020204" pitchFamily="34" charset="0"/>
              <a:buChar char="•"/>
            </a:pPr>
            <a:r>
              <a:rPr lang="vi-VN" dirty="0"/>
              <a:t>Reliability: &gt; 99.9% (packet loss rất thấp)</a:t>
            </a:r>
          </a:p>
          <a:p>
            <a:pPr lvl="1"/>
            <a:endParaRPr lang="en-US" dirty="0"/>
          </a:p>
        </p:txBody>
      </p:sp>
    </p:spTree>
    <p:extLst>
      <p:ext uri="{BB962C8B-B14F-4D97-AF65-F5344CB8AC3E}">
        <p14:creationId xmlns:p14="http://schemas.microsoft.com/office/powerpoint/2010/main" val="3222768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B4310-AE03-A1FA-558A-4CE3D6C153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7C221B-5A81-AB82-1119-93B90624D6D5}"/>
              </a:ext>
            </a:extLst>
          </p:cNvPr>
          <p:cNvSpPr>
            <a:spLocks noGrp="1"/>
          </p:cNvSpPr>
          <p:nvPr>
            <p:ph type="sldNum" sz="quarter" idx="12"/>
          </p:nvPr>
        </p:nvSpPr>
        <p:spPr/>
        <p:txBody>
          <a:bodyPr/>
          <a:lstStyle/>
          <a:p>
            <a:fld id="{9EA0BE3B-158A-4EDF-80DC-E394A0D1600F}" type="slidenum">
              <a:rPr lang="en-US" smtClean="0"/>
              <a:pPr/>
              <a:t>29</a:t>
            </a:fld>
            <a:endParaRPr lang="en-US" dirty="0"/>
          </a:p>
        </p:txBody>
      </p:sp>
      <p:sp>
        <p:nvSpPr>
          <p:cNvPr id="3" name="Title 2">
            <a:extLst>
              <a:ext uri="{FF2B5EF4-FFF2-40B4-BE49-F238E27FC236}">
                <a16:creationId xmlns:a16="http://schemas.microsoft.com/office/drawing/2014/main" id="{F1A1F80D-A508-C173-561B-0A52ADE3C033}"/>
              </a:ext>
            </a:extLst>
          </p:cNvPr>
          <p:cNvSpPr>
            <a:spLocks noGrp="1"/>
          </p:cNvSpPr>
          <p:nvPr>
            <p:ph type="title"/>
          </p:nvPr>
        </p:nvSpPr>
        <p:spPr/>
        <p:txBody>
          <a:bodyPr/>
          <a:lstStyle/>
          <a:p>
            <a:r>
              <a:rPr lang="en-US" dirty="0"/>
              <a:t>8. </a:t>
            </a:r>
            <a:r>
              <a:rPr lang="en-US" dirty="0" err="1"/>
              <a:t>Sơ</a:t>
            </a:r>
            <a:r>
              <a:rPr lang="en-US" dirty="0"/>
              <a:t> </a:t>
            </a:r>
            <a:r>
              <a:rPr lang="en-US" dirty="0" err="1"/>
              <a:t>đồ</a:t>
            </a:r>
            <a:r>
              <a:rPr lang="en-US" dirty="0"/>
              <a:t> </a:t>
            </a:r>
            <a:r>
              <a:rPr lang="en-US" dirty="0" err="1"/>
              <a:t>thuật</a:t>
            </a:r>
            <a:r>
              <a:rPr lang="en-US" dirty="0"/>
              <a:t> </a:t>
            </a:r>
            <a:r>
              <a:rPr lang="en-US" dirty="0" err="1"/>
              <a:t>toán</a:t>
            </a:r>
            <a:r>
              <a:rPr lang="en-US" dirty="0"/>
              <a:t> </a:t>
            </a:r>
            <a:r>
              <a:rPr lang="en-US" dirty="0" err="1"/>
              <a:t>và</a:t>
            </a:r>
            <a:r>
              <a:rPr lang="en-US" dirty="0"/>
              <a:t> </a:t>
            </a:r>
            <a:r>
              <a:rPr lang="en-US" dirty="0" err="1"/>
              <a:t>kịch</a:t>
            </a:r>
            <a:r>
              <a:rPr lang="en-US" dirty="0"/>
              <a:t> </a:t>
            </a:r>
            <a:r>
              <a:rPr lang="en-US" dirty="0" err="1"/>
              <a:t>bản</a:t>
            </a:r>
            <a:r>
              <a:rPr lang="en-US" dirty="0"/>
              <a:t> </a:t>
            </a:r>
            <a:r>
              <a:rPr lang="en-US" dirty="0" err="1"/>
              <a:t>mô</a:t>
            </a:r>
            <a:r>
              <a:rPr lang="en-US" dirty="0"/>
              <a:t> </a:t>
            </a:r>
            <a:r>
              <a:rPr lang="en-US" dirty="0" err="1"/>
              <a:t>phỏng</a:t>
            </a:r>
            <a:endParaRPr lang="en-US" dirty="0"/>
          </a:p>
        </p:txBody>
      </p:sp>
      <p:sp>
        <p:nvSpPr>
          <p:cNvPr id="8" name="TextBox 7">
            <a:extLst>
              <a:ext uri="{FF2B5EF4-FFF2-40B4-BE49-F238E27FC236}">
                <a16:creationId xmlns:a16="http://schemas.microsoft.com/office/drawing/2014/main" id="{F61021B4-AAC3-F1AB-CFCB-8868C7AA9ACC}"/>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pic>
        <p:nvPicPr>
          <p:cNvPr id="2052" name="Picture 4">
            <a:extLst>
              <a:ext uri="{FF2B5EF4-FFF2-40B4-BE49-F238E27FC236}">
                <a16:creationId xmlns:a16="http://schemas.microsoft.com/office/drawing/2014/main" id="{C962F4C9-0204-FB20-1136-23031C0078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327" y="530352"/>
            <a:ext cx="1819563" cy="61762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9955B3D-39DE-D678-1084-D49341A86BDC}"/>
              </a:ext>
            </a:extLst>
          </p:cNvPr>
          <p:cNvSpPr txBox="1"/>
          <p:nvPr/>
        </p:nvSpPr>
        <p:spPr>
          <a:xfrm>
            <a:off x="3767877" y="958508"/>
            <a:ext cx="4581796" cy="4462760"/>
          </a:xfrm>
          <a:prstGeom prst="rect">
            <a:avLst/>
          </a:prstGeom>
          <a:noFill/>
        </p:spPr>
        <p:txBody>
          <a:bodyPr wrap="square">
            <a:spAutoFit/>
          </a:bodyPr>
          <a:lstStyle/>
          <a:p>
            <a:r>
              <a:rPr lang="en-US" sz="1600" b="1" dirty="0"/>
              <a:t>KỊCH BẢN MÔ PHỎNG</a:t>
            </a:r>
          </a:p>
          <a:p>
            <a:endParaRPr lang="en-US" sz="1600" b="1" dirty="0"/>
          </a:p>
          <a:p>
            <a:r>
              <a:rPr lang="vi-VN" sz="1200" b="1" dirty="0"/>
              <a:t>1. Mobility Parameter Sweep (No Slicing)</a:t>
            </a:r>
          </a:p>
          <a:p>
            <a:pPr marL="171450" indent="-171450">
              <a:buFont typeface="Arial" panose="020B0604020202020204" pitchFamily="34" charset="0"/>
              <a:buChar char="•"/>
            </a:pPr>
            <a:r>
              <a:rPr lang="vi-VN" sz="1200" dirty="0"/>
              <a:t>Mục tiêu</a:t>
            </a:r>
            <a:r>
              <a:rPr lang="en-US" sz="1200" dirty="0"/>
              <a:t>: </a:t>
            </a:r>
            <a:r>
              <a:rPr lang="vi-VN" sz="1200" dirty="0"/>
              <a:t>Đánh giá ảnh hưởng của mobility và điều kiện truyền dẫn đến hiệu năng mạng 5G NR.</a:t>
            </a:r>
          </a:p>
          <a:p>
            <a:pPr marL="171450" indent="-171450">
              <a:buFont typeface="Arial" panose="020B0604020202020204" pitchFamily="34" charset="0"/>
              <a:buChar char="•"/>
            </a:pPr>
            <a:r>
              <a:rPr lang="vi-VN" sz="1200" dirty="0"/>
              <a:t>Thiết lập</a:t>
            </a:r>
            <a:r>
              <a:rPr lang="en-US" sz="1200" dirty="0"/>
              <a:t> sweep </a:t>
            </a:r>
            <a:r>
              <a:rPr lang="en-US" sz="1200" dirty="0" err="1"/>
              <a:t>các</a:t>
            </a:r>
            <a:r>
              <a:rPr lang="en-US" sz="1200" dirty="0"/>
              <a:t> </a:t>
            </a:r>
            <a:r>
              <a:rPr lang="en-US" sz="1200" dirty="0" err="1"/>
              <a:t>giá</a:t>
            </a:r>
            <a:r>
              <a:rPr lang="en-US" sz="1200" dirty="0"/>
              <a:t> </a:t>
            </a:r>
            <a:r>
              <a:rPr lang="en-US" sz="1200" dirty="0" err="1"/>
              <a:t>trị</a:t>
            </a:r>
            <a:r>
              <a:rPr lang="en-US" sz="1200" dirty="0"/>
              <a:t> </a:t>
            </a:r>
            <a:r>
              <a:rPr lang="en-US" sz="1200" dirty="0" err="1"/>
              <a:t>lần</a:t>
            </a:r>
            <a:r>
              <a:rPr lang="en-US" sz="1200" dirty="0"/>
              <a:t> </a:t>
            </a:r>
            <a:r>
              <a:rPr lang="en-US" sz="1200" dirty="0" err="1"/>
              <a:t>lượt</a:t>
            </a:r>
            <a:r>
              <a:rPr lang="en-US" sz="1200" dirty="0"/>
              <a:t> </a:t>
            </a:r>
            <a:r>
              <a:rPr lang="en-US" sz="1200" dirty="0" err="1"/>
              <a:t>là</a:t>
            </a:r>
            <a:r>
              <a:rPr lang="en-US" sz="1200" dirty="0"/>
              <a:t> </a:t>
            </a:r>
            <a:r>
              <a:rPr lang="en-US" sz="1200" dirty="0" err="1"/>
              <a:t>tốc</a:t>
            </a:r>
            <a:r>
              <a:rPr lang="en-US" sz="1200" dirty="0"/>
              <a:t> </a:t>
            </a:r>
            <a:r>
              <a:rPr lang="en-US" sz="1200" dirty="0" err="1"/>
              <a:t>độ</a:t>
            </a:r>
            <a:r>
              <a:rPr lang="en-US" sz="1200" dirty="0"/>
              <a:t>, </a:t>
            </a:r>
            <a:r>
              <a:rPr lang="en-US" sz="1200" dirty="0" err="1"/>
              <a:t>độ</a:t>
            </a:r>
            <a:r>
              <a:rPr lang="en-US" sz="1200" dirty="0"/>
              <a:t> </a:t>
            </a:r>
            <a:r>
              <a:rPr lang="en-US" sz="1200" dirty="0" err="1"/>
              <a:t>cao</a:t>
            </a:r>
            <a:r>
              <a:rPr lang="en-US" sz="1200" dirty="0"/>
              <a:t>, </a:t>
            </a:r>
            <a:r>
              <a:rPr lang="en-US" sz="1200" dirty="0" err="1"/>
              <a:t>công</a:t>
            </a:r>
            <a:r>
              <a:rPr lang="en-US" sz="1200" dirty="0"/>
              <a:t> </a:t>
            </a:r>
            <a:r>
              <a:rPr lang="en-US" sz="1200" dirty="0" err="1"/>
              <a:t>suất</a:t>
            </a:r>
            <a:r>
              <a:rPr lang="en-US" sz="1200" dirty="0"/>
              <a:t>, </a:t>
            </a:r>
            <a:r>
              <a:rPr lang="en-US" sz="1200" dirty="0" err="1"/>
              <a:t>thay</a:t>
            </a:r>
            <a:r>
              <a:rPr lang="en-US" sz="1200" dirty="0"/>
              <a:t> </a:t>
            </a:r>
            <a:r>
              <a:rPr lang="en-US" sz="1200" dirty="0" err="1"/>
              <a:t>đổi</a:t>
            </a:r>
            <a:r>
              <a:rPr lang="en-US" sz="1200" dirty="0"/>
              <a:t> </a:t>
            </a:r>
            <a:r>
              <a:rPr lang="en-US" sz="1200" dirty="0" err="1"/>
              <a:t>điều</a:t>
            </a:r>
            <a:r>
              <a:rPr lang="en-US" sz="1200" dirty="0"/>
              <a:t> </a:t>
            </a:r>
            <a:r>
              <a:rPr lang="en-US" sz="1200" dirty="0" err="1"/>
              <a:t>kiện</a:t>
            </a:r>
            <a:r>
              <a:rPr lang="en-US" sz="1200" dirty="0"/>
              <a:t> </a:t>
            </a:r>
            <a:r>
              <a:rPr lang="en-US" sz="1200" dirty="0" err="1"/>
              <a:t>môi</a:t>
            </a:r>
            <a:r>
              <a:rPr lang="en-US" sz="1200" dirty="0"/>
              <a:t> </a:t>
            </a:r>
            <a:r>
              <a:rPr lang="en-US" sz="1200" dirty="0" err="1"/>
              <a:t>trường</a:t>
            </a:r>
            <a:r>
              <a:rPr lang="en-US" sz="1200" dirty="0"/>
              <a:t> </a:t>
            </a:r>
            <a:r>
              <a:rPr lang="en-US" sz="1200" dirty="0" err="1"/>
              <a:t>mô</a:t>
            </a:r>
            <a:r>
              <a:rPr lang="en-US" sz="1200" dirty="0"/>
              <a:t> </a:t>
            </a:r>
            <a:r>
              <a:rPr lang="en-US" sz="1200" dirty="0" err="1"/>
              <a:t>phỏng</a:t>
            </a:r>
            <a:r>
              <a:rPr lang="en-US" sz="1200" dirty="0"/>
              <a:t> </a:t>
            </a:r>
            <a:r>
              <a:rPr lang="en-US" sz="1200" dirty="0" err="1"/>
              <a:t>để</a:t>
            </a:r>
            <a:r>
              <a:rPr lang="en-US" sz="1200" dirty="0"/>
              <a:t> </a:t>
            </a:r>
            <a:r>
              <a:rPr lang="en-US" sz="1200" dirty="0" err="1"/>
              <a:t>đánh</a:t>
            </a:r>
            <a:r>
              <a:rPr lang="en-US" sz="1200" dirty="0"/>
              <a:t> </a:t>
            </a:r>
            <a:r>
              <a:rPr lang="en-US" sz="1200" dirty="0" err="1"/>
              <a:t>giá</a:t>
            </a:r>
            <a:endParaRPr lang="vi-VN" sz="1200" dirty="0"/>
          </a:p>
          <a:p>
            <a:pPr marL="171450" indent="-171450">
              <a:buFont typeface="Arial" panose="020B0604020202020204" pitchFamily="34" charset="0"/>
              <a:buChar char="•"/>
            </a:pPr>
            <a:r>
              <a:rPr lang="vi-VN" sz="1200" dirty="0"/>
              <a:t>Đặc điểm</a:t>
            </a:r>
          </a:p>
          <a:p>
            <a:pPr marL="628650" lvl="1" indent="-171450">
              <a:buFont typeface="Courier New" panose="02070309020205020404" pitchFamily="49" charset="0"/>
              <a:buChar char="o"/>
            </a:pPr>
            <a:r>
              <a:rPr lang="vi-VN" sz="1200" dirty="0"/>
              <a:t>1 UAV – 1 gNB – 1 Server</a:t>
            </a:r>
          </a:p>
          <a:p>
            <a:pPr marL="628650" lvl="1" indent="-171450">
              <a:buFont typeface="Courier New" panose="02070309020205020404" pitchFamily="49" charset="0"/>
              <a:buChar char="o"/>
            </a:pPr>
            <a:r>
              <a:rPr lang="vi-VN" sz="1200" dirty="0"/>
              <a:t>Single UDP uplink flow</a:t>
            </a:r>
          </a:p>
          <a:p>
            <a:pPr marL="171450" indent="-171450">
              <a:buFont typeface="Arial" panose="020B0604020202020204" pitchFamily="34" charset="0"/>
              <a:buChar char="•"/>
            </a:pPr>
            <a:r>
              <a:rPr lang="vi-VN" sz="1200" dirty="0"/>
              <a:t>Metrics</a:t>
            </a:r>
            <a:r>
              <a:rPr lang="en-US" sz="1200" dirty="0"/>
              <a:t>: </a:t>
            </a:r>
            <a:r>
              <a:rPr lang="vi-VN" sz="1200" dirty="0"/>
              <a:t>Delay, Jitter</a:t>
            </a:r>
            <a:r>
              <a:rPr lang="en-US" sz="1200" dirty="0"/>
              <a:t>, </a:t>
            </a:r>
            <a:r>
              <a:rPr lang="vi-VN" sz="1200" dirty="0"/>
              <a:t>Packet Loss, Throughput</a:t>
            </a:r>
            <a:endParaRPr lang="en-US" sz="1200" dirty="0"/>
          </a:p>
          <a:p>
            <a:endParaRPr lang="en-US" sz="1200" dirty="0"/>
          </a:p>
          <a:p>
            <a:r>
              <a:rPr lang="vi-VN" sz="1200" b="1" dirty="0"/>
              <a:t>2. Network Slicing Scenario </a:t>
            </a:r>
            <a:endParaRPr lang="en-US" sz="1200" b="1" dirty="0"/>
          </a:p>
          <a:p>
            <a:pPr marL="171450" indent="-171450">
              <a:buFont typeface="Arial" panose="020B0604020202020204" pitchFamily="34" charset="0"/>
              <a:buChar char="•"/>
            </a:pPr>
            <a:r>
              <a:rPr lang="vi-VN" sz="1200" dirty="0"/>
              <a:t>Mục tiêu</a:t>
            </a:r>
            <a:r>
              <a:rPr lang="en-US" sz="1200" dirty="0"/>
              <a:t>: </a:t>
            </a:r>
            <a:r>
              <a:rPr lang="vi-VN" sz="1200" dirty="0"/>
              <a:t>Đánh giá khả năng đảm bảo QoS của network slicing trong các điều kiện kênh khác nhau</a:t>
            </a:r>
            <a:r>
              <a:rPr lang="en-US" sz="1200" dirty="0"/>
              <a:t> (</a:t>
            </a:r>
            <a:r>
              <a:rPr lang="en-US" sz="1200" dirty="0" err="1"/>
              <a:t>điều</a:t>
            </a:r>
            <a:r>
              <a:rPr lang="en-US" sz="1200" dirty="0"/>
              <a:t> </a:t>
            </a:r>
            <a:r>
              <a:rPr lang="en-US" sz="1200" dirty="0" err="1"/>
              <a:t>kiện</a:t>
            </a:r>
            <a:r>
              <a:rPr lang="en-US" sz="1200" dirty="0"/>
              <a:t> </a:t>
            </a:r>
            <a:r>
              <a:rPr lang="en-US" sz="1200" dirty="0" err="1"/>
              <a:t>tốt</a:t>
            </a:r>
            <a:r>
              <a:rPr lang="en-US" sz="1200" dirty="0"/>
              <a:t> </a:t>
            </a:r>
            <a:r>
              <a:rPr lang="en-US" sz="1200" dirty="0" err="1"/>
              <a:t>và</a:t>
            </a:r>
            <a:r>
              <a:rPr lang="en-US" sz="1200" dirty="0"/>
              <a:t> </a:t>
            </a:r>
            <a:r>
              <a:rPr lang="en-US" sz="1200" dirty="0" err="1"/>
              <a:t>điều</a:t>
            </a:r>
            <a:r>
              <a:rPr lang="en-US" sz="1200" dirty="0"/>
              <a:t> </a:t>
            </a:r>
            <a:r>
              <a:rPr lang="en-US" sz="1200" dirty="0" err="1"/>
              <a:t>kiện</a:t>
            </a:r>
            <a:r>
              <a:rPr lang="en-US" sz="1200" dirty="0"/>
              <a:t> </a:t>
            </a:r>
            <a:r>
              <a:rPr lang="en-US" sz="1200" dirty="0" err="1"/>
              <a:t>xấu</a:t>
            </a:r>
            <a:r>
              <a:rPr lang="en-US" sz="1200" dirty="0"/>
              <a:t>)</a:t>
            </a:r>
          </a:p>
          <a:p>
            <a:pPr marL="171450" indent="-171450">
              <a:buFont typeface="Arial" panose="020B0604020202020204" pitchFamily="34" charset="0"/>
              <a:buChar char="•"/>
            </a:pPr>
            <a:r>
              <a:rPr lang="vi-VN" sz="1200" dirty="0"/>
              <a:t>Thiết lập</a:t>
            </a:r>
            <a:r>
              <a:rPr lang="en-US" sz="1200" dirty="0"/>
              <a:t>: </a:t>
            </a:r>
            <a:r>
              <a:rPr lang="vi-VN" sz="1200" dirty="0"/>
              <a:t>Phân loại lưu lượng bằng EPS Bearer</a:t>
            </a:r>
            <a:r>
              <a:rPr lang="en-US" sz="1200" dirty="0"/>
              <a:t>/</a:t>
            </a:r>
            <a:r>
              <a:rPr lang="vi-VN" sz="1200" dirty="0"/>
              <a:t>TFT</a:t>
            </a:r>
            <a:endParaRPr lang="en-US" sz="1200" dirty="0"/>
          </a:p>
          <a:p>
            <a:pPr marL="628650" lvl="1" indent="-171450">
              <a:buFont typeface="Courier New" panose="02070309020205020404" pitchFamily="49" charset="0"/>
              <a:buChar char="o"/>
            </a:pPr>
            <a:r>
              <a:rPr lang="vi-VN" sz="1200" dirty="0"/>
              <a:t>URLLC slice: C2 / điều khiển</a:t>
            </a:r>
            <a:endParaRPr lang="en-US" sz="1200" dirty="0"/>
          </a:p>
          <a:p>
            <a:pPr marL="628650" lvl="1" indent="-171450">
              <a:buFont typeface="Courier New" panose="02070309020205020404" pitchFamily="49" charset="0"/>
              <a:buChar char="o"/>
            </a:pPr>
            <a:r>
              <a:rPr lang="vi-VN" sz="1200" dirty="0"/>
              <a:t>eMBB slice: truyền dữ liệu / video</a:t>
            </a:r>
            <a:endParaRPr lang="en-US" sz="1200" dirty="0"/>
          </a:p>
          <a:p>
            <a:pPr marL="171450" indent="-171450">
              <a:buFont typeface="Arial" panose="020B0604020202020204" pitchFamily="34" charset="0"/>
              <a:buChar char="•"/>
            </a:pPr>
            <a:r>
              <a:rPr lang="vi-VN" sz="1200" dirty="0"/>
              <a:t>Metrics</a:t>
            </a:r>
            <a:endParaRPr lang="en-US" sz="1200" dirty="0"/>
          </a:p>
          <a:p>
            <a:pPr marL="628650" lvl="1" indent="-171450">
              <a:buFont typeface="Courier New" panose="02070309020205020404" pitchFamily="49" charset="0"/>
              <a:buChar char="o"/>
            </a:pPr>
            <a:r>
              <a:rPr lang="vi-VN" sz="1200" dirty="0"/>
              <a:t>Delay, Jitter, Packet Loss theo slice</a:t>
            </a:r>
            <a:endParaRPr lang="en-US" sz="1200" dirty="0"/>
          </a:p>
          <a:p>
            <a:pPr marL="628650" lvl="1" indent="-171450">
              <a:buFont typeface="Courier New" panose="02070309020205020404" pitchFamily="49" charset="0"/>
              <a:buChar char="o"/>
            </a:pPr>
            <a:r>
              <a:rPr lang="vi-VN" sz="1200" dirty="0"/>
              <a:t>Throughput per slice</a:t>
            </a:r>
            <a:endParaRPr lang="en-US" sz="1200" dirty="0"/>
          </a:p>
          <a:p>
            <a:endParaRPr lang="vi-VN" sz="1200" dirty="0"/>
          </a:p>
        </p:txBody>
      </p:sp>
      <p:sp>
        <p:nvSpPr>
          <p:cNvPr id="7" name="TextBox 6">
            <a:extLst>
              <a:ext uri="{FF2B5EF4-FFF2-40B4-BE49-F238E27FC236}">
                <a16:creationId xmlns:a16="http://schemas.microsoft.com/office/drawing/2014/main" id="{4F210BB3-A03F-75A5-9CFC-51A6950282A1}"/>
              </a:ext>
            </a:extLst>
          </p:cNvPr>
          <p:cNvSpPr txBox="1"/>
          <p:nvPr/>
        </p:nvSpPr>
        <p:spPr>
          <a:xfrm>
            <a:off x="3776823" y="5572425"/>
            <a:ext cx="4415832" cy="553998"/>
          </a:xfrm>
          <a:prstGeom prst="rect">
            <a:avLst/>
          </a:prstGeom>
          <a:noFill/>
        </p:spPr>
        <p:txBody>
          <a:bodyPr wrap="square">
            <a:spAutoFit/>
          </a:bodyPr>
          <a:lstStyle/>
          <a:p>
            <a:r>
              <a:rPr lang="en-US" sz="1600" b="1" dirty="0"/>
              <a:t>CÔNG CỤ MÔ PHỎNG:</a:t>
            </a:r>
            <a:endParaRPr lang="en-US" b="1" dirty="0"/>
          </a:p>
          <a:p>
            <a:r>
              <a:rPr lang="en-US" sz="1400" b="1" dirty="0"/>
              <a:t>NS3.38 + Module LENA nr2.4</a:t>
            </a:r>
            <a:endParaRPr lang="vi-VN" sz="1400" dirty="0"/>
          </a:p>
        </p:txBody>
      </p:sp>
    </p:spTree>
    <p:extLst>
      <p:ext uri="{BB962C8B-B14F-4D97-AF65-F5344CB8AC3E}">
        <p14:creationId xmlns:p14="http://schemas.microsoft.com/office/powerpoint/2010/main" val="3948922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75FBD-8E1E-6645-A4D6-EFD6EBF8A1C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BCF98A-3A77-B6BF-4646-790ECEA052F9}"/>
              </a:ext>
            </a:extLst>
          </p:cNvPr>
          <p:cNvSpPr>
            <a:spLocks noGrp="1"/>
          </p:cNvSpPr>
          <p:nvPr>
            <p:ph type="sldNum" sz="quarter" idx="12"/>
          </p:nvPr>
        </p:nvSpPr>
        <p:spPr/>
        <p:txBody>
          <a:bodyPr/>
          <a:lstStyle/>
          <a:p>
            <a:fld id="{9EA0BE3B-158A-4EDF-80DC-E394A0D1600F}" type="slidenum">
              <a:rPr lang="en-US" smtClean="0"/>
              <a:pPr/>
              <a:t>30</a:t>
            </a:fld>
            <a:endParaRPr lang="en-US" dirty="0"/>
          </a:p>
        </p:txBody>
      </p:sp>
      <p:sp>
        <p:nvSpPr>
          <p:cNvPr id="3" name="Title 2">
            <a:extLst>
              <a:ext uri="{FF2B5EF4-FFF2-40B4-BE49-F238E27FC236}">
                <a16:creationId xmlns:a16="http://schemas.microsoft.com/office/drawing/2014/main" id="{58B4FE15-BB9C-A86F-3CB1-73269DECE95B}"/>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8" name="TextBox 7">
            <a:extLst>
              <a:ext uri="{FF2B5EF4-FFF2-40B4-BE49-F238E27FC236}">
                <a16:creationId xmlns:a16="http://schemas.microsoft.com/office/drawing/2014/main" id="{3A9F83AD-A4E0-D954-C143-3CDF425FF17B}"/>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0A829233-443F-80D8-7D22-7629265A7C49}"/>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TextBox 3">
            <a:extLst>
              <a:ext uri="{FF2B5EF4-FFF2-40B4-BE49-F238E27FC236}">
                <a16:creationId xmlns:a16="http://schemas.microsoft.com/office/drawing/2014/main" id="{337B88FC-91E9-8F7D-E9CB-5F67227CA9D7}"/>
              </a:ext>
            </a:extLst>
          </p:cNvPr>
          <p:cNvSpPr txBox="1"/>
          <p:nvPr/>
        </p:nvSpPr>
        <p:spPr>
          <a:xfrm>
            <a:off x="235077" y="953643"/>
            <a:ext cx="4415832" cy="338554"/>
          </a:xfrm>
          <a:prstGeom prst="rect">
            <a:avLst/>
          </a:prstGeom>
          <a:noFill/>
        </p:spPr>
        <p:txBody>
          <a:bodyPr wrap="square">
            <a:spAutoFit/>
          </a:bodyPr>
          <a:lstStyle/>
          <a:p>
            <a:r>
              <a:rPr lang="en-US" sz="1600" b="1" dirty="0"/>
              <a:t>6.1. KẾT QUẢ TỪ KỊCH BẢN SPEED </a:t>
            </a:r>
            <a:endParaRPr lang="vi-VN" sz="1400" dirty="0"/>
          </a:p>
        </p:txBody>
      </p:sp>
      <p:graphicFrame>
        <p:nvGraphicFramePr>
          <p:cNvPr id="5" name="Table 4">
            <a:extLst>
              <a:ext uri="{FF2B5EF4-FFF2-40B4-BE49-F238E27FC236}">
                <a16:creationId xmlns:a16="http://schemas.microsoft.com/office/drawing/2014/main" id="{74789D0E-F15F-3697-1021-59A366529A4C}"/>
              </a:ext>
            </a:extLst>
          </p:cNvPr>
          <p:cNvGraphicFramePr>
            <a:graphicFrameLocks noGrp="1"/>
          </p:cNvGraphicFramePr>
          <p:nvPr>
            <p:extLst>
              <p:ext uri="{D42A27DB-BD31-4B8C-83A1-F6EECF244321}">
                <p14:modId xmlns:p14="http://schemas.microsoft.com/office/powerpoint/2010/main" val="3497529046"/>
              </p:ext>
            </p:extLst>
          </p:nvPr>
        </p:nvGraphicFramePr>
        <p:xfrm>
          <a:off x="484802" y="1715488"/>
          <a:ext cx="4087197" cy="3208020"/>
        </p:xfrm>
        <a:graphic>
          <a:graphicData uri="http://schemas.openxmlformats.org/drawingml/2006/table">
            <a:tbl>
              <a:tblPr>
                <a:tableStyleId>{BC89EF96-8CEA-46FF-86C4-4CE0E7609802}</a:tableStyleId>
              </a:tblPr>
              <a:tblGrid>
                <a:gridCol w="647827">
                  <a:extLst>
                    <a:ext uri="{9D8B030D-6E8A-4147-A177-3AD203B41FA5}">
                      <a16:colId xmlns:a16="http://schemas.microsoft.com/office/drawing/2014/main" val="544220630"/>
                    </a:ext>
                  </a:extLst>
                </a:gridCol>
                <a:gridCol w="871621">
                  <a:extLst>
                    <a:ext uri="{9D8B030D-6E8A-4147-A177-3AD203B41FA5}">
                      <a16:colId xmlns:a16="http://schemas.microsoft.com/office/drawing/2014/main" val="4260863445"/>
                    </a:ext>
                  </a:extLst>
                </a:gridCol>
                <a:gridCol w="686449">
                  <a:extLst>
                    <a:ext uri="{9D8B030D-6E8A-4147-A177-3AD203B41FA5}">
                      <a16:colId xmlns:a16="http://schemas.microsoft.com/office/drawing/2014/main" val="481963177"/>
                    </a:ext>
                  </a:extLst>
                </a:gridCol>
                <a:gridCol w="1027957">
                  <a:extLst>
                    <a:ext uri="{9D8B030D-6E8A-4147-A177-3AD203B41FA5}">
                      <a16:colId xmlns:a16="http://schemas.microsoft.com/office/drawing/2014/main" val="1800582743"/>
                    </a:ext>
                  </a:extLst>
                </a:gridCol>
                <a:gridCol w="853343">
                  <a:extLst>
                    <a:ext uri="{9D8B030D-6E8A-4147-A177-3AD203B41FA5}">
                      <a16:colId xmlns:a16="http://schemas.microsoft.com/office/drawing/2014/main" val="3628784347"/>
                    </a:ext>
                  </a:extLst>
                </a:gridCol>
              </a:tblGrid>
              <a:tr h="844550">
                <a:tc>
                  <a:txBody>
                    <a:bodyPr/>
                    <a:lstStyle/>
                    <a:p>
                      <a:pPr algn="just" fontAlgn="ctr">
                        <a:buNone/>
                      </a:pPr>
                      <a:r>
                        <a:rPr lang="en-US" sz="1300" b="1" u="none" strike="noStrike" dirty="0">
                          <a:effectLst/>
                        </a:rPr>
                        <a:t>Speed (m/s)</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Avg Delay </a:t>
                      </a:r>
                      <a:r>
                        <a:rPr lang="en-US" sz="1300" b="1" u="none" strike="noStrike" dirty="0" err="1">
                          <a:effectLst/>
                        </a:rPr>
                        <a:t>mmWave</a:t>
                      </a:r>
                      <a:r>
                        <a:rPr lang="en-US" sz="1300" b="1" u="none" strike="noStrike" dirty="0">
                          <a:effectLst/>
                        </a:rPr>
                        <a:t> </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Jitter mmWave</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Packet Loss mmWave </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Throughput </a:t>
                      </a:r>
                      <a:r>
                        <a:rPr lang="en-US" sz="1300" b="1" u="none" strike="noStrike" dirty="0" err="1">
                          <a:effectLst/>
                        </a:rPr>
                        <a:t>mmWave</a:t>
                      </a:r>
                      <a:endParaRPr lang="en-US" sz="1300" b="1"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221846823"/>
                  </a:ext>
                </a:extLst>
              </a:tr>
              <a:tr h="215900">
                <a:tc>
                  <a:txBody>
                    <a:bodyPr/>
                    <a:lstStyle/>
                    <a:p>
                      <a:pPr algn="ctr" fontAlgn="ctr">
                        <a:buNone/>
                      </a:pPr>
                      <a:r>
                        <a:rPr lang="en-US" sz="1300" u="none" strike="noStrike" dirty="0">
                          <a:effectLst/>
                        </a:rPr>
                        <a:t>0</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0.942</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0.003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67184743"/>
                  </a:ext>
                </a:extLst>
              </a:tr>
              <a:tr h="215900">
                <a:tc>
                  <a:txBody>
                    <a:bodyPr/>
                    <a:lstStyle/>
                    <a:p>
                      <a:pPr algn="ctr" fontAlgn="ctr">
                        <a:buNone/>
                      </a:pPr>
                      <a:r>
                        <a:rPr lang="en-US" sz="1300" u="none" strike="noStrike">
                          <a:effectLst/>
                        </a:rPr>
                        <a:t>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0.942</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0.003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236476144"/>
                  </a:ext>
                </a:extLst>
              </a:tr>
              <a:tr h="215900">
                <a:tc>
                  <a:txBody>
                    <a:bodyPr/>
                    <a:lstStyle/>
                    <a:p>
                      <a:pPr algn="ctr" fontAlgn="ctr">
                        <a:buNone/>
                      </a:pPr>
                      <a:r>
                        <a:rPr lang="en-US" sz="1300" u="none" strike="noStrike">
                          <a:effectLst/>
                        </a:rPr>
                        <a:t>10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1.299</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0.272</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0.006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676201152"/>
                  </a:ext>
                </a:extLst>
              </a:tr>
              <a:tr h="215900">
                <a:tc>
                  <a:txBody>
                    <a:bodyPr/>
                    <a:lstStyle/>
                    <a:p>
                      <a:pPr algn="ctr" fontAlgn="ctr">
                        <a:buNone/>
                      </a:pPr>
                      <a:r>
                        <a:rPr lang="en-US" sz="1300" u="none" strike="noStrike">
                          <a:effectLst/>
                        </a:rPr>
                        <a:t>15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1.487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0.329</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58.76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1.616</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020904099"/>
                  </a:ext>
                </a:extLst>
              </a:tr>
              <a:tr h="215900">
                <a:tc>
                  <a:txBody>
                    <a:bodyPr/>
                    <a:lstStyle/>
                    <a:p>
                      <a:pPr algn="ctr" fontAlgn="ctr">
                        <a:buNone/>
                      </a:pPr>
                      <a:r>
                        <a:rPr lang="en-US" sz="1300" u="none" strike="noStrike">
                          <a:effectLst/>
                        </a:rPr>
                        <a:t>20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1.129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0.213</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82.219</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1.265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491158670"/>
                  </a:ext>
                </a:extLst>
              </a:tr>
              <a:tr h="215900">
                <a:tc>
                  <a:txBody>
                    <a:bodyPr/>
                    <a:lstStyle/>
                    <a:p>
                      <a:pPr algn="ctr" fontAlgn="ctr">
                        <a:buNone/>
                      </a:pPr>
                      <a:r>
                        <a:rPr lang="en-US" sz="1300" u="none" strike="noStrike">
                          <a:effectLst/>
                        </a:rPr>
                        <a:t>25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0.809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0.233</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0.003</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710420170"/>
                  </a:ext>
                </a:extLst>
              </a:tr>
              <a:tr h="215900">
                <a:tc>
                  <a:txBody>
                    <a:bodyPr/>
                    <a:lstStyle/>
                    <a:p>
                      <a:pPr algn="ctr" fontAlgn="ctr">
                        <a:buNone/>
                      </a:pPr>
                      <a:r>
                        <a:rPr lang="en-US" sz="1300" u="none" strike="noStrike">
                          <a:effectLst/>
                        </a:rPr>
                        <a:t>30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0.78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0.173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0.003</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986484870"/>
                  </a:ext>
                </a:extLst>
              </a:tr>
              <a:tr h="215900">
                <a:tc>
                  <a:txBody>
                    <a:bodyPr/>
                    <a:lstStyle/>
                    <a:p>
                      <a:pPr algn="ctr" fontAlgn="ctr">
                        <a:buNone/>
                      </a:pPr>
                      <a:r>
                        <a:rPr lang="en-US" sz="1300" u="none" strike="noStrike">
                          <a:effectLst/>
                        </a:rPr>
                        <a:t>35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1.839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0.371</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77.93</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1.323</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963355402"/>
                  </a:ext>
                </a:extLst>
              </a:tr>
              <a:tr h="215900">
                <a:tc>
                  <a:txBody>
                    <a:bodyPr/>
                    <a:lstStyle/>
                    <a:p>
                      <a:pPr algn="ctr" fontAlgn="ctr">
                        <a:buNone/>
                      </a:pPr>
                      <a:r>
                        <a:rPr lang="en-US" sz="1300" u="none" strike="noStrike">
                          <a:effectLst/>
                        </a:rPr>
                        <a:t>40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0.746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0.105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0.003</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1.845</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94690095"/>
                  </a:ext>
                </a:extLst>
              </a:tr>
              <a:tr h="215900">
                <a:tc>
                  <a:txBody>
                    <a:bodyPr/>
                    <a:lstStyle/>
                    <a:p>
                      <a:pPr algn="ctr" fontAlgn="ctr">
                        <a:buNone/>
                      </a:pPr>
                      <a:r>
                        <a:rPr lang="en-US" sz="1300" u="none" strike="noStrike">
                          <a:effectLst/>
                        </a:rPr>
                        <a:t>45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47.935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0.72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96.637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0.452</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828554787"/>
                  </a:ext>
                </a:extLst>
              </a:tr>
              <a:tr h="139289">
                <a:tc>
                  <a:txBody>
                    <a:bodyPr/>
                    <a:lstStyle/>
                    <a:p>
                      <a:pPr algn="ctr" fontAlgn="ctr">
                        <a:buNone/>
                      </a:pPr>
                      <a:r>
                        <a:rPr lang="en-US" sz="1300" u="none" strike="noStrike" dirty="0">
                          <a:effectLst/>
                        </a:rPr>
                        <a:t>50</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0.754</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0.12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0.003</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1.845</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747715849"/>
                  </a:ext>
                </a:extLst>
              </a:tr>
            </a:tbl>
          </a:graphicData>
        </a:graphic>
      </p:graphicFrame>
      <p:graphicFrame>
        <p:nvGraphicFramePr>
          <p:cNvPr id="9" name="Table 8">
            <a:extLst>
              <a:ext uri="{FF2B5EF4-FFF2-40B4-BE49-F238E27FC236}">
                <a16:creationId xmlns:a16="http://schemas.microsoft.com/office/drawing/2014/main" id="{1B6D7F6F-5FA4-E98A-1513-27C92D705A83}"/>
              </a:ext>
            </a:extLst>
          </p:cNvPr>
          <p:cNvGraphicFramePr>
            <a:graphicFrameLocks noGrp="1"/>
          </p:cNvGraphicFramePr>
          <p:nvPr>
            <p:extLst>
              <p:ext uri="{D42A27DB-BD31-4B8C-83A1-F6EECF244321}">
                <p14:modId xmlns:p14="http://schemas.microsoft.com/office/powerpoint/2010/main" val="1807082985"/>
              </p:ext>
            </p:extLst>
          </p:nvPr>
        </p:nvGraphicFramePr>
        <p:xfrm>
          <a:off x="4895274" y="1715488"/>
          <a:ext cx="3639125" cy="3219450"/>
        </p:xfrm>
        <a:graphic>
          <a:graphicData uri="http://schemas.openxmlformats.org/drawingml/2006/table">
            <a:tbl>
              <a:tblPr>
                <a:tableStyleId>{5DA37D80-6434-44D0-A028-1B22A696006F}</a:tableStyleId>
              </a:tblPr>
              <a:tblGrid>
                <a:gridCol w="727825">
                  <a:extLst>
                    <a:ext uri="{9D8B030D-6E8A-4147-A177-3AD203B41FA5}">
                      <a16:colId xmlns:a16="http://schemas.microsoft.com/office/drawing/2014/main" val="1631660337"/>
                    </a:ext>
                  </a:extLst>
                </a:gridCol>
                <a:gridCol w="727825">
                  <a:extLst>
                    <a:ext uri="{9D8B030D-6E8A-4147-A177-3AD203B41FA5}">
                      <a16:colId xmlns:a16="http://schemas.microsoft.com/office/drawing/2014/main" val="373868265"/>
                    </a:ext>
                  </a:extLst>
                </a:gridCol>
                <a:gridCol w="727825">
                  <a:extLst>
                    <a:ext uri="{9D8B030D-6E8A-4147-A177-3AD203B41FA5}">
                      <a16:colId xmlns:a16="http://schemas.microsoft.com/office/drawing/2014/main" val="67218052"/>
                    </a:ext>
                  </a:extLst>
                </a:gridCol>
                <a:gridCol w="727825">
                  <a:extLst>
                    <a:ext uri="{9D8B030D-6E8A-4147-A177-3AD203B41FA5}">
                      <a16:colId xmlns:a16="http://schemas.microsoft.com/office/drawing/2014/main" val="3549065322"/>
                    </a:ext>
                  </a:extLst>
                </a:gridCol>
                <a:gridCol w="727825">
                  <a:extLst>
                    <a:ext uri="{9D8B030D-6E8A-4147-A177-3AD203B41FA5}">
                      <a16:colId xmlns:a16="http://schemas.microsoft.com/office/drawing/2014/main" val="2185321419"/>
                    </a:ext>
                  </a:extLst>
                </a:gridCol>
              </a:tblGrid>
              <a:tr h="844550">
                <a:tc>
                  <a:txBody>
                    <a:bodyPr/>
                    <a:lstStyle/>
                    <a:p>
                      <a:pPr algn="just" fontAlgn="ctr">
                        <a:buNone/>
                      </a:pPr>
                      <a:r>
                        <a:rPr lang="en-US" sz="1300" b="1" u="none" strike="noStrike" kern="1200" dirty="0">
                          <a:solidFill>
                            <a:schemeClr val="tx1"/>
                          </a:solidFill>
                          <a:effectLst/>
                        </a:rPr>
                        <a:t>Speed</a:t>
                      </a:r>
                      <a:r>
                        <a:rPr lang="en-US" sz="1300" b="1" u="none" strike="noStrike" dirty="0">
                          <a:effectLst/>
                        </a:rPr>
                        <a:t> (m/s)</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Avg Delay Sub-6 </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Jitter Sub-6 </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Packet Loss Sub-6 </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Throughput Sub-6  </a:t>
                      </a:r>
                      <a:endParaRPr lang="en-US" sz="1300" b="1"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975225924"/>
                  </a:ext>
                </a:extLst>
              </a:tr>
              <a:tr h="215900">
                <a:tc>
                  <a:txBody>
                    <a:bodyPr/>
                    <a:lstStyle/>
                    <a:p>
                      <a:pPr algn="ctr" fontAlgn="ctr">
                        <a:buNone/>
                      </a:pPr>
                      <a:r>
                        <a:rPr lang="en-US" sz="1300" u="none" strike="noStrike" dirty="0">
                          <a:effectLst/>
                        </a:rPr>
                        <a:t>0</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18.498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0.227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13.904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8.739</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477569918"/>
                  </a:ext>
                </a:extLst>
              </a:tr>
              <a:tr h="215900">
                <a:tc>
                  <a:txBody>
                    <a:bodyPr/>
                    <a:lstStyle/>
                    <a:p>
                      <a:pPr algn="ctr" fontAlgn="ctr">
                        <a:buNone/>
                      </a:pPr>
                      <a:r>
                        <a:rPr lang="en-US" sz="1300" u="none" strike="noStrike" dirty="0">
                          <a:effectLst/>
                        </a:rPr>
                        <a:t>5</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38.566</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0.242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72.283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7.93</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4165741432"/>
                  </a:ext>
                </a:extLst>
              </a:tr>
              <a:tr h="215900">
                <a:tc>
                  <a:txBody>
                    <a:bodyPr/>
                    <a:lstStyle/>
                    <a:p>
                      <a:pPr algn="ctr" fontAlgn="ctr">
                        <a:buNone/>
                      </a:pPr>
                      <a:r>
                        <a:rPr lang="en-US" sz="1300" u="none" strike="noStrike">
                          <a:effectLst/>
                        </a:rPr>
                        <a:t>10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47.127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0.249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47.756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7.549</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9795787"/>
                  </a:ext>
                </a:extLst>
              </a:tr>
              <a:tr h="215900">
                <a:tc>
                  <a:txBody>
                    <a:bodyPr/>
                    <a:lstStyle/>
                    <a:p>
                      <a:pPr algn="ctr" fontAlgn="ctr">
                        <a:buNone/>
                      </a:pPr>
                      <a:r>
                        <a:rPr lang="en-US" sz="1300" u="none" strike="noStrike">
                          <a:effectLst/>
                        </a:rPr>
                        <a:t>15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18.809</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0.229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8.669</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461095953"/>
                  </a:ext>
                </a:extLst>
              </a:tr>
              <a:tr h="215900">
                <a:tc>
                  <a:txBody>
                    <a:bodyPr/>
                    <a:lstStyle/>
                    <a:p>
                      <a:pPr algn="ctr" fontAlgn="ctr">
                        <a:buNone/>
                      </a:pPr>
                      <a:r>
                        <a:rPr lang="en-US" sz="1300" u="none" strike="noStrike">
                          <a:effectLst/>
                        </a:rPr>
                        <a:t>20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19.653</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0.226</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13.705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8.761</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293704771"/>
                  </a:ext>
                </a:extLst>
              </a:tr>
              <a:tr h="215900">
                <a:tc>
                  <a:txBody>
                    <a:bodyPr/>
                    <a:lstStyle/>
                    <a:p>
                      <a:pPr algn="ctr" fontAlgn="ctr">
                        <a:buNone/>
                      </a:pPr>
                      <a:r>
                        <a:rPr lang="en-US" sz="1300" u="none" strike="noStrike">
                          <a:effectLst/>
                        </a:rPr>
                        <a:t>25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20.08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0.232</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15.979</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8.528</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586812293"/>
                  </a:ext>
                </a:extLst>
              </a:tr>
              <a:tr h="215900">
                <a:tc>
                  <a:txBody>
                    <a:bodyPr/>
                    <a:lstStyle/>
                    <a:p>
                      <a:pPr algn="ctr" fontAlgn="ctr">
                        <a:buNone/>
                      </a:pPr>
                      <a:r>
                        <a:rPr lang="en-US" sz="1300" u="none" strike="noStrike">
                          <a:effectLst/>
                        </a:rPr>
                        <a:t>30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19.544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0.228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14.317</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8.697</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701542738"/>
                  </a:ext>
                </a:extLst>
              </a:tr>
              <a:tr h="215900">
                <a:tc>
                  <a:txBody>
                    <a:bodyPr/>
                    <a:lstStyle/>
                    <a:p>
                      <a:pPr algn="ctr" fontAlgn="b">
                        <a:buNone/>
                      </a:pPr>
                      <a:r>
                        <a:rPr lang="en-US" sz="1300" u="none" strike="noStrike">
                          <a:effectLst/>
                        </a:rPr>
                        <a:t>35</a:t>
                      </a:r>
                      <a:endParaRPr lang="en-US" sz="13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300" u="none" strike="noStrike">
                          <a:effectLst/>
                        </a:rPr>
                        <a:t>23.7897</a:t>
                      </a:r>
                      <a:endParaRPr lang="en-US" sz="13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300" u="none" strike="noStrike" dirty="0">
                          <a:effectLst/>
                        </a:rPr>
                        <a:t>0.229447</a:t>
                      </a:r>
                      <a:endParaRPr lang="en-US" sz="13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300" u="none" strike="noStrike">
                          <a:effectLst/>
                        </a:rPr>
                        <a:t>15.2689</a:t>
                      </a:r>
                      <a:endParaRPr lang="en-US" sz="13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300" u="none" strike="noStrike" dirty="0">
                          <a:effectLst/>
                        </a:rPr>
                        <a:t>8.60001</a:t>
                      </a:r>
                      <a:endParaRPr lang="en-US" sz="13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129722999"/>
                  </a:ext>
                </a:extLst>
              </a:tr>
              <a:tr h="215900">
                <a:tc>
                  <a:txBody>
                    <a:bodyPr/>
                    <a:lstStyle/>
                    <a:p>
                      <a:pPr algn="ctr" fontAlgn="ctr">
                        <a:buNone/>
                      </a:pPr>
                      <a:r>
                        <a:rPr lang="en-US" sz="1300" u="none" strike="noStrike">
                          <a:effectLst/>
                        </a:rPr>
                        <a:t>40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20.659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0.232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15.955</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8.531</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847169132"/>
                  </a:ext>
                </a:extLst>
              </a:tr>
              <a:tr h="215900">
                <a:tc>
                  <a:txBody>
                    <a:bodyPr/>
                    <a:lstStyle/>
                    <a:p>
                      <a:pPr algn="ctr" fontAlgn="b">
                        <a:buNone/>
                      </a:pPr>
                      <a:r>
                        <a:rPr lang="en-US" sz="1300" u="none" strike="noStrike">
                          <a:effectLst/>
                        </a:rPr>
                        <a:t>45</a:t>
                      </a:r>
                      <a:endParaRPr lang="en-US" sz="13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300" u="none" strike="noStrike">
                          <a:effectLst/>
                        </a:rPr>
                        <a:t>23.745</a:t>
                      </a:r>
                      <a:endParaRPr lang="en-US" sz="13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300" u="none" strike="noStrike">
                          <a:effectLst/>
                        </a:rPr>
                        <a:t>0.23268</a:t>
                      </a:r>
                      <a:endParaRPr lang="en-US" sz="13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300" u="none" strike="noStrike" dirty="0">
                          <a:effectLst/>
                        </a:rPr>
                        <a:t>16.336</a:t>
                      </a:r>
                      <a:endParaRPr lang="en-US" sz="13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1300" u="none" strike="noStrike" dirty="0">
                          <a:effectLst/>
                        </a:rPr>
                        <a:t>8.4917</a:t>
                      </a:r>
                      <a:endParaRPr lang="en-US" sz="13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20154243"/>
                  </a:ext>
                </a:extLst>
              </a:tr>
              <a:tr h="215900">
                <a:tc>
                  <a:txBody>
                    <a:bodyPr/>
                    <a:lstStyle/>
                    <a:p>
                      <a:pPr algn="ctr" fontAlgn="ctr">
                        <a:buNone/>
                      </a:pPr>
                      <a:r>
                        <a:rPr lang="en-US" sz="1300" u="none" strike="noStrike">
                          <a:effectLst/>
                        </a:rPr>
                        <a:t>50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22.468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0.231</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a:effectLst/>
                        </a:rPr>
                        <a:t>15.906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ctr" fontAlgn="ctr">
                        <a:buNone/>
                      </a:pPr>
                      <a:r>
                        <a:rPr lang="en-US" sz="1300" u="none" strike="noStrike" dirty="0">
                          <a:effectLst/>
                        </a:rPr>
                        <a:t>8.535</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604310005"/>
                  </a:ext>
                </a:extLst>
              </a:tr>
            </a:tbl>
          </a:graphicData>
        </a:graphic>
      </p:graphicFrame>
    </p:spTree>
    <p:extLst>
      <p:ext uri="{BB962C8B-B14F-4D97-AF65-F5344CB8AC3E}">
        <p14:creationId xmlns:p14="http://schemas.microsoft.com/office/powerpoint/2010/main" val="1592860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E54D-0D14-F091-703E-F821FE2CA9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42ED8B-9D92-A2B4-CA66-573D05BBF034}"/>
              </a:ext>
            </a:extLst>
          </p:cNvPr>
          <p:cNvSpPr>
            <a:spLocks noGrp="1"/>
          </p:cNvSpPr>
          <p:nvPr>
            <p:ph type="sldNum" sz="quarter" idx="12"/>
          </p:nvPr>
        </p:nvSpPr>
        <p:spPr/>
        <p:txBody>
          <a:bodyPr/>
          <a:lstStyle/>
          <a:p>
            <a:fld id="{9EA0BE3B-158A-4EDF-80DC-E394A0D1600F}" type="slidenum">
              <a:rPr lang="en-US" smtClean="0"/>
              <a:pPr/>
              <a:t>31</a:t>
            </a:fld>
            <a:endParaRPr lang="en-US" dirty="0"/>
          </a:p>
        </p:txBody>
      </p:sp>
      <p:sp>
        <p:nvSpPr>
          <p:cNvPr id="3" name="Title 2">
            <a:extLst>
              <a:ext uri="{FF2B5EF4-FFF2-40B4-BE49-F238E27FC236}">
                <a16:creationId xmlns:a16="http://schemas.microsoft.com/office/drawing/2014/main" id="{292E1F36-D67F-747C-C00B-6720234114D2}"/>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6" name="TextBox 5">
            <a:extLst>
              <a:ext uri="{FF2B5EF4-FFF2-40B4-BE49-F238E27FC236}">
                <a16:creationId xmlns:a16="http://schemas.microsoft.com/office/drawing/2014/main" id="{146D5AC3-63D9-EBB0-6D7E-E0CFB84BFF4D}"/>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TextBox 3">
            <a:extLst>
              <a:ext uri="{FF2B5EF4-FFF2-40B4-BE49-F238E27FC236}">
                <a16:creationId xmlns:a16="http://schemas.microsoft.com/office/drawing/2014/main" id="{339D6FFC-01AA-A8B6-1182-5E017521B5C5}"/>
              </a:ext>
            </a:extLst>
          </p:cNvPr>
          <p:cNvSpPr txBox="1"/>
          <p:nvPr/>
        </p:nvSpPr>
        <p:spPr>
          <a:xfrm>
            <a:off x="235077" y="953643"/>
            <a:ext cx="4415832" cy="338554"/>
          </a:xfrm>
          <a:prstGeom prst="rect">
            <a:avLst/>
          </a:prstGeom>
          <a:noFill/>
        </p:spPr>
        <p:txBody>
          <a:bodyPr wrap="square">
            <a:spAutoFit/>
          </a:bodyPr>
          <a:lstStyle/>
          <a:p>
            <a:r>
              <a:rPr lang="en-US" sz="1600" b="1" dirty="0"/>
              <a:t>6.1. KẾT QUẢ TỪ KỊCH BẢN SPEED </a:t>
            </a:r>
            <a:endParaRPr lang="vi-VN" sz="1400" dirty="0"/>
          </a:p>
        </p:txBody>
      </p:sp>
      <p:graphicFrame>
        <p:nvGraphicFramePr>
          <p:cNvPr id="7" name="Chart 6">
            <a:extLst>
              <a:ext uri="{FF2B5EF4-FFF2-40B4-BE49-F238E27FC236}">
                <a16:creationId xmlns:a16="http://schemas.microsoft.com/office/drawing/2014/main" id="{6F5E9155-3BEC-B220-A9D9-BECC2ECEAE5A}"/>
              </a:ext>
            </a:extLst>
          </p:cNvPr>
          <p:cNvGraphicFramePr>
            <a:graphicFrameLocks/>
          </p:cNvGraphicFramePr>
          <p:nvPr>
            <p:extLst>
              <p:ext uri="{D42A27DB-BD31-4B8C-83A1-F6EECF244321}">
                <p14:modId xmlns:p14="http://schemas.microsoft.com/office/powerpoint/2010/main" val="3689615038"/>
              </p:ext>
            </p:extLst>
          </p:nvPr>
        </p:nvGraphicFramePr>
        <p:xfrm>
          <a:off x="13345" y="1342451"/>
          <a:ext cx="3397204" cy="25252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48A44B8B-1E92-A435-75D8-8D1D7018D9D8}"/>
              </a:ext>
            </a:extLst>
          </p:cNvPr>
          <p:cNvGraphicFramePr>
            <a:graphicFrameLocks/>
          </p:cNvGraphicFramePr>
          <p:nvPr>
            <p:extLst>
              <p:ext uri="{D42A27DB-BD31-4B8C-83A1-F6EECF244321}">
                <p14:modId xmlns:p14="http://schemas.microsoft.com/office/powerpoint/2010/main" val="502666322"/>
              </p:ext>
            </p:extLst>
          </p:nvPr>
        </p:nvGraphicFramePr>
        <p:xfrm>
          <a:off x="97850" y="3867675"/>
          <a:ext cx="3397204" cy="256076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2A0FA470-369F-5F8B-25F9-FCB902963CD4}"/>
              </a:ext>
            </a:extLst>
          </p:cNvPr>
          <p:cNvGraphicFramePr>
            <a:graphicFrameLocks/>
          </p:cNvGraphicFramePr>
          <p:nvPr>
            <p:extLst>
              <p:ext uri="{D42A27DB-BD31-4B8C-83A1-F6EECF244321}">
                <p14:modId xmlns:p14="http://schemas.microsoft.com/office/powerpoint/2010/main" val="46708941"/>
              </p:ext>
            </p:extLst>
          </p:nvPr>
        </p:nvGraphicFramePr>
        <p:xfrm>
          <a:off x="3204993" y="1360947"/>
          <a:ext cx="3420063" cy="250672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a16="http://schemas.microsoft.com/office/drawing/2014/main" id="{495018EC-8441-3C44-14A8-38A6F33A5795}"/>
              </a:ext>
            </a:extLst>
          </p:cNvPr>
          <p:cNvGraphicFramePr>
            <a:graphicFrameLocks/>
          </p:cNvGraphicFramePr>
          <p:nvPr>
            <p:extLst>
              <p:ext uri="{D42A27DB-BD31-4B8C-83A1-F6EECF244321}">
                <p14:modId xmlns:p14="http://schemas.microsoft.com/office/powerpoint/2010/main" val="2134852229"/>
              </p:ext>
            </p:extLst>
          </p:nvPr>
        </p:nvGraphicFramePr>
        <p:xfrm>
          <a:off x="3204993" y="3867675"/>
          <a:ext cx="3420063" cy="2506728"/>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12">
            <a:extLst>
              <a:ext uri="{FF2B5EF4-FFF2-40B4-BE49-F238E27FC236}">
                <a16:creationId xmlns:a16="http://schemas.microsoft.com/office/drawing/2014/main" id="{6D5C8E63-4129-4FA2-9FF9-B6A0A5DA58D1}"/>
              </a:ext>
            </a:extLst>
          </p:cNvPr>
          <p:cNvSpPr txBox="1"/>
          <p:nvPr/>
        </p:nvSpPr>
        <p:spPr>
          <a:xfrm>
            <a:off x="6686702" y="1545651"/>
            <a:ext cx="2359448" cy="4339650"/>
          </a:xfrm>
          <a:prstGeom prst="rect">
            <a:avLst/>
          </a:prstGeom>
          <a:noFill/>
        </p:spPr>
        <p:txBody>
          <a:bodyPr wrap="square">
            <a:spAutoFit/>
          </a:bodyPr>
          <a:lstStyle/>
          <a:p>
            <a:pPr marL="171450" indent="-171450">
              <a:buFontTx/>
              <a:buChar char="-"/>
            </a:pPr>
            <a:r>
              <a:rPr lang="vi-VN" sz="1200" dirty="0"/>
              <a:t>mmWave 28 GHz thể hiện xuất sắc ở tốc độ thấp (delay &lt;1 ms, loss gần 0%), nhưng xuất hiện các khoảng outage nghiêm trọng (packet loss lên đến 96%) tại một số mức tốc độ cụ thể (15, 20, 35, 45 m/s) do hiệu ứng Doppler gây misalignment beamforming. </a:t>
            </a:r>
            <a:endParaRPr lang="en-US" sz="1200" dirty="0"/>
          </a:p>
          <a:p>
            <a:pPr marL="171450" indent="-171450">
              <a:buFontTx/>
              <a:buChar char="-"/>
            </a:pPr>
            <a:r>
              <a:rPr lang="vi-VN" sz="1200" dirty="0"/>
              <a:t>Sub-6 GHz duy trì ổn định hơn với packet loss trung bình 14–16%</a:t>
            </a:r>
            <a:endParaRPr lang="en-US" sz="1200" dirty="0"/>
          </a:p>
          <a:p>
            <a:pPr marL="171450" indent="-171450">
              <a:buFontTx/>
              <a:buChar char="-"/>
            </a:pPr>
            <a:r>
              <a:rPr lang="vi-VN" sz="1200" dirty="0"/>
              <a:t>mmWave 28 GHz mang lại hiệu suất </a:t>
            </a:r>
            <a:r>
              <a:rPr lang="en-US" sz="1200" dirty="0" err="1"/>
              <a:t>tốt</a:t>
            </a:r>
            <a:r>
              <a:rPr lang="en-US" sz="1200" dirty="0"/>
              <a:t> </a:t>
            </a:r>
            <a:r>
              <a:rPr lang="vi-VN" sz="1200" dirty="0"/>
              <a:t>về độ trễ (dưới 1–2 ms), jitter thấp và packet loss gần 0% </a:t>
            </a:r>
            <a:r>
              <a:rPr lang="en-US" sz="1200" dirty="0"/>
              <a:t>ở </a:t>
            </a:r>
            <a:r>
              <a:rPr lang="en-US" sz="1200" dirty="0" err="1"/>
              <a:t>một</a:t>
            </a:r>
            <a:r>
              <a:rPr lang="en-US" sz="1200" dirty="0"/>
              <a:t> </a:t>
            </a:r>
            <a:r>
              <a:rPr lang="en-US" sz="1200" dirty="0" err="1"/>
              <a:t>số</a:t>
            </a:r>
            <a:r>
              <a:rPr lang="en-US" sz="1200" dirty="0"/>
              <a:t> </a:t>
            </a:r>
            <a:r>
              <a:rPr lang="en-US" sz="1200" dirty="0" err="1"/>
              <a:t>mức</a:t>
            </a:r>
            <a:r>
              <a:rPr lang="vi-VN" sz="1200" dirty="0"/>
              <a:t>).</a:t>
            </a:r>
            <a:endParaRPr lang="en-US" sz="1200" dirty="0"/>
          </a:p>
          <a:p>
            <a:pPr marL="171450" indent="-171450">
              <a:buFontTx/>
              <a:buChar char="-"/>
            </a:pPr>
            <a:r>
              <a:rPr lang="vi-VN" sz="1200" dirty="0"/>
              <a:t>Sub-6 GHz thể hiện tính ổn định cao hơn, với packet loss dao động trong khoảng 13–16% và không xuất hiện outage đột ngột, dù độ trễ trung bình cao hơn đáng kể (khoảng 18–23 ms).</a:t>
            </a:r>
          </a:p>
        </p:txBody>
      </p:sp>
    </p:spTree>
    <p:extLst>
      <p:ext uri="{BB962C8B-B14F-4D97-AF65-F5344CB8AC3E}">
        <p14:creationId xmlns:p14="http://schemas.microsoft.com/office/powerpoint/2010/main" val="2682815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8D09A-BF33-1D25-7EB9-999862418D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7C90EC-05CC-C82E-C30E-1314DABB92BE}"/>
              </a:ext>
            </a:extLst>
          </p:cNvPr>
          <p:cNvSpPr>
            <a:spLocks noGrp="1"/>
          </p:cNvSpPr>
          <p:nvPr>
            <p:ph type="sldNum" sz="quarter" idx="12"/>
          </p:nvPr>
        </p:nvSpPr>
        <p:spPr/>
        <p:txBody>
          <a:bodyPr/>
          <a:lstStyle/>
          <a:p>
            <a:fld id="{9EA0BE3B-158A-4EDF-80DC-E394A0D1600F}" type="slidenum">
              <a:rPr lang="en-US" smtClean="0"/>
              <a:pPr/>
              <a:t>32</a:t>
            </a:fld>
            <a:endParaRPr lang="en-US" dirty="0"/>
          </a:p>
        </p:txBody>
      </p:sp>
      <p:sp>
        <p:nvSpPr>
          <p:cNvPr id="3" name="Title 2">
            <a:extLst>
              <a:ext uri="{FF2B5EF4-FFF2-40B4-BE49-F238E27FC236}">
                <a16:creationId xmlns:a16="http://schemas.microsoft.com/office/drawing/2014/main" id="{F818E662-41CD-387C-6A95-73409EE4CCA9}"/>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8" name="TextBox 7">
            <a:extLst>
              <a:ext uri="{FF2B5EF4-FFF2-40B4-BE49-F238E27FC236}">
                <a16:creationId xmlns:a16="http://schemas.microsoft.com/office/drawing/2014/main" id="{916090C0-42DA-F545-1F1F-8D114F417D24}"/>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32B9FF31-E47A-7683-C9A4-D85ADBB92DDE}"/>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TextBox 3">
            <a:extLst>
              <a:ext uri="{FF2B5EF4-FFF2-40B4-BE49-F238E27FC236}">
                <a16:creationId xmlns:a16="http://schemas.microsoft.com/office/drawing/2014/main" id="{52E523B5-68D3-B021-4C6B-1B5D5CD3B51C}"/>
              </a:ext>
            </a:extLst>
          </p:cNvPr>
          <p:cNvSpPr txBox="1"/>
          <p:nvPr/>
        </p:nvSpPr>
        <p:spPr>
          <a:xfrm>
            <a:off x="235077" y="953643"/>
            <a:ext cx="4415832" cy="338554"/>
          </a:xfrm>
          <a:prstGeom prst="rect">
            <a:avLst/>
          </a:prstGeom>
          <a:noFill/>
        </p:spPr>
        <p:txBody>
          <a:bodyPr wrap="square">
            <a:spAutoFit/>
          </a:bodyPr>
          <a:lstStyle/>
          <a:p>
            <a:r>
              <a:rPr lang="en-US" sz="1600" b="1" dirty="0"/>
              <a:t>6.2. KẾT QUẢ TỪ KỊCH BẢN ALTITUDE</a:t>
            </a:r>
            <a:endParaRPr lang="vi-VN" sz="1400" dirty="0"/>
          </a:p>
        </p:txBody>
      </p:sp>
      <p:graphicFrame>
        <p:nvGraphicFramePr>
          <p:cNvPr id="7" name="Table 6">
            <a:extLst>
              <a:ext uri="{FF2B5EF4-FFF2-40B4-BE49-F238E27FC236}">
                <a16:creationId xmlns:a16="http://schemas.microsoft.com/office/drawing/2014/main" id="{1E487E4B-BA9A-1CE3-F77D-2919365B353F}"/>
              </a:ext>
            </a:extLst>
          </p:cNvPr>
          <p:cNvGraphicFramePr>
            <a:graphicFrameLocks noGrp="1"/>
          </p:cNvGraphicFramePr>
          <p:nvPr>
            <p:extLst>
              <p:ext uri="{D42A27DB-BD31-4B8C-83A1-F6EECF244321}">
                <p14:modId xmlns:p14="http://schemas.microsoft.com/office/powerpoint/2010/main" val="2651183461"/>
              </p:ext>
            </p:extLst>
          </p:nvPr>
        </p:nvGraphicFramePr>
        <p:xfrm>
          <a:off x="757382" y="1725614"/>
          <a:ext cx="3735709" cy="3651250"/>
        </p:xfrm>
        <a:graphic>
          <a:graphicData uri="http://schemas.openxmlformats.org/drawingml/2006/table">
            <a:tbl>
              <a:tblPr>
                <a:tableStyleId>{BC89EF96-8CEA-46FF-86C4-4CE0E7609802}</a:tableStyleId>
              </a:tblPr>
              <a:tblGrid>
                <a:gridCol w="675497">
                  <a:extLst>
                    <a:ext uri="{9D8B030D-6E8A-4147-A177-3AD203B41FA5}">
                      <a16:colId xmlns:a16="http://schemas.microsoft.com/office/drawing/2014/main" val="3335526763"/>
                    </a:ext>
                  </a:extLst>
                </a:gridCol>
                <a:gridCol w="798316">
                  <a:extLst>
                    <a:ext uri="{9D8B030D-6E8A-4147-A177-3AD203B41FA5}">
                      <a16:colId xmlns:a16="http://schemas.microsoft.com/office/drawing/2014/main" val="2619205925"/>
                    </a:ext>
                  </a:extLst>
                </a:gridCol>
                <a:gridCol w="634559">
                  <a:extLst>
                    <a:ext uri="{9D8B030D-6E8A-4147-A177-3AD203B41FA5}">
                      <a16:colId xmlns:a16="http://schemas.microsoft.com/office/drawing/2014/main" val="91364282"/>
                    </a:ext>
                  </a:extLst>
                </a:gridCol>
                <a:gridCol w="726672">
                  <a:extLst>
                    <a:ext uri="{9D8B030D-6E8A-4147-A177-3AD203B41FA5}">
                      <a16:colId xmlns:a16="http://schemas.microsoft.com/office/drawing/2014/main" val="593118716"/>
                    </a:ext>
                  </a:extLst>
                </a:gridCol>
                <a:gridCol w="900665">
                  <a:extLst>
                    <a:ext uri="{9D8B030D-6E8A-4147-A177-3AD203B41FA5}">
                      <a16:colId xmlns:a16="http://schemas.microsoft.com/office/drawing/2014/main" val="3675539604"/>
                    </a:ext>
                  </a:extLst>
                </a:gridCol>
              </a:tblGrid>
              <a:tr h="844550">
                <a:tc>
                  <a:txBody>
                    <a:bodyPr/>
                    <a:lstStyle/>
                    <a:p>
                      <a:pPr algn="just" fontAlgn="ctr">
                        <a:buNone/>
                      </a:pPr>
                      <a:r>
                        <a:rPr lang="en-US" sz="1300" b="1" u="none" strike="noStrike">
                          <a:effectLst/>
                        </a:rPr>
                        <a:t>Altitude (m)</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Avg Delay mmWave </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Jitter mmWave</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Packet Loss mmWave </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Throughput </a:t>
                      </a:r>
                      <a:r>
                        <a:rPr lang="en-US" sz="1300" b="1" u="none" strike="noStrike" dirty="0" err="1">
                          <a:effectLst/>
                        </a:rPr>
                        <a:t>mmWave</a:t>
                      </a:r>
                      <a:endParaRPr lang="en-US" sz="1300" b="1"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015989476"/>
                  </a:ext>
                </a:extLst>
              </a:tr>
              <a:tr h="215900">
                <a:tc>
                  <a:txBody>
                    <a:bodyPr/>
                    <a:lstStyle/>
                    <a:p>
                      <a:pPr algn="just" fontAlgn="ctr">
                        <a:buNone/>
                      </a:pPr>
                      <a:r>
                        <a:rPr lang="en-US" sz="1300" u="none" strike="noStrike">
                          <a:effectLst/>
                        </a:rPr>
                        <a:t>1.5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0.746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0.105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903149297"/>
                  </a:ext>
                </a:extLst>
              </a:tr>
              <a:tr h="215900">
                <a:tc>
                  <a:txBody>
                    <a:bodyPr/>
                    <a:lstStyle/>
                    <a:p>
                      <a:pPr algn="just" fontAlgn="ctr">
                        <a:buNone/>
                      </a:pPr>
                      <a:r>
                        <a:rPr lang="en-US" sz="1300" u="none" strike="noStrike">
                          <a:effectLst/>
                        </a:rPr>
                        <a:t>10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0.804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0.222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91084717"/>
                  </a:ext>
                </a:extLst>
              </a:tr>
              <a:tr h="215900">
                <a:tc>
                  <a:txBody>
                    <a:bodyPr/>
                    <a:lstStyle/>
                    <a:p>
                      <a:pPr algn="just" fontAlgn="ctr">
                        <a:buNone/>
                      </a:pPr>
                      <a:r>
                        <a:rPr lang="en-US" sz="1300" u="none" strike="noStrike">
                          <a:effectLst/>
                        </a:rPr>
                        <a:t>20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15.746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0.474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82.469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0.357</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695458993"/>
                  </a:ext>
                </a:extLst>
              </a:tr>
              <a:tr h="215900">
                <a:tc>
                  <a:txBody>
                    <a:bodyPr/>
                    <a:lstStyle/>
                    <a:p>
                      <a:pPr algn="just" fontAlgn="ctr">
                        <a:buNone/>
                      </a:pPr>
                      <a:r>
                        <a:rPr lang="en-US" sz="1300" u="none" strike="noStrike">
                          <a:effectLst/>
                        </a:rPr>
                        <a:t>30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4.887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0.392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56.227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0.516</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015908231"/>
                  </a:ext>
                </a:extLst>
              </a:tr>
              <a:tr h="215900">
                <a:tc>
                  <a:txBody>
                    <a:bodyPr/>
                    <a:lstStyle/>
                    <a:p>
                      <a:pPr algn="just" fontAlgn="ctr">
                        <a:buNone/>
                      </a:pPr>
                      <a:r>
                        <a:rPr lang="en-US" sz="1300" u="none" strike="noStrike">
                          <a:effectLst/>
                        </a:rPr>
                        <a:t>40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2.958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0.251</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49.078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0.883</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661999292"/>
                  </a:ext>
                </a:extLst>
              </a:tr>
              <a:tr h="215900">
                <a:tc>
                  <a:txBody>
                    <a:bodyPr/>
                    <a:lstStyle/>
                    <a:p>
                      <a:pPr algn="just" fontAlgn="ctr">
                        <a:buNone/>
                      </a:pPr>
                      <a:r>
                        <a:rPr lang="en-US" sz="1300" u="none" strike="noStrike">
                          <a:effectLst/>
                        </a:rPr>
                        <a:t>50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0.81</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0.234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708266815"/>
                  </a:ext>
                </a:extLst>
              </a:tr>
              <a:tr h="215900">
                <a:tc>
                  <a:txBody>
                    <a:bodyPr/>
                    <a:lstStyle/>
                    <a:p>
                      <a:pPr algn="just" fontAlgn="ctr">
                        <a:buNone/>
                      </a:pPr>
                      <a:r>
                        <a:rPr lang="en-US" sz="1300" u="none" strike="noStrike">
                          <a:effectLst/>
                        </a:rPr>
                        <a:t>80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0.727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0.065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65803248"/>
                  </a:ext>
                </a:extLst>
              </a:tr>
              <a:tr h="215900">
                <a:tc>
                  <a:txBody>
                    <a:bodyPr/>
                    <a:lstStyle/>
                    <a:p>
                      <a:pPr algn="just" fontAlgn="ctr">
                        <a:buNone/>
                      </a:pPr>
                      <a:r>
                        <a:rPr lang="en-US" sz="1300" u="none" strike="noStrike">
                          <a:effectLst/>
                        </a:rPr>
                        <a:t>100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99.989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801245651"/>
                  </a:ext>
                </a:extLst>
              </a:tr>
              <a:tr h="215900">
                <a:tc>
                  <a:txBody>
                    <a:bodyPr/>
                    <a:lstStyle/>
                    <a:p>
                      <a:pPr algn="just" fontAlgn="ctr">
                        <a:buNone/>
                      </a:pPr>
                      <a:r>
                        <a:rPr lang="en-US" sz="1300" u="none" strike="noStrike">
                          <a:effectLst/>
                        </a:rPr>
                        <a:t>120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50.82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0.632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72.895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0.42</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846646793"/>
                  </a:ext>
                </a:extLst>
              </a:tr>
              <a:tr h="215900">
                <a:tc>
                  <a:txBody>
                    <a:bodyPr/>
                    <a:lstStyle/>
                    <a:p>
                      <a:pPr algn="just" fontAlgn="ctr">
                        <a:buNone/>
                      </a:pPr>
                      <a:r>
                        <a:rPr lang="en-US" sz="1300" u="none" strike="noStrike">
                          <a:effectLst/>
                        </a:rPr>
                        <a:t>140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99.989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886373814"/>
                  </a:ext>
                </a:extLst>
              </a:tr>
              <a:tr h="215900">
                <a:tc>
                  <a:txBody>
                    <a:bodyPr/>
                    <a:lstStyle/>
                    <a:p>
                      <a:pPr algn="just" fontAlgn="ctr">
                        <a:buNone/>
                      </a:pPr>
                      <a:r>
                        <a:rPr lang="en-US" sz="1300" u="none" strike="noStrike">
                          <a:effectLst/>
                        </a:rPr>
                        <a:t>160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99.989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4215506573"/>
                  </a:ext>
                </a:extLst>
              </a:tr>
              <a:tr h="215900">
                <a:tc>
                  <a:txBody>
                    <a:bodyPr/>
                    <a:lstStyle/>
                    <a:p>
                      <a:pPr algn="just" fontAlgn="ctr">
                        <a:buNone/>
                      </a:pPr>
                      <a:r>
                        <a:rPr lang="en-US" sz="1300" u="none" strike="noStrike">
                          <a:effectLst/>
                        </a:rPr>
                        <a:t>180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99.989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dirty="0">
                          <a:effectLst/>
                        </a:rPr>
                        <a:t>0</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916880654"/>
                  </a:ext>
                </a:extLst>
              </a:tr>
              <a:tr h="215900">
                <a:tc>
                  <a:txBody>
                    <a:bodyPr/>
                    <a:lstStyle/>
                    <a:p>
                      <a:pPr algn="just" fontAlgn="ctr">
                        <a:buNone/>
                      </a:pPr>
                      <a:r>
                        <a:rPr lang="en-US" sz="1300" u="none" strike="noStrike">
                          <a:effectLst/>
                        </a:rPr>
                        <a:t>200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99.989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dirty="0">
                          <a:effectLst/>
                        </a:rPr>
                        <a:t>0</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516161413"/>
                  </a:ext>
                </a:extLst>
              </a:tr>
            </a:tbl>
          </a:graphicData>
        </a:graphic>
      </p:graphicFrame>
      <p:graphicFrame>
        <p:nvGraphicFramePr>
          <p:cNvPr id="10" name="Table 9">
            <a:extLst>
              <a:ext uri="{FF2B5EF4-FFF2-40B4-BE49-F238E27FC236}">
                <a16:creationId xmlns:a16="http://schemas.microsoft.com/office/drawing/2014/main" id="{25E00005-445E-FD3B-DC2C-7479C9B78F22}"/>
              </a:ext>
            </a:extLst>
          </p:cNvPr>
          <p:cNvGraphicFramePr>
            <a:graphicFrameLocks noGrp="1"/>
          </p:cNvGraphicFramePr>
          <p:nvPr>
            <p:extLst>
              <p:ext uri="{D42A27DB-BD31-4B8C-83A1-F6EECF244321}">
                <p14:modId xmlns:p14="http://schemas.microsoft.com/office/powerpoint/2010/main" val="1396967204"/>
              </p:ext>
            </p:extLst>
          </p:nvPr>
        </p:nvGraphicFramePr>
        <p:xfrm>
          <a:off x="4891056" y="1725614"/>
          <a:ext cx="3390290" cy="3651250"/>
        </p:xfrm>
        <a:graphic>
          <a:graphicData uri="http://schemas.openxmlformats.org/drawingml/2006/table">
            <a:tbl>
              <a:tblPr>
                <a:tableStyleId>{5DA37D80-6434-44D0-A028-1B22A696006F}</a:tableStyleId>
              </a:tblPr>
              <a:tblGrid>
                <a:gridCol w="678058">
                  <a:extLst>
                    <a:ext uri="{9D8B030D-6E8A-4147-A177-3AD203B41FA5}">
                      <a16:colId xmlns:a16="http://schemas.microsoft.com/office/drawing/2014/main" val="1749471550"/>
                    </a:ext>
                  </a:extLst>
                </a:gridCol>
                <a:gridCol w="678058">
                  <a:extLst>
                    <a:ext uri="{9D8B030D-6E8A-4147-A177-3AD203B41FA5}">
                      <a16:colId xmlns:a16="http://schemas.microsoft.com/office/drawing/2014/main" val="3431718427"/>
                    </a:ext>
                  </a:extLst>
                </a:gridCol>
                <a:gridCol w="678058">
                  <a:extLst>
                    <a:ext uri="{9D8B030D-6E8A-4147-A177-3AD203B41FA5}">
                      <a16:colId xmlns:a16="http://schemas.microsoft.com/office/drawing/2014/main" val="3593374405"/>
                    </a:ext>
                  </a:extLst>
                </a:gridCol>
                <a:gridCol w="678058">
                  <a:extLst>
                    <a:ext uri="{9D8B030D-6E8A-4147-A177-3AD203B41FA5}">
                      <a16:colId xmlns:a16="http://schemas.microsoft.com/office/drawing/2014/main" val="3197023349"/>
                    </a:ext>
                  </a:extLst>
                </a:gridCol>
                <a:gridCol w="678058">
                  <a:extLst>
                    <a:ext uri="{9D8B030D-6E8A-4147-A177-3AD203B41FA5}">
                      <a16:colId xmlns:a16="http://schemas.microsoft.com/office/drawing/2014/main" val="3516503350"/>
                    </a:ext>
                  </a:extLst>
                </a:gridCol>
              </a:tblGrid>
              <a:tr h="844550">
                <a:tc>
                  <a:txBody>
                    <a:bodyPr/>
                    <a:lstStyle/>
                    <a:p>
                      <a:pPr algn="just" fontAlgn="ctr">
                        <a:buNone/>
                      </a:pPr>
                      <a:r>
                        <a:rPr lang="en-US" sz="1300" b="1" u="none" strike="noStrike">
                          <a:effectLst/>
                        </a:rPr>
                        <a:t>Altitude (m)</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Avg Delay Sub-6 </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Jitter Sub-6 </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Packet Loss Sub-6 </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Throughput Sub-6  </a:t>
                      </a:r>
                      <a:endParaRPr lang="en-US" sz="1300" b="1"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692944122"/>
                  </a:ext>
                </a:extLst>
              </a:tr>
              <a:tr h="215900">
                <a:tc>
                  <a:txBody>
                    <a:bodyPr/>
                    <a:lstStyle/>
                    <a:p>
                      <a:pPr algn="just" fontAlgn="ctr">
                        <a:buNone/>
                      </a:pPr>
                      <a:r>
                        <a:rPr lang="en-US" sz="1300" u="none" strike="noStrike">
                          <a:effectLst/>
                        </a:rPr>
                        <a:t>1.5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037289694"/>
                  </a:ext>
                </a:extLst>
              </a:tr>
              <a:tr h="215900">
                <a:tc>
                  <a:txBody>
                    <a:bodyPr/>
                    <a:lstStyle/>
                    <a:p>
                      <a:pPr algn="just" fontAlgn="ctr">
                        <a:buNone/>
                      </a:pPr>
                      <a:r>
                        <a:rPr lang="en-US" sz="1300" u="none" strike="noStrike">
                          <a:effectLst/>
                        </a:rPr>
                        <a:t>10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141216016"/>
                  </a:ext>
                </a:extLst>
              </a:tr>
              <a:tr h="215900">
                <a:tc>
                  <a:txBody>
                    <a:bodyPr/>
                    <a:lstStyle/>
                    <a:p>
                      <a:pPr algn="just" fontAlgn="ctr">
                        <a:buNone/>
                      </a:pPr>
                      <a:r>
                        <a:rPr lang="en-US" sz="1300" u="none" strike="noStrike">
                          <a:effectLst/>
                        </a:rPr>
                        <a:t>20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304323722"/>
                  </a:ext>
                </a:extLst>
              </a:tr>
              <a:tr h="215900">
                <a:tc>
                  <a:txBody>
                    <a:bodyPr/>
                    <a:lstStyle/>
                    <a:p>
                      <a:pPr algn="just" fontAlgn="ctr">
                        <a:buNone/>
                      </a:pPr>
                      <a:r>
                        <a:rPr lang="en-US" sz="1300" u="none" strike="noStrike">
                          <a:effectLst/>
                        </a:rPr>
                        <a:t>30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1.195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0.244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809904714"/>
                  </a:ext>
                </a:extLst>
              </a:tr>
              <a:tr h="215900">
                <a:tc>
                  <a:txBody>
                    <a:bodyPr/>
                    <a:lstStyle/>
                    <a:p>
                      <a:pPr algn="just" fontAlgn="ctr">
                        <a:buNone/>
                      </a:pPr>
                      <a:r>
                        <a:rPr lang="en-US" sz="1300" u="none" strike="noStrike">
                          <a:effectLst/>
                        </a:rPr>
                        <a:t>40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3.352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0.339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42.865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dirty="0">
                          <a:effectLst/>
                        </a:rPr>
                        <a:t>1.715</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437283908"/>
                  </a:ext>
                </a:extLst>
              </a:tr>
              <a:tr h="215900">
                <a:tc>
                  <a:txBody>
                    <a:bodyPr/>
                    <a:lstStyle/>
                    <a:p>
                      <a:pPr algn="just" fontAlgn="ctr">
                        <a:buNone/>
                      </a:pPr>
                      <a:r>
                        <a:rPr lang="en-US" sz="1300" u="none" strike="noStrike">
                          <a:effectLst/>
                        </a:rPr>
                        <a:t>50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dirty="0">
                          <a:effectLst/>
                        </a:rPr>
                        <a:t>1.329</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0.287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213762074"/>
                  </a:ext>
                </a:extLst>
              </a:tr>
              <a:tr h="215900">
                <a:tc>
                  <a:txBody>
                    <a:bodyPr/>
                    <a:lstStyle/>
                    <a:p>
                      <a:pPr algn="just" fontAlgn="ctr">
                        <a:buNone/>
                      </a:pPr>
                      <a:r>
                        <a:rPr lang="en-US" sz="1300" u="none" strike="noStrike">
                          <a:effectLst/>
                        </a:rPr>
                        <a:t>80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1.442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0.333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937249671"/>
                  </a:ext>
                </a:extLst>
              </a:tr>
              <a:tr h="215900">
                <a:tc>
                  <a:txBody>
                    <a:bodyPr/>
                    <a:lstStyle/>
                    <a:p>
                      <a:pPr algn="just" fontAlgn="ctr">
                        <a:buNone/>
                      </a:pPr>
                      <a:r>
                        <a:rPr lang="en-US" sz="1300" u="none" strike="noStrike">
                          <a:effectLst/>
                        </a:rPr>
                        <a:t>100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1.429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0.35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52987770"/>
                  </a:ext>
                </a:extLst>
              </a:tr>
              <a:tr h="215900">
                <a:tc>
                  <a:txBody>
                    <a:bodyPr/>
                    <a:lstStyle/>
                    <a:p>
                      <a:pPr algn="just" fontAlgn="ctr">
                        <a:buNone/>
                      </a:pPr>
                      <a:r>
                        <a:rPr lang="en-US" sz="1300" u="none" strike="noStrike">
                          <a:effectLst/>
                        </a:rPr>
                        <a:t>120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0.0005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99.989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288458600"/>
                  </a:ext>
                </a:extLst>
              </a:tr>
              <a:tr h="215900">
                <a:tc>
                  <a:txBody>
                    <a:bodyPr/>
                    <a:lstStyle/>
                    <a:p>
                      <a:pPr algn="just" fontAlgn="ctr">
                        <a:buNone/>
                      </a:pPr>
                      <a:r>
                        <a:rPr lang="en-US" sz="1300" u="none" strike="noStrike">
                          <a:effectLst/>
                        </a:rPr>
                        <a:t>140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0.898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0.115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840865997"/>
                  </a:ext>
                </a:extLst>
              </a:tr>
              <a:tr h="215900">
                <a:tc>
                  <a:txBody>
                    <a:bodyPr/>
                    <a:lstStyle/>
                    <a:p>
                      <a:pPr algn="just" fontAlgn="ctr">
                        <a:buNone/>
                      </a:pPr>
                      <a:r>
                        <a:rPr lang="en-US" sz="1300" u="none" strike="noStrike">
                          <a:effectLst/>
                        </a:rPr>
                        <a:t>160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1.43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0.35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663883812"/>
                  </a:ext>
                </a:extLst>
              </a:tr>
              <a:tr h="215900">
                <a:tc>
                  <a:txBody>
                    <a:bodyPr/>
                    <a:lstStyle/>
                    <a:p>
                      <a:pPr algn="just" fontAlgn="ctr">
                        <a:buNone/>
                      </a:pPr>
                      <a:r>
                        <a:rPr lang="en-US" sz="1300" u="none" strike="noStrike">
                          <a:effectLst/>
                        </a:rPr>
                        <a:t>180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1.024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0.165</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1.845</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121593878"/>
                  </a:ext>
                </a:extLst>
              </a:tr>
              <a:tr h="215900">
                <a:tc>
                  <a:txBody>
                    <a:bodyPr/>
                    <a:lstStyle/>
                    <a:p>
                      <a:pPr algn="just" fontAlgn="ctr">
                        <a:buNone/>
                      </a:pPr>
                      <a:r>
                        <a:rPr lang="en-US" sz="1300" u="none" strike="noStrike" dirty="0">
                          <a:effectLst/>
                        </a:rPr>
                        <a:t>200</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1.067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0.188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0.003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dirty="0">
                          <a:effectLst/>
                        </a:rPr>
                        <a:t>1.845</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561153754"/>
                  </a:ext>
                </a:extLst>
              </a:tr>
            </a:tbl>
          </a:graphicData>
        </a:graphic>
      </p:graphicFrame>
    </p:spTree>
    <p:extLst>
      <p:ext uri="{BB962C8B-B14F-4D97-AF65-F5344CB8AC3E}">
        <p14:creationId xmlns:p14="http://schemas.microsoft.com/office/powerpoint/2010/main" val="2198679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63EDB-F557-B86A-FEF4-CF5A0C5468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A298B2-AA89-B24A-53AD-657D8209B2D4}"/>
              </a:ext>
            </a:extLst>
          </p:cNvPr>
          <p:cNvSpPr>
            <a:spLocks noGrp="1"/>
          </p:cNvSpPr>
          <p:nvPr>
            <p:ph type="sldNum" sz="quarter" idx="12"/>
          </p:nvPr>
        </p:nvSpPr>
        <p:spPr/>
        <p:txBody>
          <a:bodyPr/>
          <a:lstStyle/>
          <a:p>
            <a:fld id="{9EA0BE3B-158A-4EDF-80DC-E394A0D1600F}" type="slidenum">
              <a:rPr lang="en-US" smtClean="0"/>
              <a:pPr/>
              <a:t>33</a:t>
            </a:fld>
            <a:endParaRPr lang="en-US" dirty="0"/>
          </a:p>
        </p:txBody>
      </p:sp>
      <p:sp>
        <p:nvSpPr>
          <p:cNvPr id="3" name="Title 2">
            <a:extLst>
              <a:ext uri="{FF2B5EF4-FFF2-40B4-BE49-F238E27FC236}">
                <a16:creationId xmlns:a16="http://schemas.microsoft.com/office/drawing/2014/main" id="{D43A5883-C7B3-E9CB-0982-D6C22435C8C3}"/>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8" name="TextBox 7">
            <a:extLst>
              <a:ext uri="{FF2B5EF4-FFF2-40B4-BE49-F238E27FC236}">
                <a16:creationId xmlns:a16="http://schemas.microsoft.com/office/drawing/2014/main" id="{68157F74-67E0-4DE5-0DA6-C8A6A9040FF0}"/>
              </a:ext>
            </a:extLst>
          </p:cNvPr>
          <p:cNvSpPr txBox="1"/>
          <p:nvPr/>
        </p:nvSpPr>
        <p:spPr>
          <a:xfrm>
            <a:off x="9229008" y="2226435"/>
            <a:ext cx="1965734" cy="369332"/>
          </a:xfrm>
          <a:prstGeom prst="rect">
            <a:avLst/>
          </a:prstGeom>
          <a:noFill/>
        </p:spPr>
        <p:txBody>
          <a:bodyPr wrap="square">
            <a:spAutoFit/>
          </a:bodyPr>
          <a:lstStyle/>
          <a:p>
            <a:r>
              <a:rPr lang="en-US"/>
              <a:t>AMF, SMF, UPF</a:t>
            </a:r>
            <a:endParaRPr lang="en-US" dirty="0"/>
          </a:p>
        </p:txBody>
      </p:sp>
      <p:sp>
        <p:nvSpPr>
          <p:cNvPr id="6" name="TextBox 5">
            <a:extLst>
              <a:ext uri="{FF2B5EF4-FFF2-40B4-BE49-F238E27FC236}">
                <a16:creationId xmlns:a16="http://schemas.microsoft.com/office/drawing/2014/main" id="{B5063755-C610-8DDB-B910-BBB4E86056E1}"/>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TextBox 3">
            <a:extLst>
              <a:ext uri="{FF2B5EF4-FFF2-40B4-BE49-F238E27FC236}">
                <a16:creationId xmlns:a16="http://schemas.microsoft.com/office/drawing/2014/main" id="{BAD23774-888F-93A6-8242-664746B2A3AD}"/>
              </a:ext>
            </a:extLst>
          </p:cNvPr>
          <p:cNvSpPr txBox="1"/>
          <p:nvPr/>
        </p:nvSpPr>
        <p:spPr>
          <a:xfrm>
            <a:off x="235077" y="953643"/>
            <a:ext cx="4415832" cy="338554"/>
          </a:xfrm>
          <a:prstGeom prst="rect">
            <a:avLst/>
          </a:prstGeom>
          <a:noFill/>
        </p:spPr>
        <p:txBody>
          <a:bodyPr wrap="square">
            <a:spAutoFit/>
          </a:bodyPr>
          <a:lstStyle/>
          <a:p>
            <a:r>
              <a:rPr lang="en-US" sz="1600" b="1" dirty="0"/>
              <a:t>6.2. KẾT QUẢ TỪ KỊCH BẢN ALTITUDE</a:t>
            </a:r>
            <a:endParaRPr lang="vi-VN" sz="1400" dirty="0"/>
          </a:p>
        </p:txBody>
      </p:sp>
      <p:graphicFrame>
        <p:nvGraphicFramePr>
          <p:cNvPr id="5" name="Chart 4">
            <a:extLst>
              <a:ext uri="{FF2B5EF4-FFF2-40B4-BE49-F238E27FC236}">
                <a16:creationId xmlns:a16="http://schemas.microsoft.com/office/drawing/2014/main" id="{23315E0A-8921-4D7E-A57A-09EE27BE0C45}"/>
              </a:ext>
            </a:extLst>
          </p:cNvPr>
          <p:cNvGraphicFramePr>
            <a:graphicFrameLocks/>
          </p:cNvGraphicFramePr>
          <p:nvPr>
            <p:extLst>
              <p:ext uri="{D42A27DB-BD31-4B8C-83A1-F6EECF244321}">
                <p14:modId xmlns:p14="http://schemas.microsoft.com/office/powerpoint/2010/main" val="1940523040"/>
              </p:ext>
            </p:extLst>
          </p:nvPr>
        </p:nvGraphicFramePr>
        <p:xfrm>
          <a:off x="-77348" y="1363064"/>
          <a:ext cx="3141763" cy="21929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2138E891-2C78-4015-AB25-AEC1DDD04CBE}"/>
              </a:ext>
            </a:extLst>
          </p:cNvPr>
          <p:cNvGraphicFramePr>
            <a:graphicFrameLocks/>
          </p:cNvGraphicFramePr>
          <p:nvPr>
            <p:extLst>
              <p:ext uri="{D42A27DB-BD31-4B8C-83A1-F6EECF244321}">
                <p14:modId xmlns:p14="http://schemas.microsoft.com/office/powerpoint/2010/main" val="3549585152"/>
              </p:ext>
            </p:extLst>
          </p:nvPr>
        </p:nvGraphicFramePr>
        <p:xfrm>
          <a:off x="-23413" y="3454948"/>
          <a:ext cx="3294407" cy="197873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B30F1B64-E96E-45CB-9E16-B6EBBAA675C2}"/>
              </a:ext>
            </a:extLst>
          </p:cNvPr>
          <p:cNvGraphicFramePr>
            <a:graphicFrameLocks/>
          </p:cNvGraphicFramePr>
          <p:nvPr>
            <p:extLst>
              <p:ext uri="{D42A27DB-BD31-4B8C-83A1-F6EECF244321}">
                <p14:modId xmlns:p14="http://schemas.microsoft.com/office/powerpoint/2010/main" val="2703123528"/>
              </p:ext>
            </p:extLst>
          </p:nvPr>
        </p:nvGraphicFramePr>
        <p:xfrm>
          <a:off x="3077034" y="1482532"/>
          <a:ext cx="3316575" cy="214932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a16="http://schemas.microsoft.com/office/drawing/2014/main" id="{C1C12677-5394-443F-A7AB-4266FFDAF6A1}"/>
              </a:ext>
            </a:extLst>
          </p:cNvPr>
          <p:cNvGraphicFramePr>
            <a:graphicFrameLocks/>
          </p:cNvGraphicFramePr>
          <p:nvPr>
            <p:extLst>
              <p:ext uri="{D42A27DB-BD31-4B8C-83A1-F6EECF244321}">
                <p14:modId xmlns:p14="http://schemas.microsoft.com/office/powerpoint/2010/main" val="1706797836"/>
              </p:ext>
            </p:extLst>
          </p:nvPr>
        </p:nvGraphicFramePr>
        <p:xfrm>
          <a:off x="3077034" y="3447988"/>
          <a:ext cx="3316575" cy="1936983"/>
        </p:xfrm>
        <a:graphic>
          <a:graphicData uri="http://schemas.openxmlformats.org/drawingml/2006/chart">
            <c:chart xmlns:c="http://schemas.openxmlformats.org/drawingml/2006/chart" xmlns:r="http://schemas.openxmlformats.org/officeDocument/2006/relationships" r:id="rId6"/>
          </a:graphicData>
        </a:graphic>
      </p:graphicFrame>
      <p:sp>
        <p:nvSpPr>
          <p:cNvPr id="14" name="TextBox 13">
            <a:extLst>
              <a:ext uri="{FF2B5EF4-FFF2-40B4-BE49-F238E27FC236}">
                <a16:creationId xmlns:a16="http://schemas.microsoft.com/office/drawing/2014/main" id="{31D74F64-B679-C7E7-1601-62CF648EC857}"/>
              </a:ext>
            </a:extLst>
          </p:cNvPr>
          <p:cNvSpPr txBox="1"/>
          <p:nvPr/>
        </p:nvSpPr>
        <p:spPr>
          <a:xfrm>
            <a:off x="6447215" y="1363064"/>
            <a:ext cx="2477568" cy="4524315"/>
          </a:xfrm>
          <a:prstGeom prst="rect">
            <a:avLst/>
          </a:prstGeom>
          <a:noFill/>
        </p:spPr>
        <p:txBody>
          <a:bodyPr wrap="square">
            <a:spAutoFit/>
          </a:bodyPr>
          <a:lstStyle/>
          <a:p>
            <a:r>
              <a:rPr lang="en-US" sz="1200" dirty="0">
                <a:effectLst/>
              </a:rPr>
              <a:t>- </a:t>
            </a:r>
            <a:r>
              <a:rPr lang="vi-VN" sz="1200" dirty="0">
                <a:effectLst/>
              </a:rPr>
              <a:t>mmWave 28 GHz, hiệu suất liên kết rất tốt ở độ cao thấp (1.5–10m) và một số mức trung bình (50–80m) với độ trễ dưới 1 ms, jitter thấp và packet loss gần 0%. Tuy nhiên, khi độ cao tăng (20–40m), pathloss và góc nâng lớn dẫn đến outage nghiêm trọng (loss 49–82%), throughput giảm mạnh xuống dưới 1 Mbps. Ở độ cao rất cao (&gt;100m), link gần như mất hoàn toàn (loss ~99.99%, throughput = 0).</a:t>
            </a:r>
          </a:p>
          <a:p>
            <a:r>
              <a:rPr lang="en-US" sz="1200" dirty="0">
                <a:effectLst/>
              </a:rPr>
              <a:t>- </a:t>
            </a:r>
            <a:r>
              <a:rPr lang="vi-VN" sz="1200" dirty="0">
                <a:effectLst/>
              </a:rPr>
              <a:t>Sub-6 GHz duy trì ổn định tốt hơn ở hầu hết các độ cao, với packet loss chỉ khoảng 0–0.01% (trừ điểm 40m có outage tạm thời ~43%), độ trễ trung bình 1–3 ms và throughput ổn định ~1.85 Mbps. Sub-6 ít bị ảnh hưởng bởi pathloss ở độ cao lớn nhờ tần số thấp hơn và khả năng xuyên vật cản tốt hơn.</a:t>
            </a:r>
          </a:p>
          <a:p>
            <a:endParaRPr lang="en-US" sz="1200" dirty="0"/>
          </a:p>
        </p:txBody>
      </p:sp>
      <p:sp>
        <p:nvSpPr>
          <p:cNvPr id="16" name="TextBox 15">
            <a:extLst>
              <a:ext uri="{FF2B5EF4-FFF2-40B4-BE49-F238E27FC236}">
                <a16:creationId xmlns:a16="http://schemas.microsoft.com/office/drawing/2014/main" id="{11AD6634-1D99-9350-9FBC-A28C37B35CEA}"/>
              </a:ext>
            </a:extLst>
          </p:cNvPr>
          <p:cNvSpPr txBox="1"/>
          <p:nvPr/>
        </p:nvSpPr>
        <p:spPr>
          <a:xfrm>
            <a:off x="660511" y="5480217"/>
            <a:ext cx="5634182" cy="830997"/>
          </a:xfrm>
          <a:prstGeom prst="rect">
            <a:avLst/>
          </a:prstGeom>
          <a:noFill/>
        </p:spPr>
        <p:txBody>
          <a:bodyPr wrap="square">
            <a:spAutoFit/>
          </a:bodyPr>
          <a:lstStyle/>
          <a:p>
            <a:r>
              <a:rPr lang="vi-VN" sz="1200" dirty="0">
                <a:effectLst/>
              </a:rPr>
              <a:t>Kết luận: mmWave phù hợp cho UAV hoạt động ở độ cao thấp/trung bình với yêu cầu latency cực thấp (URLLC C2), nhưng không đáng tin cậy ở độ cao lớn. Sub-6 GHz là lựa chọn an toàn hơn cho các kịch bản cứu hộ UAV ở độ cao đa dạng.</a:t>
            </a:r>
          </a:p>
        </p:txBody>
      </p:sp>
    </p:spTree>
    <p:extLst>
      <p:ext uri="{BB962C8B-B14F-4D97-AF65-F5344CB8AC3E}">
        <p14:creationId xmlns:p14="http://schemas.microsoft.com/office/powerpoint/2010/main" val="1598650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50BFD-7E1B-82F2-D58B-AA31133627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4330DF-48F0-21A8-7784-A447D816F5A7}"/>
              </a:ext>
            </a:extLst>
          </p:cNvPr>
          <p:cNvSpPr>
            <a:spLocks noGrp="1"/>
          </p:cNvSpPr>
          <p:nvPr>
            <p:ph type="sldNum" sz="quarter" idx="12"/>
          </p:nvPr>
        </p:nvSpPr>
        <p:spPr/>
        <p:txBody>
          <a:bodyPr/>
          <a:lstStyle/>
          <a:p>
            <a:fld id="{9EA0BE3B-158A-4EDF-80DC-E394A0D1600F}" type="slidenum">
              <a:rPr lang="en-US" smtClean="0"/>
              <a:pPr/>
              <a:t>34</a:t>
            </a:fld>
            <a:endParaRPr lang="en-US" dirty="0"/>
          </a:p>
        </p:txBody>
      </p:sp>
      <p:sp>
        <p:nvSpPr>
          <p:cNvPr id="3" name="Title 2">
            <a:extLst>
              <a:ext uri="{FF2B5EF4-FFF2-40B4-BE49-F238E27FC236}">
                <a16:creationId xmlns:a16="http://schemas.microsoft.com/office/drawing/2014/main" id="{DF788612-2120-EEF3-7ACD-486C141A8AD4}"/>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8" name="TextBox 7">
            <a:extLst>
              <a:ext uri="{FF2B5EF4-FFF2-40B4-BE49-F238E27FC236}">
                <a16:creationId xmlns:a16="http://schemas.microsoft.com/office/drawing/2014/main" id="{E6813C59-FD68-A20A-9260-2690E1F26979}"/>
              </a:ext>
            </a:extLst>
          </p:cNvPr>
          <p:cNvSpPr txBox="1"/>
          <p:nvPr/>
        </p:nvSpPr>
        <p:spPr>
          <a:xfrm>
            <a:off x="685800" y="1478863"/>
            <a:ext cx="5502564" cy="369332"/>
          </a:xfrm>
          <a:prstGeom prst="rect">
            <a:avLst/>
          </a:prstGeom>
          <a:noFill/>
        </p:spPr>
        <p:txBody>
          <a:bodyPr wrap="square">
            <a:spAutoFit/>
          </a:bodyPr>
          <a:lstStyle/>
          <a:p>
            <a:r>
              <a:rPr lang="en-US" dirty="0" err="1"/>
              <a:t>Chọn</a:t>
            </a:r>
            <a:r>
              <a:rPr lang="en-US" dirty="0"/>
              <a:t> </a:t>
            </a:r>
            <a:r>
              <a:rPr lang="en-US" dirty="0" err="1"/>
              <a:t>gNB</a:t>
            </a:r>
            <a:r>
              <a:rPr lang="en-US" dirty="0"/>
              <a:t> Power = 36dBm</a:t>
            </a:r>
          </a:p>
        </p:txBody>
      </p:sp>
      <p:sp>
        <p:nvSpPr>
          <p:cNvPr id="6" name="TextBox 5">
            <a:extLst>
              <a:ext uri="{FF2B5EF4-FFF2-40B4-BE49-F238E27FC236}">
                <a16:creationId xmlns:a16="http://schemas.microsoft.com/office/drawing/2014/main" id="{20DD635A-A561-393A-1E75-B4F7D1B3EA46}"/>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TextBox 3">
            <a:extLst>
              <a:ext uri="{FF2B5EF4-FFF2-40B4-BE49-F238E27FC236}">
                <a16:creationId xmlns:a16="http://schemas.microsoft.com/office/drawing/2014/main" id="{BA13E226-F9A1-0429-8A4A-CCD91E5D7BE3}"/>
              </a:ext>
            </a:extLst>
          </p:cNvPr>
          <p:cNvSpPr txBox="1"/>
          <p:nvPr/>
        </p:nvSpPr>
        <p:spPr>
          <a:xfrm>
            <a:off x="235077" y="953643"/>
            <a:ext cx="4415832" cy="338554"/>
          </a:xfrm>
          <a:prstGeom prst="rect">
            <a:avLst/>
          </a:prstGeom>
          <a:noFill/>
        </p:spPr>
        <p:txBody>
          <a:bodyPr wrap="square">
            <a:spAutoFit/>
          </a:bodyPr>
          <a:lstStyle/>
          <a:p>
            <a:r>
              <a:rPr lang="en-US" sz="1600" b="1" dirty="0"/>
              <a:t>6.3. KẾT QUẢ TỪ KỊCH BẢN TXPOWER</a:t>
            </a:r>
            <a:endParaRPr lang="vi-VN" sz="1400" dirty="0"/>
          </a:p>
        </p:txBody>
      </p:sp>
      <p:graphicFrame>
        <p:nvGraphicFramePr>
          <p:cNvPr id="5" name="Table 4">
            <a:extLst>
              <a:ext uri="{FF2B5EF4-FFF2-40B4-BE49-F238E27FC236}">
                <a16:creationId xmlns:a16="http://schemas.microsoft.com/office/drawing/2014/main" id="{2A7D8ABF-6639-85AA-5C7F-6DB8596CEA4F}"/>
              </a:ext>
            </a:extLst>
          </p:cNvPr>
          <p:cNvGraphicFramePr>
            <a:graphicFrameLocks noGrp="1"/>
          </p:cNvGraphicFramePr>
          <p:nvPr>
            <p:extLst>
              <p:ext uri="{D42A27DB-BD31-4B8C-83A1-F6EECF244321}">
                <p14:modId xmlns:p14="http://schemas.microsoft.com/office/powerpoint/2010/main" val="1955970"/>
              </p:ext>
            </p:extLst>
          </p:nvPr>
        </p:nvGraphicFramePr>
        <p:xfrm>
          <a:off x="918992" y="2301194"/>
          <a:ext cx="3376925" cy="2104552"/>
        </p:xfrm>
        <a:graphic>
          <a:graphicData uri="http://schemas.openxmlformats.org/drawingml/2006/table">
            <a:tbl>
              <a:tblPr>
                <a:tableStyleId>{BC89EF96-8CEA-46FF-86C4-4CE0E7609802}</a:tableStyleId>
              </a:tblPr>
              <a:tblGrid>
                <a:gridCol w="675385">
                  <a:extLst>
                    <a:ext uri="{9D8B030D-6E8A-4147-A177-3AD203B41FA5}">
                      <a16:colId xmlns:a16="http://schemas.microsoft.com/office/drawing/2014/main" val="1580479116"/>
                    </a:ext>
                  </a:extLst>
                </a:gridCol>
                <a:gridCol w="675385">
                  <a:extLst>
                    <a:ext uri="{9D8B030D-6E8A-4147-A177-3AD203B41FA5}">
                      <a16:colId xmlns:a16="http://schemas.microsoft.com/office/drawing/2014/main" val="875396552"/>
                    </a:ext>
                  </a:extLst>
                </a:gridCol>
                <a:gridCol w="675385">
                  <a:extLst>
                    <a:ext uri="{9D8B030D-6E8A-4147-A177-3AD203B41FA5}">
                      <a16:colId xmlns:a16="http://schemas.microsoft.com/office/drawing/2014/main" val="288652224"/>
                    </a:ext>
                  </a:extLst>
                </a:gridCol>
                <a:gridCol w="675385">
                  <a:extLst>
                    <a:ext uri="{9D8B030D-6E8A-4147-A177-3AD203B41FA5}">
                      <a16:colId xmlns:a16="http://schemas.microsoft.com/office/drawing/2014/main" val="362124560"/>
                    </a:ext>
                  </a:extLst>
                </a:gridCol>
                <a:gridCol w="675385">
                  <a:extLst>
                    <a:ext uri="{9D8B030D-6E8A-4147-A177-3AD203B41FA5}">
                      <a16:colId xmlns:a16="http://schemas.microsoft.com/office/drawing/2014/main" val="503319996"/>
                    </a:ext>
                  </a:extLst>
                </a:gridCol>
              </a:tblGrid>
              <a:tr h="1040540">
                <a:tc>
                  <a:txBody>
                    <a:bodyPr/>
                    <a:lstStyle/>
                    <a:p>
                      <a:pPr algn="just" fontAlgn="ctr">
                        <a:buNone/>
                      </a:pPr>
                      <a:r>
                        <a:rPr lang="en-US" sz="1300" b="1" u="none" strike="noStrike">
                          <a:effectLst/>
                        </a:rPr>
                        <a:t>UE TxPower (dBm)</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Avg Delay </a:t>
                      </a:r>
                      <a:r>
                        <a:rPr lang="en-US" sz="1300" b="1" u="none" strike="noStrike" dirty="0" err="1">
                          <a:effectLst/>
                        </a:rPr>
                        <a:t>mmWave</a:t>
                      </a:r>
                      <a:r>
                        <a:rPr lang="en-US" sz="1300" b="1" u="none" strike="noStrike" dirty="0">
                          <a:effectLst/>
                        </a:rPr>
                        <a:t> </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Jitter mmWave</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Packet Loss </a:t>
                      </a:r>
                      <a:r>
                        <a:rPr lang="en-US" sz="1300" b="1" u="none" strike="noStrike" dirty="0" err="1">
                          <a:effectLst/>
                        </a:rPr>
                        <a:t>mmWave</a:t>
                      </a:r>
                      <a:r>
                        <a:rPr lang="en-US" sz="1300" b="1" u="none" strike="noStrike" dirty="0">
                          <a:effectLst/>
                        </a:rPr>
                        <a:t> </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Throughput </a:t>
                      </a:r>
                      <a:r>
                        <a:rPr lang="en-US" sz="1300" b="1" u="none" strike="noStrike" dirty="0" err="1">
                          <a:effectLst/>
                        </a:rPr>
                        <a:t>mmWave</a:t>
                      </a:r>
                      <a:endParaRPr lang="en-US" sz="1300" b="1"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4222381556"/>
                  </a:ext>
                </a:extLst>
              </a:tr>
              <a:tr h="266003">
                <a:tc>
                  <a:txBody>
                    <a:bodyPr/>
                    <a:lstStyle/>
                    <a:p>
                      <a:pPr algn="just" fontAlgn="ctr">
                        <a:buNone/>
                      </a:pPr>
                      <a:r>
                        <a:rPr lang="en-US" sz="1300" u="none" strike="noStrike">
                          <a:effectLst/>
                        </a:rPr>
                        <a:t>20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8.236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0.218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11.422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8.991</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637198920"/>
                  </a:ext>
                </a:extLst>
              </a:tr>
              <a:tr h="266003">
                <a:tc>
                  <a:txBody>
                    <a:bodyPr/>
                    <a:lstStyle/>
                    <a:p>
                      <a:pPr algn="just" fontAlgn="ctr">
                        <a:buNone/>
                      </a:pPr>
                      <a:r>
                        <a:rPr lang="en-US" sz="1300" u="none" strike="noStrike">
                          <a:effectLst/>
                        </a:rPr>
                        <a:t>22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15.943</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0.238</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73.909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6.913</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142152470"/>
                  </a:ext>
                </a:extLst>
              </a:tr>
              <a:tr h="266003">
                <a:tc>
                  <a:txBody>
                    <a:bodyPr/>
                    <a:lstStyle/>
                    <a:p>
                      <a:pPr algn="just" fontAlgn="ctr">
                        <a:buNone/>
                      </a:pPr>
                      <a:r>
                        <a:rPr lang="en-US" sz="1300" u="none" strike="noStrike">
                          <a:effectLst/>
                        </a:rPr>
                        <a:t>24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62.862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0.237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66.61</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7.968</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4101635993"/>
                  </a:ext>
                </a:extLst>
              </a:tr>
              <a:tr h="266003">
                <a:tc>
                  <a:txBody>
                    <a:bodyPr/>
                    <a:lstStyle/>
                    <a:p>
                      <a:pPr algn="just" fontAlgn="ctr">
                        <a:buNone/>
                      </a:pPr>
                      <a:r>
                        <a:rPr lang="en-US" sz="1300" u="none" strike="noStrike">
                          <a:effectLst/>
                        </a:rPr>
                        <a:t>26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42.027</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0.229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a:effectLst/>
                        </a:rPr>
                        <a:t>55.309</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u="none" strike="noStrike" dirty="0">
                          <a:effectLst/>
                        </a:rPr>
                        <a:t>8.319</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250088412"/>
                  </a:ext>
                </a:extLst>
              </a:tr>
            </a:tbl>
          </a:graphicData>
        </a:graphic>
      </p:graphicFrame>
      <p:graphicFrame>
        <p:nvGraphicFramePr>
          <p:cNvPr id="9" name="Table 8">
            <a:extLst>
              <a:ext uri="{FF2B5EF4-FFF2-40B4-BE49-F238E27FC236}">
                <a16:creationId xmlns:a16="http://schemas.microsoft.com/office/drawing/2014/main" id="{FA210721-E799-C4D1-8638-324222069EB8}"/>
              </a:ext>
            </a:extLst>
          </p:cNvPr>
          <p:cNvGraphicFramePr>
            <a:graphicFrameLocks noGrp="1"/>
          </p:cNvGraphicFramePr>
          <p:nvPr>
            <p:extLst>
              <p:ext uri="{D42A27DB-BD31-4B8C-83A1-F6EECF244321}">
                <p14:modId xmlns:p14="http://schemas.microsoft.com/office/powerpoint/2010/main" val="4169607162"/>
              </p:ext>
            </p:extLst>
          </p:nvPr>
        </p:nvGraphicFramePr>
        <p:xfrm>
          <a:off x="4848082" y="2282051"/>
          <a:ext cx="3376925" cy="2123695"/>
        </p:xfrm>
        <a:graphic>
          <a:graphicData uri="http://schemas.openxmlformats.org/drawingml/2006/table">
            <a:tbl>
              <a:tblPr>
                <a:tableStyleId>{5DA37D80-6434-44D0-A028-1B22A696006F}</a:tableStyleId>
              </a:tblPr>
              <a:tblGrid>
                <a:gridCol w="675385">
                  <a:extLst>
                    <a:ext uri="{9D8B030D-6E8A-4147-A177-3AD203B41FA5}">
                      <a16:colId xmlns:a16="http://schemas.microsoft.com/office/drawing/2014/main" val="2849742940"/>
                    </a:ext>
                  </a:extLst>
                </a:gridCol>
                <a:gridCol w="675385">
                  <a:extLst>
                    <a:ext uri="{9D8B030D-6E8A-4147-A177-3AD203B41FA5}">
                      <a16:colId xmlns:a16="http://schemas.microsoft.com/office/drawing/2014/main" val="4211888828"/>
                    </a:ext>
                  </a:extLst>
                </a:gridCol>
                <a:gridCol w="675385">
                  <a:extLst>
                    <a:ext uri="{9D8B030D-6E8A-4147-A177-3AD203B41FA5}">
                      <a16:colId xmlns:a16="http://schemas.microsoft.com/office/drawing/2014/main" val="3810122600"/>
                    </a:ext>
                  </a:extLst>
                </a:gridCol>
                <a:gridCol w="675385">
                  <a:extLst>
                    <a:ext uri="{9D8B030D-6E8A-4147-A177-3AD203B41FA5}">
                      <a16:colId xmlns:a16="http://schemas.microsoft.com/office/drawing/2014/main" val="518672024"/>
                    </a:ext>
                  </a:extLst>
                </a:gridCol>
                <a:gridCol w="675385">
                  <a:extLst>
                    <a:ext uri="{9D8B030D-6E8A-4147-A177-3AD203B41FA5}">
                      <a16:colId xmlns:a16="http://schemas.microsoft.com/office/drawing/2014/main" val="497727069"/>
                    </a:ext>
                  </a:extLst>
                </a:gridCol>
              </a:tblGrid>
              <a:tr h="1039591">
                <a:tc>
                  <a:txBody>
                    <a:bodyPr/>
                    <a:lstStyle/>
                    <a:p>
                      <a:pPr algn="just" fontAlgn="ctr">
                        <a:buNone/>
                      </a:pPr>
                      <a:r>
                        <a:rPr lang="en-US" sz="1300" b="1" u="none" strike="noStrike">
                          <a:effectLst/>
                        </a:rPr>
                        <a:t>UE TxPower (dBm)</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Avg Delay Sub-6 </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Jitter Sub-6 </a:t>
                      </a:r>
                      <a:endParaRPr lang="en-US" sz="13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a:effectLst/>
                        </a:rPr>
                        <a:t>Packet Loss Sub-6 </a:t>
                      </a:r>
                      <a:endParaRPr lang="en-US" sz="13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US" sz="1300" b="1" u="none" strike="noStrike" dirty="0">
                          <a:effectLst/>
                        </a:rPr>
                        <a:t>Throughput Sub-6  </a:t>
                      </a:r>
                      <a:endParaRPr lang="en-US" sz="1300" b="1"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574623663"/>
                  </a:ext>
                </a:extLst>
              </a:tr>
              <a:tr h="271026">
                <a:tc>
                  <a:txBody>
                    <a:bodyPr/>
                    <a:lstStyle/>
                    <a:p>
                      <a:pPr algn="l" fontAlgn="ctr">
                        <a:buNone/>
                      </a:pPr>
                      <a:r>
                        <a:rPr lang="en-US" sz="1300" u="none" strike="noStrike">
                          <a:effectLst/>
                        </a:rPr>
                        <a:t>20</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8.5982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0.2271</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13.86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8.7432</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1554292823"/>
                  </a:ext>
                </a:extLst>
              </a:tr>
              <a:tr h="271026">
                <a:tc>
                  <a:txBody>
                    <a:bodyPr/>
                    <a:lstStyle/>
                    <a:p>
                      <a:pPr algn="l" fontAlgn="ctr">
                        <a:buNone/>
                      </a:pPr>
                      <a:r>
                        <a:rPr lang="en-US" sz="1300" u="none" strike="noStrike">
                          <a:effectLst/>
                        </a:rPr>
                        <a:t>22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8.5982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0.2271</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13.86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8.7432</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705188136"/>
                  </a:ext>
                </a:extLst>
              </a:tr>
              <a:tr h="271026">
                <a:tc>
                  <a:txBody>
                    <a:bodyPr/>
                    <a:lstStyle/>
                    <a:p>
                      <a:pPr algn="l" fontAlgn="ctr">
                        <a:buNone/>
                      </a:pPr>
                      <a:r>
                        <a:rPr lang="en-US" sz="1300" u="none" strike="noStrike">
                          <a:effectLst/>
                        </a:rPr>
                        <a:t>24</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8.5982</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0.2271</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13.86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8.7432</a:t>
                      </a:r>
                      <a:endParaRPr lang="en-US" sz="1300" b="0"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916500828"/>
                  </a:ext>
                </a:extLst>
              </a:tr>
              <a:tr h="271026">
                <a:tc>
                  <a:txBody>
                    <a:bodyPr/>
                    <a:lstStyle/>
                    <a:p>
                      <a:pPr algn="l" fontAlgn="ctr">
                        <a:buNone/>
                      </a:pPr>
                      <a:r>
                        <a:rPr lang="en-US" sz="1300" u="none" strike="noStrike">
                          <a:effectLst/>
                        </a:rPr>
                        <a:t>26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dirty="0">
                          <a:effectLst/>
                        </a:rPr>
                        <a:t>8.5982</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dirty="0">
                          <a:effectLst/>
                        </a:rPr>
                        <a:t>0.2271</a:t>
                      </a:r>
                      <a:endParaRPr lang="en-US" sz="13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a:effectLst/>
                        </a:rPr>
                        <a:t>13.86</a:t>
                      </a:r>
                      <a:endParaRPr lang="en-US" sz="13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l" fontAlgn="ctr">
                        <a:buNone/>
                      </a:pPr>
                      <a:r>
                        <a:rPr lang="en-US" sz="1300" u="none" strike="noStrike" dirty="0">
                          <a:effectLst/>
                        </a:rPr>
                        <a:t>8.7432</a:t>
                      </a:r>
                      <a:endParaRPr lang="en-US" sz="1300" b="0" i="0" u="none" strike="noStrike" dirty="0">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3459278728"/>
                  </a:ext>
                </a:extLst>
              </a:tr>
            </a:tbl>
          </a:graphicData>
        </a:graphic>
      </p:graphicFrame>
    </p:spTree>
    <p:extLst>
      <p:ext uri="{BB962C8B-B14F-4D97-AF65-F5344CB8AC3E}">
        <p14:creationId xmlns:p14="http://schemas.microsoft.com/office/powerpoint/2010/main" val="4003361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1BBEC-BD2A-C088-4395-45538DF828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7364E4-CA5F-0E07-257A-C78065AB5D49}"/>
              </a:ext>
            </a:extLst>
          </p:cNvPr>
          <p:cNvSpPr>
            <a:spLocks noGrp="1"/>
          </p:cNvSpPr>
          <p:nvPr>
            <p:ph type="sldNum" sz="quarter" idx="12"/>
          </p:nvPr>
        </p:nvSpPr>
        <p:spPr/>
        <p:txBody>
          <a:bodyPr/>
          <a:lstStyle/>
          <a:p>
            <a:fld id="{9EA0BE3B-158A-4EDF-80DC-E394A0D1600F}" type="slidenum">
              <a:rPr lang="en-US" smtClean="0"/>
              <a:pPr/>
              <a:t>35</a:t>
            </a:fld>
            <a:endParaRPr lang="en-US" dirty="0"/>
          </a:p>
        </p:txBody>
      </p:sp>
      <p:sp>
        <p:nvSpPr>
          <p:cNvPr id="3" name="Title 2">
            <a:extLst>
              <a:ext uri="{FF2B5EF4-FFF2-40B4-BE49-F238E27FC236}">
                <a16:creationId xmlns:a16="http://schemas.microsoft.com/office/drawing/2014/main" id="{5E878CB8-D9C8-AD16-C9A5-78B5BE56CDD8}"/>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6" name="TextBox 5">
            <a:extLst>
              <a:ext uri="{FF2B5EF4-FFF2-40B4-BE49-F238E27FC236}">
                <a16:creationId xmlns:a16="http://schemas.microsoft.com/office/drawing/2014/main" id="{F807B9F7-4E93-0007-5E06-866F022B8F7E}"/>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TextBox 3">
            <a:extLst>
              <a:ext uri="{FF2B5EF4-FFF2-40B4-BE49-F238E27FC236}">
                <a16:creationId xmlns:a16="http://schemas.microsoft.com/office/drawing/2014/main" id="{E52FBBEA-DEC3-8292-D4C9-2FFA9A16DCF9}"/>
              </a:ext>
            </a:extLst>
          </p:cNvPr>
          <p:cNvSpPr txBox="1"/>
          <p:nvPr/>
        </p:nvSpPr>
        <p:spPr>
          <a:xfrm>
            <a:off x="235077" y="953643"/>
            <a:ext cx="4415832" cy="338554"/>
          </a:xfrm>
          <a:prstGeom prst="rect">
            <a:avLst/>
          </a:prstGeom>
          <a:noFill/>
        </p:spPr>
        <p:txBody>
          <a:bodyPr wrap="square">
            <a:spAutoFit/>
          </a:bodyPr>
          <a:lstStyle/>
          <a:p>
            <a:r>
              <a:rPr lang="en-US" sz="1600" b="1" dirty="0"/>
              <a:t>6.3. KẾT QUẢ TỪ KỊCH BẢN TXPOWER</a:t>
            </a:r>
            <a:endParaRPr lang="vi-VN" sz="1400" dirty="0"/>
          </a:p>
        </p:txBody>
      </p:sp>
      <p:graphicFrame>
        <p:nvGraphicFramePr>
          <p:cNvPr id="7" name="Chart 6">
            <a:extLst>
              <a:ext uri="{FF2B5EF4-FFF2-40B4-BE49-F238E27FC236}">
                <a16:creationId xmlns:a16="http://schemas.microsoft.com/office/drawing/2014/main" id="{A4F69C96-A58A-47A5-AFD8-B66669DCA869}"/>
              </a:ext>
            </a:extLst>
          </p:cNvPr>
          <p:cNvGraphicFramePr>
            <a:graphicFrameLocks/>
          </p:cNvGraphicFramePr>
          <p:nvPr>
            <p:extLst>
              <p:ext uri="{D42A27DB-BD31-4B8C-83A1-F6EECF244321}">
                <p14:modId xmlns:p14="http://schemas.microsoft.com/office/powerpoint/2010/main" val="3032989701"/>
              </p:ext>
            </p:extLst>
          </p:nvPr>
        </p:nvGraphicFramePr>
        <p:xfrm>
          <a:off x="74316" y="1389992"/>
          <a:ext cx="3025901" cy="22400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82CFCA66-0936-4525-8BF0-6901FF7BAE6F}"/>
              </a:ext>
            </a:extLst>
          </p:cNvPr>
          <p:cNvGraphicFramePr>
            <a:graphicFrameLocks/>
          </p:cNvGraphicFramePr>
          <p:nvPr>
            <p:extLst>
              <p:ext uri="{D42A27DB-BD31-4B8C-83A1-F6EECF244321}">
                <p14:modId xmlns:p14="http://schemas.microsoft.com/office/powerpoint/2010/main" val="2905308038"/>
              </p:ext>
            </p:extLst>
          </p:nvPr>
        </p:nvGraphicFramePr>
        <p:xfrm>
          <a:off x="74316" y="3712693"/>
          <a:ext cx="3141764" cy="22461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C29B6709-E2D7-4D44-A017-254EE3431132}"/>
              </a:ext>
            </a:extLst>
          </p:cNvPr>
          <p:cNvGraphicFramePr>
            <a:graphicFrameLocks/>
          </p:cNvGraphicFramePr>
          <p:nvPr>
            <p:extLst>
              <p:ext uri="{D42A27DB-BD31-4B8C-83A1-F6EECF244321}">
                <p14:modId xmlns:p14="http://schemas.microsoft.com/office/powerpoint/2010/main" val="2784536289"/>
              </p:ext>
            </p:extLst>
          </p:nvPr>
        </p:nvGraphicFramePr>
        <p:xfrm>
          <a:off x="2880880" y="1474301"/>
          <a:ext cx="3162905" cy="215569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a16="http://schemas.microsoft.com/office/drawing/2014/main" id="{6D001042-B2B8-450B-83B3-89A5F9292A60}"/>
              </a:ext>
            </a:extLst>
          </p:cNvPr>
          <p:cNvGraphicFramePr>
            <a:graphicFrameLocks/>
          </p:cNvGraphicFramePr>
          <p:nvPr>
            <p:extLst>
              <p:ext uri="{D42A27DB-BD31-4B8C-83A1-F6EECF244321}">
                <p14:modId xmlns:p14="http://schemas.microsoft.com/office/powerpoint/2010/main" val="2631712660"/>
              </p:ext>
            </p:extLst>
          </p:nvPr>
        </p:nvGraphicFramePr>
        <p:xfrm>
          <a:off x="3003932" y="3751155"/>
          <a:ext cx="3136136" cy="2207701"/>
        </p:xfrm>
        <a:graphic>
          <a:graphicData uri="http://schemas.openxmlformats.org/drawingml/2006/chart">
            <c:chart xmlns:c="http://schemas.openxmlformats.org/drawingml/2006/chart" xmlns:r="http://schemas.openxmlformats.org/officeDocument/2006/relationships" r:id="rId6"/>
          </a:graphicData>
        </a:graphic>
      </p:graphicFrame>
      <p:sp>
        <p:nvSpPr>
          <p:cNvPr id="14" name="TextBox 13">
            <a:extLst>
              <a:ext uri="{FF2B5EF4-FFF2-40B4-BE49-F238E27FC236}">
                <a16:creationId xmlns:a16="http://schemas.microsoft.com/office/drawing/2014/main" id="{6C9F4D1C-664D-2EA2-27C2-2F847A37073B}"/>
              </a:ext>
            </a:extLst>
          </p:cNvPr>
          <p:cNvSpPr txBox="1"/>
          <p:nvPr/>
        </p:nvSpPr>
        <p:spPr>
          <a:xfrm>
            <a:off x="6193903" y="1552508"/>
            <a:ext cx="2656446" cy="4154984"/>
          </a:xfrm>
          <a:prstGeom prst="rect">
            <a:avLst/>
          </a:prstGeom>
          <a:noFill/>
        </p:spPr>
        <p:txBody>
          <a:bodyPr wrap="square">
            <a:spAutoFit/>
          </a:bodyPr>
          <a:lstStyle/>
          <a:p>
            <a:r>
              <a:rPr lang="en-US" sz="1200" dirty="0">
                <a:effectLst/>
              </a:rPr>
              <a:t>- </a:t>
            </a:r>
            <a:r>
              <a:rPr lang="vi-VN" sz="1200" dirty="0">
                <a:effectLst/>
              </a:rPr>
              <a:t>mmWave 28 GHz rất nhạy cảm với công suất phát của UE (UAV). Khi UE TxPower ở mức thấp (20–22 dBm), uplink bị suy giảm nghiêm trọng dẫn đến packet loss cao (lên đến </a:t>
            </a:r>
            <a:r>
              <a:rPr lang="en-US" sz="1200" dirty="0">
                <a:effectLst/>
              </a:rPr>
              <a:t>7</a:t>
            </a:r>
            <a:r>
              <a:rPr lang="vi-VN" sz="1200" dirty="0">
                <a:effectLst/>
              </a:rPr>
              <a:t>3.9%), độ trễ tăng vọt (15–63 ms) và throughput giảm. Việc tăng UE TxPower lên 24–26 dBm giúp cải thiện một phần (loss giảm xuống ~55–66%), nhưng vẫn chưa đạt độ tin cậy cao. Điều này xuất phát từ pathloss lớn ở tần số cao và yêu cầu nghiêm ngặt cho beamforming uplink.</a:t>
            </a:r>
          </a:p>
          <a:p>
            <a:r>
              <a:rPr lang="en-US" sz="1200" dirty="0">
                <a:effectLst/>
              </a:rPr>
              <a:t>- </a:t>
            </a:r>
            <a:r>
              <a:rPr lang="vi-VN" sz="1200" dirty="0">
                <a:effectLst/>
              </a:rPr>
              <a:t>Sub-6 GHz duy trì hiệu suất hoàn toàn ổn định ở mọi mức UE TxPower (delay ~8.6 ms, loss ~13.86%, throughput ~8.74 Mbps), chứng tỏ băng tần này có margin công suất lớn hơn và ít phụ thuộc vào TxPower UE.</a:t>
            </a:r>
          </a:p>
          <a:p>
            <a:endParaRPr lang="en-US" sz="1200" dirty="0"/>
          </a:p>
        </p:txBody>
      </p:sp>
    </p:spTree>
    <p:extLst>
      <p:ext uri="{BB962C8B-B14F-4D97-AF65-F5344CB8AC3E}">
        <p14:creationId xmlns:p14="http://schemas.microsoft.com/office/powerpoint/2010/main" val="7409345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FF34B-FA55-5C27-EF67-9515268EF8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C410F9-D76B-D450-A59D-2CBAAFDE087B}"/>
              </a:ext>
            </a:extLst>
          </p:cNvPr>
          <p:cNvSpPr>
            <a:spLocks noGrp="1"/>
          </p:cNvSpPr>
          <p:nvPr>
            <p:ph type="sldNum" sz="quarter" idx="12"/>
          </p:nvPr>
        </p:nvSpPr>
        <p:spPr/>
        <p:txBody>
          <a:bodyPr/>
          <a:lstStyle/>
          <a:p>
            <a:fld id="{9EA0BE3B-158A-4EDF-80DC-E394A0D1600F}" type="slidenum">
              <a:rPr lang="en-US" smtClean="0"/>
              <a:pPr/>
              <a:t>36</a:t>
            </a:fld>
            <a:endParaRPr lang="en-US" dirty="0"/>
          </a:p>
        </p:txBody>
      </p:sp>
      <p:sp>
        <p:nvSpPr>
          <p:cNvPr id="3" name="Title 2">
            <a:extLst>
              <a:ext uri="{FF2B5EF4-FFF2-40B4-BE49-F238E27FC236}">
                <a16:creationId xmlns:a16="http://schemas.microsoft.com/office/drawing/2014/main" id="{F20E02DE-773F-0C63-AA9E-996F5A5EB0E4}"/>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6" name="TextBox 5">
            <a:extLst>
              <a:ext uri="{FF2B5EF4-FFF2-40B4-BE49-F238E27FC236}">
                <a16:creationId xmlns:a16="http://schemas.microsoft.com/office/drawing/2014/main" id="{BC32042E-BC05-801C-3688-1777A1A09873}"/>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TextBox 3">
            <a:extLst>
              <a:ext uri="{FF2B5EF4-FFF2-40B4-BE49-F238E27FC236}">
                <a16:creationId xmlns:a16="http://schemas.microsoft.com/office/drawing/2014/main" id="{0298DBDB-5898-AB76-E18D-0FFD9D093A9F}"/>
              </a:ext>
            </a:extLst>
          </p:cNvPr>
          <p:cNvSpPr txBox="1"/>
          <p:nvPr/>
        </p:nvSpPr>
        <p:spPr>
          <a:xfrm>
            <a:off x="235077" y="953643"/>
            <a:ext cx="4415832" cy="338554"/>
          </a:xfrm>
          <a:prstGeom prst="rect">
            <a:avLst/>
          </a:prstGeom>
          <a:noFill/>
        </p:spPr>
        <p:txBody>
          <a:bodyPr wrap="square">
            <a:spAutoFit/>
          </a:bodyPr>
          <a:lstStyle/>
          <a:p>
            <a:r>
              <a:rPr lang="en-US" sz="1600" b="1" dirty="0"/>
              <a:t>6.4. KẾT QUẢ TỪ KỊCH BẢN NETWORK SLICING</a:t>
            </a:r>
            <a:endParaRPr lang="vi-VN" sz="1400" dirty="0"/>
          </a:p>
        </p:txBody>
      </p:sp>
      <p:graphicFrame>
        <p:nvGraphicFramePr>
          <p:cNvPr id="5" name="Table 4">
            <a:extLst>
              <a:ext uri="{FF2B5EF4-FFF2-40B4-BE49-F238E27FC236}">
                <a16:creationId xmlns:a16="http://schemas.microsoft.com/office/drawing/2014/main" id="{C7588E92-4A71-C838-E265-EB4EE15B6761}"/>
              </a:ext>
            </a:extLst>
          </p:cNvPr>
          <p:cNvGraphicFramePr>
            <a:graphicFrameLocks noGrp="1"/>
          </p:cNvGraphicFramePr>
          <p:nvPr>
            <p:extLst>
              <p:ext uri="{D42A27DB-BD31-4B8C-83A1-F6EECF244321}">
                <p14:modId xmlns:p14="http://schemas.microsoft.com/office/powerpoint/2010/main" val="2201961581"/>
              </p:ext>
            </p:extLst>
          </p:nvPr>
        </p:nvGraphicFramePr>
        <p:xfrm>
          <a:off x="2219432" y="2167480"/>
          <a:ext cx="4720995" cy="2191378"/>
        </p:xfrm>
        <a:graphic>
          <a:graphicData uri="http://schemas.openxmlformats.org/drawingml/2006/table">
            <a:tbl>
              <a:tblPr firstRow="1" firstCol="1" bandRow="1">
                <a:tableStyleId>{8799B23B-EC83-4686-B30A-512413B5E67A}</a:tableStyleId>
              </a:tblPr>
              <a:tblGrid>
                <a:gridCol w="1573665">
                  <a:extLst>
                    <a:ext uri="{9D8B030D-6E8A-4147-A177-3AD203B41FA5}">
                      <a16:colId xmlns:a16="http://schemas.microsoft.com/office/drawing/2014/main" val="1944554390"/>
                    </a:ext>
                  </a:extLst>
                </a:gridCol>
                <a:gridCol w="1573665">
                  <a:extLst>
                    <a:ext uri="{9D8B030D-6E8A-4147-A177-3AD203B41FA5}">
                      <a16:colId xmlns:a16="http://schemas.microsoft.com/office/drawing/2014/main" val="1732878229"/>
                    </a:ext>
                  </a:extLst>
                </a:gridCol>
                <a:gridCol w="1573665">
                  <a:extLst>
                    <a:ext uri="{9D8B030D-6E8A-4147-A177-3AD203B41FA5}">
                      <a16:colId xmlns:a16="http://schemas.microsoft.com/office/drawing/2014/main" val="2421184399"/>
                    </a:ext>
                  </a:extLst>
                </a:gridCol>
              </a:tblGrid>
              <a:tr h="353503">
                <a:tc>
                  <a:txBody>
                    <a:bodyPr/>
                    <a:lstStyle/>
                    <a:p>
                      <a:pPr marL="0" marR="0" algn="just">
                        <a:lnSpc>
                          <a:spcPct val="110000"/>
                        </a:lnSpc>
                        <a:spcBef>
                          <a:spcPts val="300"/>
                        </a:spcBef>
                        <a:buNone/>
                      </a:pPr>
                      <a:r>
                        <a:rPr lang="en-US" sz="1300" dirty="0">
                          <a:effectLst/>
                        </a:rPr>
                        <a:t>Parameter</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URLLC Slice (C2 Control)</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eMBB Slice (Video)</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824063588"/>
                  </a:ext>
                </a:extLst>
              </a:tr>
              <a:tr h="353503">
                <a:tc>
                  <a:txBody>
                    <a:bodyPr/>
                    <a:lstStyle/>
                    <a:p>
                      <a:pPr marL="0" marR="0" algn="just">
                        <a:lnSpc>
                          <a:spcPct val="110000"/>
                        </a:lnSpc>
                        <a:spcBef>
                          <a:spcPts val="300"/>
                        </a:spcBef>
                        <a:buNone/>
                      </a:pPr>
                      <a:r>
                        <a:rPr lang="en-US" sz="1300">
                          <a:effectLst/>
                        </a:rPr>
                        <a:t>Số gói truyền / nhận</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100 / 100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100 / 100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2134273077"/>
                  </a:ext>
                </a:extLst>
              </a:tr>
              <a:tr h="353503">
                <a:tc>
                  <a:txBody>
                    <a:bodyPr/>
                    <a:lstStyle/>
                    <a:p>
                      <a:pPr marL="0" marR="0" algn="just">
                        <a:lnSpc>
                          <a:spcPct val="110000"/>
                        </a:lnSpc>
                        <a:spcBef>
                          <a:spcPts val="300"/>
                        </a:spcBef>
                        <a:buNone/>
                      </a:pPr>
                      <a:r>
                        <a:rPr lang="en-US" sz="1300" dirty="0">
                          <a:effectLst/>
                        </a:rPr>
                        <a:t>Packet loss(%)</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0.0000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0.0000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373351916"/>
                  </a:ext>
                </a:extLst>
              </a:tr>
              <a:tr h="353503">
                <a:tc>
                  <a:txBody>
                    <a:bodyPr/>
                    <a:lstStyle/>
                    <a:p>
                      <a:pPr marL="0" marR="0" algn="just">
                        <a:lnSpc>
                          <a:spcPct val="110000"/>
                        </a:lnSpc>
                        <a:spcBef>
                          <a:spcPts val="300"/>
                        </a:spcBef>
                        <a:buNone/>
                      </a:pPr>
                      <a:r>
                        <a:rPr lang="en-US" sz="1300" dirty="0">
                          <a:effectLst/>
                        </a:rPr>
                        <a:t>Avg delay (</a:t>
                      </a:r>
                      <a:r>
                        <a:rPr lang="en-US" sz="1300" dirty="0" err="1">
                          <a:effectLst/>
                        </a:rPr>
                        <a:t>ms</a:t>
                      </a:r>
                      <a:r>
                        <a:rPr lang="en-US" sz="1300" dirty="0">
                          <a:effectLst/>
                        </a:rPr>
                        <a:t>)</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0.785</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1.925</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178263773"/>
                  </a:ext>
                </a:extLst>
              </a:tr>
              <a:tr h="353503">
                <a:tc>
                  <a:txBody>
                    <a:bodyPr/>
                    <a:lstStyle/>
                    <a:p>
                      <a:pPr marL="0" marR="0" algn="just">
                        <a:lnSpc>
                          <a:spcPct val="110000"/>
                        </a:lnSpc>
                        <a:spcBef>
                          <a:spcPts val="300"/>
                        </a:spcBef>
                        <a:buNone/>
                      </a:pPr>
                      <a:r>
                        <a:rPr lang="en-US" sz="1300" dirty="0">
                          <a:effectLst/>
                        </a:rPr>
                        <a:t>Jitter(</a:t>
                      </a:r>
                      <a:r>
                        <a:rPr lang="en-US" sz="1300" dirty="0" err="1">
                          <a:effectLst/>
                        </a:rPr>
                        <a:t>ms</a:t>
                      </a:r>
                      <a:r>
                        <a:rPr lang="en-US" sz="1300" dirty="0">
                          <a:effectLst/>
                        </a:rPr>
                        <a:t>)</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0.097</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0.011</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648988448"/>
                  </a:ext>
                </a:extLst>
              </a:tr>
              <a:tr h="353503">
                <a:tc>
                  <a:txBody>
                    <a:bodyPr/>
                    <a:lstStyle/>
                    <a:p>
                      <a:pPr marL="0" marR="0" algn="just">
                        <a:lnSpc>
                          <a:spcPct val="110000"/>
                        </a:lnSpc>
                        <a:spcBef>
                          <a:spcPts val="300"/>
                        </a:spcBef>
                        <a:buNone/>
                      </a:pPr>
                      <a:r>
                        <a:rPr lang="en-US" sz="1300" dirty="0">
                          <a:effectLst/>
                        </a:rPr>
                        <a:t>Throughput (Mbps)</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a:effectLst/>
                        </a:rPr>
                        <a:t>2.128</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a:effectLst/>
                        </a:rPr>
                        <a:t>0.992</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203782660"/>
                  </a:ext>
                </a:extLst>
              </a:tr>
            </a:tbl>
          </a:graphicData>
        </a:graphic>
      </p:graphicFrame>
      <p:sp>
        <p:nvSpPr>
          <p:cNvPr id="8" name="TextBox 7">
            <a:extLst>
              <a:ext uri="{FF2B5EF4-FFF2-40B4-BE49-F238E27FC236}">
                <a16:creationId xmlns:a16="http://schemas.microsoft.com/office/drawing/2014/main" id="{9F7584B0-E677-2CB9-A523-D889DDAE64D8}"/>
              </a:ext>
            </a:extLst>
          </p:cNvPr>
          <p:cNvSpPr txBox="1"/>
          <p:nvPr/>
        </p:nvSpPr>
        <p:spPr>
          <a:xfrm>
            <a:off x="235077" y="1438489"/>
            <a:ext cx="8689706" cy="553998"/>
          </a:xfrm>
          <a:prstGeom prst="rect">
            <a:avLst/>
          </a:prstGeom>
          <a:noFill/>
        </p:spPr>
        <p:txBody>
          <a:bodyPr wrap="square">
            <a:spAutoFit/>
          </a:bodyPr>
          <a:lstStyle/>
          <a:p>
            <a:r>
              <a:rPr lang="en-US" sz="1600" b="1" dirty="0"/>
              <a:t>ĐIỀU KIỆN TỐT: </a:t>
            </a:r>
            <a:r>
              <a:rPr lang="en-US" sz="1600" dirty="0"/>
              <a:t>Speed: 25 m/s | Altitude: 50 m | </a:t>
            </a:r>
            <a:r>
              <a:rPr lang="en-US" sz="1600" dirty="0" err="1"/>
              <a:t>gNB</a:t>
            </a:r>
            <a:r>
              <a:rPr lang="en-US" sz="1600" dirty="0"/>
              <a:t> </a:t>
            </a:r>
            <a:r>
              <a:rPr lang="en-US" sz="1600" dirty="0" err="1"/>
              <a:t>TxPower</a:t>
            </a:r>
            <a:r>
              <a:rPr lang="en-US" sz="1600" dirty="0"/>
              <a:t>: 38 dBm | UE </a:t>
            </a:r>
            <a:r>
              <a:rPr lang="en-US" sz="1600" dirty="0" err="1"/>
              <a:t>TxPower</a:t>
            </a:r>
            <a:r>
              <a:rPr lang="en-US" sz="1600" dirty="0"/>
              <a:t>: 26 dBm</a:t>
            </a:r>
          </a:p>
          <a:p>
            <a:endParaRPr lang="vi-VN" sz="1400" dirty="0"/>
          </a:p>
        </p:txBody>
      </p:sp>
      <p:sp>
        <p:nvSpPr>
          <p:cNvPr id="15" name="TextBox 14">
            <a:extLst>
              <a:ext uri="{FF2B5EF4-FFF2-40B4-BE49-F238E27FC236}">
                <a16:creationId xmlns:a16="http://schemas.microsoft.com/office/drawing/2014/main" id="{2012185C-11FA-5055-F9F3-2C2034E73D11}"/>
              </a:ext>
            </a:extLst>
          </p:cNvPr>
          <p:cNvSpPr txBox="1"/>
          <p:nvPr/>
        </p:nvSpPr>
        <p:spPr>
          <a:xfrm>
            <a:off x="549236" y="4533851"/>
            <a:ext cx="7620730" cy="1771319"/>
          </a:xfrm>
          <a:prstGeom prst="rect">
            <a:avLst/>
          </a:prstGeom>
          <a:noFill/>
        </p:spPr>
        <p:txBody>
          <a:bodyPr wrap="square">
            <a:spAutoFit/>
          </a:bodyPr>
          <a:lstStyle/>
          <a:p>
            <a:pPr marR="0" lvl="0" algn="just">
              <a:lnSpc>
                <a:spcPct val="110000"/>
              </a:lnSpc>
              <a:spcBef>
                <a:spcPts val="300"/>
              </a:spcBef>
              <a:buSzPts val="1000"/>
              <a:tabLst>
                <a:tab pos="457200" algn="l"/>
              </a:tabLst>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Network slicing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hoạt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động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ổn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ở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điều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kiện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tối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ưu</a:t>
            </a:r>
            <a:endPar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gn="just">
              <a:lnSpc>
                <a:spcPct val="110000"/>
              </a:lnSpc>
              <a:spcBef>
                <a:spcPts val="300"/>
              </a:spcBef>
              <a:buSzPts val="1000"/>
              <a:buFont typeface="Times New Roman" panose="02020603050405020304" pitchFamily="18" charset="0"/>
              <a:buChar char="-"/>
              <a:tabLst>
                <a:tab pos="457200" algn="l"/>
              </a:tabLst>
            </a:pP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Cả</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hai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slice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đều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đạt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độ</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tin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cậy</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không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mất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gói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và</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độ</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trễ</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rất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thấp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p>
          <a:p>
            <a:pPr marL="342900" marR="0" lvl="0" indent="-342900" algn="just">
              <a:lnSpc>
                <a:spcPct val="110000"/>
              </a:lnSpc>
              <a:buSzPts val="1000"/>
              <a:buFont typeface="Times New Roman" panose="02020603050405020304" pitchFamily="18" charset="0"/>
              <a:buChar char="-"/>
              <a:tabLst>
                <a:tab pos="457200" algn="l"/>
              </a:tabLst>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URLLC slice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được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ưu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tiên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rõ</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rệt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độ</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trễ</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thấp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hơn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khoảng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59% so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với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eMBB</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(0.785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ms</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so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với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1.925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ms</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dù</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cùng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điều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kiện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radio. </a:t>
            </a:r>
          </a:p>
          <a:p>
            <a:pPr marL="342900" marR="0" lvl="0" indent="-342900" algn="just">
              <a:lnSpc>
                <a:spcPct val="110000"/>
              </a:lnSpc>
              <a:buSzPts val="1000"/>
              <a:buFont typeface="Times New Roman" panose="02020603050405020304" pitchFamily="18" charset="0"/>
              <a:buChar char="-"/>
              <a:tabLst>
                <a:tab pos="457200" algn="l"/>
              </a:tabLst>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Lưu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lượng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URLLC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cao</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hơn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(~2.128 Mbps) do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gói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nhỏ</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và</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tần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suất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cao</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(interval 500 µs),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phù</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hợp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với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yêu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cầu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control/telemetry.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eMBB</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đạt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~0.992 Mbps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phù</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hợp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bitrate video compressed ở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mức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cơ</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bản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41229301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47CBD-99AC-4EA0-7EFB-3B7616EA799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FB24D4-7A08-2662-F49E-E91E489F08F7}"/>
              </a:ext>
            </a:extLst>
          </p:cNvPr>
          <p:cNvSpPr>
            <a:spLocks noGrp="1"/>
          </p:cNvSpPr>
          <p:nvPr>
            <p:ph type="sldNum" sz="quarter" idx="12"/>
          </p:nvPr>
        </p:nvSpPr>
        <p:spPr/>
        <p:txBody>
          <a:bodyPr/>
          <a:lstStyle/>
          <a:p>
            <a:fld id="{9EA0BE3B-158A-4EDF-80DC-E394A0D1600F}" type="slidenum">
              <a:rPr lang="en-US" smtClean="0"/>
              <a:pPr/>
              <a:t>37</a:t>
            </a:fld>
            <a:endParaRPr lang="en-US" dirty="0"/>
          </a:p>
        </p:txBody>
      </p:sp>
      <p:sp>
        <p:nvSpPr>
          <p:cNvPr id="3" name="Title 2">
            <a:extLst>
              <a:ext uri="{FF2B5EF4-FFF2-40B4-BE49-F238E27FC236}">
                <a16:creationId xmlns:a16="http://schemas.microsoft.com/office/drawing/2014/main" id="{9DF508E8-07F0-E8A5-E9FE-EFB9C5CAEA00}"/>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6" name="TextBox 5">
            <a:extLst>
              <a:ext uri="{FF2B5EF4-FFF2-40B4-BE49-F238E27FC236}">
                <a16:creationId xmlns:a16="http://schemas.microsoft.com/office/drawing/2014/main" id="{5011AD67-6C9C-B77F-B3EB-245653A91D3C}"/>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4" name="TextBox 3">
            <a:extLst>
              <a:ext uri="{FF2B5EF4-FFF2-40B4-BE49-F238E27FC236}">
                <a16:creationId xmlns:a16="http://schemas.microsoft.com/office/drawing/2014/main" id="{618A75FF-839B-B7D6-BE11-89037FC372C1}"/>
              </a:ext>
            </a:extLst>
          </p:cNvPr>
          <p:cNvSpPr txBox="1"/>
          <p:nvPr/>
        </p:nvSpPr>
        <p:spPr>
          <a:xfrm>
            <a:off x="235077" y="953643"/>
            <a:ext cx="4415832" cy="338554"/>
          </a:xfrm>
          <a:prstGeom prst="rect">
            <a:avLst/>
          </a:prstGeom>
          <a:noFill/>
        </p:spPr>
        <p:txBody>
          <a:bodyPr wrap="square">
            <a:spAutoFit/>
          </a:bodyPr>
          <a:lstStyle/>
          <a:p>
            <a:r>
              <a:rPr lang="en-US" sz="1600" b="1" dirty="0"/>
              <a:t>6.4. KẾT QUẢ TỪ KỊCH BẢN NETWORK SLICING</a:t>
            </a:r>
            <a:endParaRPr lang="vi-VN" sz="1400" dirty="0"/>
          </a:p>
        </p:txBody>
      </p:sp>
      <p:sp>
        <p:nvSpPr>
          <p:cNvPr id="8" name="TextBox 7">
            <a:extLst>
              <a:ext uri="{FF2B5EF4-FFF2-40B4-BE49-F238E27FC236}">
                <a16:creationId xmlns:a16="http://schemas.microsoft.com/office/drawing/2014/main" id="{BB42F7FB-C99D-534C-7001-FAA4152750EC}"/>
              </a:ext>
            </a:extLst>
          </p:cNvPr>
          <p:cNvSpPr txBox="1"/>
          <p:nvPr/>
        </p:nvSpPr>
        <p:spPr>
          <a:xfrm>
            <a:off x="235077" y="1438489"/>
            <a:ext cx="8689706" cy="553998"/>
          </a:xfrm>
          <a:prstGeom prst="rect">
            <a:avLst/>
          </a:prstGeom>
          <a:noFill/>
        </p:spPr>
        <p:txBody>
          <a:bodyPr wrap="square">
            <a:spAutoFit/>
          </a:bodyPr>
          <a:lstStyle/>
          <a:p>
            <a:r>
              <a:rPr lang="en-US" sz="1600" b="1" dirty="0"/>
              <a:t>ĐIỀU KIỆN XẤU:</a:t>
            </a:r>
            <a:endParaRPr lang="en-US" sz="1600" dirty="0"/>
          </a:p>
          <a:p>
            <a:endParaRPr lang="vi-VN" sz="1400" dirty="0"/>
          </a:p>
        </p:txBody>
      </p:sp>
      <p:graphicFrame>
        <p:nvGraphicFramePr>
          <p:cNvPr id="7" name="Table 6">
            <a:extLst>
              <a:ext uri="{FF2B5EF4-FFF2-40B4-BE49-F238E27FC236}">
                <a16:creationId xmlns:a16="http://schemas.microsoft.com/office/drawing/2014/main" id="{76A63777-2E4A-6F0F-0CA6-2FE7E53474F0}"/>
              </a:ext>
            </a:extLst>
          </p:cNvPr>
          <p:cNvGraphicFramePr>
            <a:graphicFrameLocks noGrp="1"/>
          </p:cNvGraphicFramePr>
          <p:nvPr>
            <p:extLst>
              <p:ext uri="{D42A27DB-BD31-4B8C-83A1-F6EECF244321}">
                <p14:modId xmlns:p14="http://schemas.microsoft.com/office/powerpoint/2010/main" val="2729604178"/>
              </p:ext>
            </p:extLst>
          </p:nvPr>
        </p:nvGraphicFramePr>
        <p:xfrm>
          <a:off x="1124365" y="1846569"/>
          <a:ext cx="6895270" cy="2052393"/>
        </p:xfrm>
        <a:graphic>
          <a:graphicData uri="http://schemas.openxmlformats.org/drawingml/2006/table">
            <a:tbl>
              <a:tblPr firstRow="1" firstCol="1" bandRow="1">
                <a:tableStyleId>{8799B23B-EC83-4686-B30A-512413B5E67A}</a:tableStyleId>
              </a:tblPr>
              <a:tblGrid>
                <a:gridCol w="689527">
                  <a:extLst>
                    <a:ext uri="{9D8B030D-6E8A-4147-A177-3AD203B41FA5}">
                      <a16:colId xmlns:a16="http://schemas.microsoft.com/office/drawing/2014/main" val="4141172127"/>
                    </a:ext>
                  </a:extLst>
                </a:gridCol>
                <a:gridCol w="689527">
                  <a:extLst>
                    <a:ext uri="{9D8B030D-6E8A-4147-A177-3AD203B41FA5}">
                      <a16:colId xmlns:a16="http://schemas.microsoft.com/office/drawing/2014/main" val="1563684118"/>
                    </a:ext>
                  </a:extLst>
                </a:gridCol>
                <a:gridCol w="689527">
                  <a:extLst>
                    <a:ext uri="{9D8B030D-6E8A-4147-A177-3AD203B41FA5}">
                      <a16:colId xmlns:a16="http://schemas.microsoft.com/office/drawing/2014/main" val="772662931"/>
                    </a:ext>
                  </a:extLst>
                </a:gridCol>
                <a:gridCol w="689527">
                  <a:extLst>
                    <a:ext uri="{9D8B030D-6E8A-4147-A177-3AD203B41FA5}">
                      <a16:colId xmlns:a16="http://schemas.microsoft.com/office/drawing/2014/main" val="2173857798"/>
                    </a:ext>
                  </a:extLst>
                </a:gridCol>
                <a:gridCol w="689527">
                  <a:extLst>
                    <a:ext uri="{9D8B030D-6E8A-4147-A177-3AD203B41FA5}">
                      <a16:colId xmlns:a16="http://schemas.microsoft.com/office/drawing/2014/main" val="2503771684"/>
                    </a:ext>
                  </a:extLst>
                </a:gridCol>
                <a:gridCol w="689527">
                  <a:extLst>
                    <a:ext uri="{9D8B030D-6E8A-4147-A177-3AD203B41FA5}">
                      <a16:colId xmlns:a16="http://schemas.microsoft.com/office/drawing/2014/main" val="912559859"/>
                    </a:ext>
                  </a:extLst>
                </a:gridCol>
                <a:gridCol w="689527">
                  <a:extLst>
                    <a:ext uri="{9D8B030D-6E8A-4147-A177-3AD203B41FA5}">
                      <a16:colId xmlns:a16="http://schemas.microsoft.com/office/drawing/2014/main" val="3691248150"/>
                    </a:ext>
                  </a:extLst>
                </a:gridCol>
                <a:gridCol w="689527">
                  <a:extLst>
                    <a:ext uri="{9D8B030D-6E8A-4147-A177-3AD203B41FA5}">
                      <a16:colId xmlns:a16="http://schemas.microsoft.com/office/drawing/2014/main" val="4183582049"/>
                    </a:ext>
                  </a:extLst>
                </a:gridCol>
                <a:gridCol w="689527">
                  <a:extLst>
                    <a:ext uri="{9D8B030D-6E8A-4147-A177-3AD203B41FA5}">
                      <a16:colId xmlns:a16="http://schemas.microsoft.com/office/drawing/2014/main" val="3087501641"/>
                    </a:ext>
                  </a:extLst>
                </a:gridCol>
                <a:gridCol w="689527">
                  <a:extLst>
                    <a:ext uri="{9D8B030D-6E8A-4147-A177-3AD203B41FA5}">
                      <a16:colId xmlns:a16="http://schemas.microsoft.com/office/drawing/2014/main" val="3407441512"/>
                    </a:ext>
                  </a:extLst>
                </a:gridCol>
              </a:tblGrid>
              <a:tr h="788018">
                <a:tc>
                  <a:txBody>
                    <a:bodyPr/>
                    <a:lstStyle/>
                    <a:p>
                      <a:pPr marL="0" marR="0" algn="just">
                        <a:lnSpc>
                          <a:spcPct val="110000"/>
                        </a:lnSpc>
                        <a:spcBef>
                          <a:spcPts val="300"/>
                        </a:spcBef>
                        <a:buNone/>
                      </a:pPr>
                      <a:r>
                        <a:rPr lang="en-US" sz="1300">
                          <a:effectLst/>
                        </a:rPr>
                        <a:t>Speed (m/s)</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Altitude (m)</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gNB Power (dBm)</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UE Power (dBm)</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URLLC Loss (%)</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URLLC Delay (ms)</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URLLC Thr. (Mbps)</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eMBB Loss (%)</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err="1">
                          <a:effectLst/>
                        </a:rPr>
                        <a:t>eMBB</a:t>
                      </a:r>
                      <a:r>
                        <a:rPr lang="en-US" sz="1300" dirty="0">
                          <a:effectLst/>
                        </a:rPr>
                        <a:t> Delay (</a:t>
                      </a:r>
                      <a:r>
                        <a:rPr lang="en-US" sz="1300" dirty="0" err="1">
                          <a:effectLst/>
                        </a:rPr>
                        <a:t>ms</a:t>
                      </a:r>
                      <a:r>
                        <a:rPr lang="en-US" sz="1300" dirty="0">
                          <a:effectLst/>
                        </a:rPr>
                        <a:t>)</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eMBB Thr. (Mbps)</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824206471"/>
                  </a:ext>
                </a:extLst>
              </a:tr>
              <a:tr h="252875">
                <a:tc>
                  <a:txBody>
                    <a:bodyPr/>
                    <a:lstStyle/>
                    <a:p>
                      <a:pPr marL="0" marR="0" algn="just">
                        <a:lnSpc>
                          <a:spcPct val="110000"/>
                        </a:lnSpc>
                        <a:spcBef>
                          <a:spcPts val="300"/>
                        </a:spcBef>
                        <a:buNone/>
                      </a:pPr>
                      <a:r>
                        <a:rPr lang="en-US" sz="1300">
                          <a:effectLst/>
                        </a:rPr>
                        <a:t>15</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120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30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40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176.084</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0.290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75</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149.316</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0.378</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436693905"/>
                  </a:ext>
                </a:extLst>
              </a:tr>
              <a:tr h="252875">
                <a:tc>
                  <a:txBody>
                    <a:bodyPr/>
                    <a:lstStyle/>
                    <a:p>
                      <a:pPr marL="0" marR="0" algn="just">
                        <a:lnSpc>
                          <a:spcPct val="110000"/>
                        </a:lnSpc>
                        <a:spcBef>
                          <a:spcPts val="300"/>
                        </a:spcBef>
                        <a:buNone/>
                      </a:pPr>
                      <a:r>
                        <a:rPr lang="en-US" sz="1300">
                          <a:effectLst/>
                        </a:rPr>
                        <a:t>15</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140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30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a:effectLst/>
                        </a:rPr>
                        <a:t>22</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23</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39.994</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5.683</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68</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150.696</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0.449</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043680050"/>
                  </a:ext>
                </a:extLst>
              </a:tr>
              <a:tr h="252875">
                <a:tc>
                  <a:txBody>
                    <a:bodyPr/>
                    <a:lstStyle/>
                    <a:p>
                      <a:pPr marL="0" marR="0" algn="just">
                        <a:lnSpc>
                          <a:spcPct val="110000"/>
                        </a:lnSpc>
                        <a:spcBef>
                          <a:spcPts val="300"/>
                        </a:spcBef>
                        <a:buNone/>
                      </a:pPr>
                      <a:r>
                        <a:rPr lang="en-US" sz="1300">
                          <a:effectLst/>
                        </a:rPr>
                        <a:t>15</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160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34</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22</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68</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1.371</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2.428</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98</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2.632</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2.214</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2866466087"/>
                  </a:ext>
                </a:extLst>
              </a:tr>
              <a:tr h="252875">
                <a:tc>
                  <a:txBody>
                    <a:bodyPr/>
                    <a:lstStyle/>
                    <a:p>
                      <a:pPr marL="0" marR="0" algn="just">
                        <a:lnSpc>
                          <a:spcPct val="110000"/>
                        </a:lnSpc>
                        <a:spcBef>
                          <a:spcPts val="300"/>
                        </a:spcBef>
                        <a:buNone/>
                      </a:pPr>
                      <a:r>
                        <a:rPr lang="en-US" sz="1300">
                          <a:effectLst/>
                        </a:rPr>
                        <a:t>20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120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30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22</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22</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51.788</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39.922</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93</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116.947</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a:effectLst/>
                        </a:rPr>
                        <a:t>0.215</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097731886"/>
                  </a:ext>
                </a:extLst>
              </a:tr>
              <a:tr h="252875">
                <a:tc>
                  <a:txBody>
                    <a:bodyPr/>
                    <a:lstStyle/>
                    <a:p>
                      <a:pPr marL="0" marR="0" algn="just">
                        <a:lnSpc>
                          <a:spcPct val="110000"/>
                        </a:lnSpc>
                        <a:spcBef>
                          <a:spcPts val="300"/>
                        </a:spcBef>
                        <a:buNone/>
                      </a:pPr>
                      <a:r>
                        <a:rPr lang="en-US" sz="1300">
                          <a:effectLst/>
                        </a:rPr>
                        <a:t>35</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140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30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20</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61</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a:effectLst/>
                        </a:rPr>
                        <a:t>95.115</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0.177</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99</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a:effectLst/>
                        </a:rPr>
                        <a:t>11.194</a:t>
                      </a:r>
                      <a:endParaRPr lang="en-US" sz="1300">
                        <a:solidFill>
                          <a:srgbClr val="000000"/>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lgn="just">
                        <a:lnSpc>
                          <a:spcPct val="110000"/>
                        </a:lnSpc>
                        <a:spcBef>
                          <a:spcPts val="300"/>
                        </a:spcBef>
                        <a:buNone/>
                      </a:pPr>
                      <a:r>
                        <a:rPr lang="en-US" sz="1300" dirty="0">
                          <a:effectLst/>
                        </a:rPr>
                        <a:t>0</a:t>
                      </a:r>
                      <a:endParaRPr lang="en-US" sz="1300" dirty="0">
                        <a:solidFill>
                          <a:srgbClr val="000000"/>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819010038"/>
                  </a:ext>
                </a:extLst>
              </a:tr>
            </a:tbl>
          </a:graphicData>
        </a:graphic>
      </p:graphicFrame>
      <p:sp>
        <p:nvSpPr>
          <p:cNvPr id="10" name="TextBox 9">
            <a:extLst>
              <a:ext uri="{FF2B5EF4-FFF2-40B4-BE49-F238E27FC236}">
                <a16:creationId xmlns:a16="http://schemas.microsoft.com/office/drawing/2014/main" id="{854329F5-1FA5-049B-2CF2-EB49B9648BD1}"/>
              </a:ext>
            </a:extLst>
          </p:cNvPr>
          <p:cNvSpPr txBox="1"/>
          <p:nvPr/>
        </p:nvSpPr>
        <p:spPr>
          <a:xfrm>
            <a:off x="715617" y="4086601"/>
            <a:ext cx="8030817" cy="2046779"/>
          </a:xfrm>
          <a:prstGeom prst="rect">
            <a:avLst/>
          </a:prstGeom>
          <a:noFill/>
        </p:spPr>
        <p:txBody>
          <a:bodyPr wrap="square">
            <a:spAutoFit/>
          </a:bodyPr>
          <a:lstStyle/>
          <a:p>
            <a:pPr marL="0" marR="0" algn="just">
              <a:lnSpc>
                <a:spcPct val="110000"/>
              </a:lnSpc>
              <a:spcBef>
                <a:spcPts val="300"/>
              </a:spcBef>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Ở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điều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kiện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xấu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tốc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độ</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độ</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cao</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lớn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TxPower</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thấp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hệ</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thống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thường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gặp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outage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nghiêm</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trọng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(loss &gt;90–100% ở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vài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trường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hợp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Nhưng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nhìn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nhận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chung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URLLC slice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luôn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tốt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hơn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eMBB</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slice:</a:t>
            </a:r>
          </a:p>
          <a:p>
            <a:pPr marL="342900" marR="0" lvl="0" indent="-342900" algn="just">
              <a:lnSpc>
                <a:spcPct val="110000"/>
              </a:lnSpc>
              <a:spcBef>
                <a:spcPts val="300"/>
              </a:spcBef>
              <a:buFont typeface="Times New Roman" panose="02020603050405020304" pitchFamily="18" charset="0"/>
              <a:buChar char="-"/>
            </a:pP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Tỷ</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lệ</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mất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gói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thấp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hơn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đáng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kể</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ví</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dụ</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23–68% so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với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68–99%). </a:t>
            </a:r>
          </a:p>
          <a:p>
            <a:pPr marL="342900" marR="0" lvl="0" indent="-342900" algn="just">
              <a:lnSpc>
                <a:spcPct val="110000"/>
              </a:lnSpc>
              <a:buFont typeface="Times New Roman" panose="02020603050405020304" pitchFamily="18" charset="0"/>
              <a:buChar char="-"/>
            </a:pP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Độ</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trễ</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thấp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hơn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ví</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dụ</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39.99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ms</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so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với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150.70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ms</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tại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speed 15 m/s, altitude 140 m). </a:t>
            </a:r>
          </a:p>
          <a:p>
            <a:pPr marL="342900" marR="0" lvl="0" indent="-342900" algn="just">
              <a:lnSpc>
                <a:spcPct val="110000"/>
              </a:lnSpc>
              <a:buFont typeface="Times New Roman" panose="02020603050405020304" pitchFamily="18" charset="0"/>
              <a:buChar char="-"/>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Lưu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lượng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duy</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trì</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tốt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hơn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ví</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dụ</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5.683 Mbps so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với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0.449 Mbps).</a:t>
            </a:r>
          </a:p>
          <a:p>
            <a:pPr marL="0" marR="0" algn="just">
              <a:lnSpc>
                <a:spcPct val="110000"/>
              </a:lnSpc>
              <a:spcBef>
                <a:spcPts val="300"/>
              </a:spcBef>
              <a:buNone/>
            </a:pP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Slicing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thể</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hiện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rõ</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khả</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năng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bảo</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vệ</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luồng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ưu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tiên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dù</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liên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kết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tổng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thể</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kém</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URLLC (control)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vẫn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giữ</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được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một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phần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kết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nối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và</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độ</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trễ</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chấp</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nhận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được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trong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khi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eMBB</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(video)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chịu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ảnh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hưởng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nặng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hơn</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mất</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gói</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nhiều</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throughput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giảm</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mạnh</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hoặc</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US" sz="14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bằng</a:t>
            </a:r>
            <a:r>
              <a:rPr lang="en-US" sz="1400" dirty="0">
                <a:solidFill>
                  <a:srgbClr val="000000"/>
                </a:solidFill>
                <a:effectLst/>
                <a:latin typeface="Arial" panose="020B0604020202020204" pitchFamily="34" charset="0"/>
                <a:ea typeface="Calibri" panose="020F0502020204030204" pitchFamily="34" charset="0"/>
                <a:cs typeface="Arial" panose="020B0604020202020204" pitchFamily="34" charset="0"/>
              </a:rPr>
              <a:t> 0).</a:t>
            </a:r>
          </a:p>
        </p:txBody>
      </p:sp>
    </p:spTree>
    <p:extLst>
      <p:ext uri="{BB962C8B-B14F-4D97-AF65-F5344CB8AC3E}">
        <p14:creationId xmlns:p14="http://schemas.microsoft.com/office/powerpoint/2010/main" val="2120507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13C2C-FFA3-94F9-3D4F-FFBC647DDE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60C008-EE61-2E73-07D9-2B9C28C032FB}"/>
              </a:ext>
            </a:extLst>
          </p:cNvPr>
          <p:cNvSpPr>
            <a:spLocks noGrp="1"/>
          </p:cNvSpPr>
          <p:nvPr>
            <p:ph type="sldNum" sz="quarter" idx="12"/>
          </p:nvPr>
        </p:nvSpPr>
        <p:spPr/>
        <p:txBody>
          <a:bodyPr/>
          <a:lstStyle/>
          <a:p>
            <a:fld id="{9EA0BE3B-158A-4EDF-80DC-E394A0D1600F}" type="slidenum">
              <a:rPr lang="en-US" smtClean="0"/>
              <a:pPr/>
              <a:t>38</a:t>
            </a:fld>
            <a:endParaRPr lang="en-US" dirty="0"/>
          </a:p>
        </p:txBody>
      </p:sp>
      <p:sp>
        <p:nvSpPr>
          <p:cNvPr id="3" name="Title 2">
            <a:extLst>
              <a:ext uri="{FF2B5EF4-FFF2-40B4-BE49-F238E27FC236}">
                <a16:creationId xmlns:a16="http://schemas.microsoft.com/office/drawing/2014/main" id="{10C91253-5F91-EEBF-7185-8B89E1292F2E}"/>
              </a:ext>
            </a:extLst>
          </p:cNvPr>
          <p:cNvSpPr>
            <a:spLocks noGrp="1"/>
          </p:cNvSpPr>
          <p:nvPr>
            <p:ph type="title"/>
          </p:nvPr>
        </p:nvSpPr>
        <p:spPr/>
        <p:txBody>
          <a:bodyPr/>
          <a:lstStyle/>
          <a:p>
            <a:r>
              <a:rPr lang="en-US" dirty="0"/>
              <a:t>9. </a:t>
            </a:r>
            <a:r>
              <a:rPr lang="en-US" dirty="0" err="1"/>
              <a:t>Đánh</a:t>
            </a:r>
            <a:r>
              <a:rPr lang="en-US" dirty="0"/>
              <a:t> </a:t>
            </a:r>
            <a:r>
              <a:rPr lang="en-US" dirty="0" err="1"/>
              <a:t>giá</a:t>
            </a:r>
            <a:r>
              <a:rPr lang="en-US" dirty="0"/>
              <a:t> </a:t>
            </a:r>
            <a:r>
              <a:rPr lang="en-US" dirty="0" err="1"/>
              <a:t>thông</a:t>
            </a:r>
            <a:r>
              <a:rPr lang="en-US" dirty="0"/>
              <a:t> </a:t>
            </a:r>
            <a:r>
              <a:rPr lang="en-US" dirty="0" err="1"/>
              <a:t>số</a:t>
            </a:r>
            <a:endParaRPr lang="en-US" dirty="0"/>
          </a:p>
        </p:txBody>
      </p:sp>
      <p:sp>
        <p:nvSpPr>
          <p:cNvPr id="6" name="TextBox 5">
            <a:extLst>
              <a:ext uri="{FF2B5EF4-FFF2-40B4-BE49-F238E27FC236}">
                <a16:creationId xmlns:a16="http://schemas.microsoft.com/office/drawing/2014/main" id="{FEAB9133-BFDF-FC77-124B-36AD683D8B0D}"/>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8" name="TextBox 7">
            <a:extLst>
              <a:ext uri="{FF2B5EF4-FFF2-40B4-BE49-F238E27FC236}">
                <a16:creationId xmlns:a16="http://schemas.microsoft.com/office/drawing/2014/main" id="{B89AB170-F2B5-3F40-6EB6-031CBFCAAE39}"/>
              </a:ext>
            </a:extLst>
          </p:cNvPr>
          <p:cNvSpPr txBox="1"/>
          <p:nvPr/>
        </p:nvSpPr>
        <p:spPr>
          <a:xfrm>
            <a:off x="246259" y="1009061"/>
            <a:ext cx="8689706" cy="553998"/>
          </a:xfrm>
          <a:prstGeom prst="rect">
            <a:avLst/>
          </a:prstGeom>
          <a:noFill/>
        </p:spPr>
        <p:txBody>
          <a:bodyPr wrap="square">
            <a:spAutoFit/>
          </a:bodyPr>
          <a:lstStyle/>
          <a:p>
            <a:r>
              <a:rPr lang="en-US" sz="1600" b="1" dirty="0"/>
              <a:t>SO SÁNH CÁC KỊCH BẢN THEO TIÊU CHUẨN 3GPP</a:t>
            </a:r>
            <a:endParaRPr lang="en-US" sz="1600" dirty="0"/>
          </a:p>
          <a:p>
            <a:endParaRPr lang="vi-VN" sz="1400" dirty="0"/>
          </a:p>
        </p:txBody>
      </p:sp>
      <p:graphicFrame>
        <p:nvGraphicFramePr>
          <p:cNvPr id="5" name="Table 4">
            <a:extLst>
              <a:ext uri="{FF2B5EF4-FFF2-40B4-BE49-F238E27FC236}">
                <a16:creationId xmlns:a16="http://schemas.microsoft.com/office/drawing/2014/main" id="{3EF7DACC-351C-5C23-DD19-C2EE3F7CEE58}"/>
              </a:ext>
            </a:extLst>
          </p:cNvPr>
          <p:cNvGraphicFramePr>
            <a:graphicFrameLocks noGrp="1"/>
          </p:cNvGraphicFramePr>
          <p:nvPr>
            <p:extLst>
              <p:ext uri="{D42A27DB-BD31-4B8C-83A1-F6EECF244321}">
                <p14:modId xmlns:p14="http://schemas.microsoft.com/office/powerpoint/2010/main" val="924986355"/>
              </p:ext>
            </p:extLst>
          </p:nvPr>
        </p:nvGraphicFramePr>
        <p:xfrm>
          <a:off x="246259" y="1423912"/>
          <a:ext cx="8529995" cy="4891712"/>
        </p:xfrm>
        <a:graphic>
          <a:graphicData uri="http://schemas.openxmlformats.org/drawingml/2006/table">
            <a:tbl>
              <a:tblPr>
                <a:tableStyleId>{F5AB1C69-6EDB-4FF4-983F-18BD219EF322}</a:tableStyleId>
              </a:tblPr>
              <a:tblGrid>
                <a:gridCol w="1705999">
                  <a:extLst>
                    <a:ext uri="{9D8B030D-6E8A-4147-A177-3AD203B41FA5}">
                      <a16:colId xmlns:a16="http://schemas.microsoft.com/office/drawing/2014/main" val="3184235362"/>
                    </a:ext>
                  </a:extLst>
                </a:gridCol>
                <a:gridCol w="1705999">
                  <a:extLst>
                    <a:ext uri="{9D8B030D-6E8A-4147-A177-3AD203B41FA5}">
                      <a16:colId xmlns:a16="http://schemas.microsoft.com/office/drawing/2014/main" val="1653738231"/>
                    </a:ext>
                  </a:extLst>
                </a:gridCol>
                <a:gridCol w="1705999">
                  <a:extLst>
                    <a:ext uri="{9D8B030D-6E8A-4147-A177-3AD203B41FA5}">
                      <a16:colId xmlns:a16="http://schemas.microsoft.com/office/drawing/2014/main" val="1689735553"/>
                    </a:ext>
                  </a:extLst>
                </a:gridCol>
                <a:gridCol w="1705999">
                  <a:extLst>
                    <a:ext uri="{9D8B030D-6E8A-4147-A177-3AD203B41FA5}">
                      <a16:colId xmlns:a16="http://schemas.microsoft.com/office/drawing/2014/main" val="416325693"/>
                    </a:ext>
                  </a:extLst>
                </a:gridCol>
                <a:gridCol w="1705999">
                  <a:extLst>
                    <a:ext uri="{9D8B030D-6E8A-4147-A177-3AD203B41FA5}">
                      <a16:colId xmlns:a16="http://schemas.microsoft.com/office/drawing/2014/main" val="2985833884"/>
                    </a:ext>
                  </a:extLst>
                </a:gridCol>
              </a:tblGrid>
              <a:tr h="321406">
                <a:tc>
                  <a:txBody>
                    <a:bodyPr/>
                    <a:lstStyle/>
                    <a:p>
                      <a:pPr>
                        <a:buNone/>
                      </a:pPr>
                      <a:r>
                        <a:rPr lang="en-US" sz="1100" b="1" dirty="0" err="1"/>
                        <a:t>Kịch</a:t>
                      </a:r>
                      <a:r>
                        <a:rPr lang="en-US" sz="1100" b="1" dirty="0"/>
                        <a:t> </a:t>
                      </a:r>
                      <a:r>
                        <a:rPr lang="en-US" sz="1100" b="1" dirty="0" err="1"/>
                        <a:t>Bản</a:t>
                      </a:r>
                      <a:r>
                        <a:rPr lang="en-US" sz="1100" b="1" dirty="0"/>
                        <a:t> / </a:t>
                      </a:r>
                      <a:r>
                        <a:rPr lang="en-US" sz="1100" b="1" dirty="0" err="1"/>
                        <a:t>Chỉ</a:t>
                      </a:r>
                      <a:r>
                        <a:rPr lang="en-US" sz="1100" b="1" dirty="0"/>
                        <a:t> </a:t>
                      </a:r>
                      <a:r>
                        <a:rPr lang="en-US" sz="1100" b="1" dirty="0" err="1"/>
                        <a:t>Số</a:t>
                      </a:r>
                      <a:endParaRPr lang="en-US" sz="1100" b="1" dirty="0"/>
                    </a:p>
                  </a:txBody>
                  <a:tcPr marL="24724" marR="24724" marT="12362" marB="12362" anchor="ctr"/>
                </a:tc>
                <a:tc>
                  <a:txBody>
                    <a:bodyPr/>
                    <a:lstStyle/>
                    <a:p>
                      <a:pPr>
                        <a:buNone/>
                      </a:pPr>
                      <a:r>
                        <a:rPr lang="en-US" sz="1100" b="1"/>
                        <a:t>mmWave (28 GHz) – Số Liệu Trung Bình/Tồi Tệ Nhất</a:t>
                      </a:r>
                    </a:p>
                  </a:txBody>
                  <a:tcPr marL="24724" marR="24724" marT="12362" marB="12362" anchor="ctr"/>
                </a:tc>
                <a:tc>
                  <a:txBody>
                    <a:bodyPr/>
                    <a:lstStyle/>
                    <a:p>
                      <a:pPr>
                        <a:buNone/>
                      </a:pPr>
                      <a:r>
                        <a:rPr lang="en-US" sz="1100" b="1"/>
                        <a:t>Sub-6 GHz – Số Liệu Trung Bình/Tồi Tệ Nhất</a:t>
                      </a:r>
                    </a:p>
                  </a:txBody>
                  <a:tcPr marL="24724" marR="24724" marT="12362" marB="12362" anchor="ctr"/>
                </a:tc>
                <a:tc>
                  <a:txBody>
                    <a:bodyPr/>
                    <a:lstStyle/>
                    <a:p>
                      <a:pPr>
                        <a:buNone/>
                      </a:pPr>
                      <a:r>
                        <a:rPr lang="en-US" sz="1100" b="1"/>
                        <a:t>Tiêu Chuẩn 3GPP (URLLC cho C2 / eMBB cho Video)</a:t>
                      </a:r>
                    </a:p>
                  </a:txBody>
                  <a:tcPr marL="24724" marR="24724" marT="12362" marB="12362" anchor="ctr"/>
                </a:tc>
                <a:tc>
                  <a:txBody>
                    <a:bodyPr/>
                    <a:lstStyle/>
                    <a:p>
                      <a:pPr>
                        <a:buNone/>
                      </a:pPr>
                      <a:r>
                        <a:rPr lang="en-US" sz="1100" b="1" dirty="0" err="1"/>
                        <a:t>Đánh</a:t>
                      </a:r>
                      <a:r>
                        <a:rPr lang="en-US" sz="1100" b="1" dirty="0"/>
                        <a:t> </a:t>
                      </a:r>
                      <a:r>
                        <a:rPr lang="en-US" sz="1100" b="1" dirty="0" err="1"/>
                        <a:t>Giá</a:t>
                      </a:r>
                      <a:r>
                        <a:rPr lang="en-US" sz="1100" b="1" dirty="0"/>
                        <a:t> So </a:t>
                      </a:r>
                      <a:r>
                        <a:rPr lang="en-US" sz="1100" b="1" dirty="0" err="1"/>
                        <a:t>Sánh</a:t>
                      </a:r>
                      <a:r>
                        <a:rPr lang="en-US" sz="1100" b="1" dirty="0"/>
                        <a:t> (Đạt/</a:t>
                      </a:r>
                      <a:r>
                        <a:rPr lang="en-US" sz="1100" b="1" dirty="0" err="1"/>
                        <a:t>Không</a:t>
                      </a:r>
                      <a:r>
                        <a:rPr lang="en-US" sz="1100" b="1" dirty="0"/>
                        <a:t> Đạt)</a:t>
                      </a:r>
                    </a:p>
                  </a:txBody>
                  <a:tcPr marL="24724" marR="24724" marT="12362" marB="12362" anchor="ctr"/>
                </a:tc>
                <a:extLst>
                  <a:ext uri="{0D108BD9-81ED-4DB2-BD59-A6C34878D82A}">
                    <a16:rowId xmlns:a16="http://schemas.microsoft.com/office/drawing/2014/main" val="1265772048"/>
                  </a:ext>
                </a:extLst>
              </a:tr>
              <a:tr h="692258">
                <a:tc>
                  <a:txBody>
                    <a:bodyPr/>
                    <a:lstStyle/>
                    <a:p>
                      <a:pPr>
                        <a:buNone/>
                      </a:pPr>
                      <a:r>
                        <a:rPr lang="en-US" sz="1100" b="1"/>
                        <a:t>Avg Delay (ms)</a:t>
                      </a:r>
                    </a:p>
                  </a:txBody>
                  <a:tcPr marL="24724" marR="24724" marT="12362" marB="12362" anchor="ctr"/>
                </a:tc>
                <a:tc>
                  <a:txBody>
                    <a:bodyPr/>
                    <a:lstStyle/>
                    <a:p>
                      <a:pPr>
                        <a:buNone/>
                      </a:pPr>
                      <a:r>
                        <a:rPr lang="en-US" sz="1100"/>
                        <a:t>Tốt: 0.75–1.3 (thấp/cao tốc độ, độ cao thấp); Xấu: 15–50 (outage ở tốc độ cao, độ cao cao)</a:t>
                      </a:r>
                    </a:p>
                  </a:txBody>
                  <a:tcPr marL="24724" marR="24724" marT="12362" marB="12362" anchor="ctr"/>
                </a:tc>
                <a:tc>
                  <a:txBody>
                    <a:bodyPr/>
                    <a:lstStyle/>
                    <a:p>
                      <a:pPr>
                        <a:buNone/>
                      </a:pPr>
                      <a:r>
                        <a:rPr lang="en-US" sz="1100"/>
                        <a:t>Tốt: 8–9; Xấu: 18–38 (một số điểm outlier)</a:t>
                      </a:r>
                    </a:p>
                  </a:txBody>
                  <a:tcPr marL="24724" marR="24724" marT="12362" marB="12362" anchor="ctr"/>
                </a:tc>
                <a:tc>
                  <a:txBody>
                    <a:bodyPr/>
                    <a:lstStyle/>
                    <a:p>
                      <a:pPr>
                        <a:buNone/>
                      </a:pPr>
                      <a:r>
                        <a:rPr lang="sv-SE" sz="1100" dirty="0"/>
                        <a:t>URLLC: &lt;1 ms; eMBB: &lt;4 ms; UAV C2: &lt;5 ms</a:t>
                      </a:r>
                    </a:p>
                  </a:txBody>
                  <a:tcPr marL="24724" marR="24724" marT="12362" marB="12362" anchor="ctr"/>
                </a:tc>
                <a:tc>
                  <a:txBody>
                    <a:bodyPr/>
                    <a:lstStyle/>
                    <a:p>
                      <a:pPr>
                        <a:buNone/>
                      </a:pPr>
                      <a:r>
                        <a:rPr lang="en-US" sz="1100"/>
                        <a:t>mmWave: Đạt URLLC ở điều kiện tốt, không đạt ở outage. Sub-6: Không đạt URLLC, đạt eMBB/UAV C2 ở hầu hết.</a:t>
                      </a:r>
                    </a:p>
                  </a:txBody>
                  <a:tcPr marL="24724" marR="24724" marT="12362" marB="12362" anchor="ctr"/>
                </a:tc>
                <a:extLst>
                  <a:ext uri="{0D108BD9-81ED-4DB2-BD59-A6C34878D82A}">
                    <a16:rowId xmlns:a16="http://schemas.microsoft.com/office/drawing/2014/main" val="2291451900"/>
                  </a:ext>
                </a:extLst>
              </a:tr>
              <a:tr h="395576">
                <a:tc>
                  <a:txBody>
                    <a:bodyPr/>
                    <a:lstStyle/>
                    <a:p>
                      <a:pPr>
                        <a:buNone/>
                      </a:pPr>
                      <a:r>
                        <a:rPr lang="en-US" sz="1100" b="1"/>
                        <a:t>Jitter (ms)</a:t>
                      </a:r>
                    </a:p>
                  </a:txBody>
                  <a:tcPr marL="24724" marR="24724" marT="12362" marB="12362" anchor="ctr"/>
                </a:tc>
                <a:tc>
                  <a:txBody>
                    <a:bodyPr/>
                    <a:lstStyle/>
                    <a:p>
                      <a:pPr>
                        <a:buNone/>
                      </a:pPr>
                      <a:r>
                        <a:rPr lang="fr-FR" sz="1100"/>
                        <a:t>Tốt: 0.1–0.5; Xấu: 0.6–0.7 (outage)</a:t>
                      </a:r>
                    </a:p>
                  </a:txBody>
                  <a:tcPr marL="24724" marR="24724" marT="12362" marB="12362" anchor="ctr"/>
                </a:tc>
                <a:tc>
                  <a:txBody>
                    <a:bodyPr/>
                    <a:lstStyle/>
                    <a:p>
                      <a:pPr>
                        <a:buNone/>
                      </a:pPr>
                      <a:r>
                        <a:rPr lang="en-US" sz="1100"/>
                        <a:t>Tốt: 0.23; Xấu: 0.24–0.29 (ít biến động)</a:t>
                      </a:r>
                    </a:p>
                  </a:txBody>
                  <a:tcPr marL="24724" marR="24724" marT="12362" marB="12362" anchor="ctr"/>
                </a:tc>
                <a:tc>
                  <a:txBody>
                    <a:bodyPr/>
                    <a:lstStyle/>
                    <a:p>
                      <a:pPr>
                        <a:buNone/>
                      </a:pPr>
                      <a:r>
                        <a:rPr lang="sv-SE" sz="1100" dirty="0"/>
                        <a:t>URLLC: &lt;0.5 ms; eMBB/UAV: &lt;1 ms</a:t>
                      </a:r>
                    </a:p>
                  </a:txBody>
                  <a:tcPr marL="24724" marR="24724" marT="12362" marB="12362" anchor="ctr"/>
                </a:tc>
                <a:tc>
                  <a:txBody>
                    <a:bodyPr/>
                    <a:lstStyle/>
                    <a:p>
                      <a:pPr>
                        <a:buNone/>
                      </a:pPr>
                      <a:r>
                        <a:rPr lang="en-US" sz="1100"/>
                        <a:t>mmWave: Đạt ở tốt, không đạt ở outage. Sub-6: Đạt ổn định.</a:t>
                      </a:r>
                    </a:p>
                  </a:txBody>
                  <a:tcPr marL="24724" marR="24724" marT="12362" marB="12362" anchor="ctr"/>
                </a:tc>
                <a:extLst>
                  <a:ext uri="{0D108BD9-81ED-4DB2-BD59-A6C34878D82A}">
                    <a16:rowId xmlns:a16="http://schemas.microsoft.com/office/drawing/2014/main" val="3480846197"/>
                  </a:ext>
                </a:extLst>
              </a:tr>
              <a:tr h="692258">
                <a:tc>
                  <a:txBody>
                    <a:bodyPr/>
                    <a:lstStyle/>
                    <a:p>
                      <a:pPr>
                        <a:buNone/>
                      </a:pPr>
                      <a:r>
                        <a:rPr lang="en-US" sz="1100" b="1"/>
                        <a:t>Packet Loss (%)</a:t>
                      </a:r>
                    </a:p>
                  </a:txBody>
                  <a:tcPr marL="24724" marR="24724" marT="12362" marB="12362" anchor="ctr"/>
                </a:tc>
                <a:tc>
                  <a:txBody>
                    <a:bodyPr/>
                    <a:lstStyle/>
                    <a:p>
                      <a:pPr>
                        <a:buNone/>
                      </a:pPr>
                      <a:r>
                        <a:rPr lang="en-US" sz="1100"/>
                        <a:t>Tốt: 0–0.01; Xấu: 49–99.99 (outage ở tốc độ 15–45 m/s, độ cao &gt;100 m, TxPower UE thấp)</a:t>
                      </a:r>
                    </a:p>
                  </a:txBody>
                  <a:tcPr marL="24724" marR="24724" marT="12362" marB="12362" anchor="ctr"/>
                </a:tc>
                <a:tc>
                  <a:txBody>
                    <a:bodyPr/>
                    <a:lstStyle/>
                    <a:p>
                      <a:pPr>
                        <a:buNone/>
                      </a:pPr>
                      <a:r>
                        <a:rPr lang="en-US" sz="1100"/>
                        <a:t>Tốt: 13–16; Xấu: 13–72 (một số điểm tốc độ)</a:t>
                      </a:r>
                    </a:p>
                  </a:txBody>
                  <a:tcPr marL="24724" marR="24724" marT="12362" marB="12362" anchor="ctr"/>
                </a:tc>
                <a:tc>
                  <a:txBody>
                    <a:bodyPr/>
                    <a:lstStyle/>
                    <a:p>
                      <a:pPr>
                        <a:buNone/>
                      </a:pPr>
                      <a:r>
                        <a:rPr lang="en-US" sz="1100"/>
                        <a:t>URLLC: ≤0.001%; eMBB: ≤1%; UAV C2: ≤0.1%</a:t>
                      </a:r>
                    </a:p>
                  </a:txBody>
                  <a:tcPr marL="24724" marR="24724" marT="12362" marB="12362" anchor="ctr"/>
                </a:tc>
                <a:tc>
                  <a:txBody>
                    <a:bodyPr/>
                    <a:lstStyle/>
                    <a:p>
                      <a:pPr>
                        <a:buNone/>
                      </a:pPr>
                      <a:r>
                        <a:rPr lang="en-US" sz="1100"/>
                        <a:t>mmWave: Đạt URLLC ở tốt, không đạt nặng ở outage. Sub-6: Không đạt URLLC, đạt eMBB/UAV ở tốt.</a:t>
                      </a:r>
                    </a:p>
                  </a:txBody>
                  <a:tcPr marL="24724" marR="24724" marT="12362" marB="12362" anchor="ctr"/>
                </a:tc>
                <a:extLst>
                  <a:ext uri="{0D108BD9-81ED-4DB2-BD59-A6C34878D82A}">
                    <a16:rowId xmlns:a16="http://schemas.microsoft.com/office/drawing/2014/main" val="1208405739"/>
                  </a:ext>
                </a:extLst>
              </a:tr>
              <a:tr h="840599">
                <a:tc>
                  <a:txBody>
                    <a:bodyPr/>
                    <a:lstStyle/>
                    <a:p>
                      <a:pPr>
                        <a:buNone/>
                      </a:pPr>
                      <a:r>
                        <a:rPr lang="en-US" sz="1100" b="1"/>
                        <a:t>Throughput (Mbps)</a:t>
                      </a:r>
                    </a:p>
                  </a:txBody>
                  <a:tcPr marL="24724" marR="24724" marT="12362" marB="12362" anchor="ctr"/>
                </a:tc>
                <a:tc>
                  <a:txBody>
                    <a:bodyPr/>
                    <a:lstStyle/>
                    <a:p>
                      <a:pPr>
                        <a:buNone/>
                      </a:pPr>
                      <a:r>
                        <a:rPr lang="fr-FR" sz="1100"/>
                        <a:t>Tốt: 1.85–9.28; Xấu: 0–0.8 (outage)</a:t>
                      </a:r>
                    </a:p>
                  </a:txBody>
                  <a:tcPr marL="24724" marR="24724" marT="12362" marB="12362" anchor="ctr"/>
                </a:tc>
                <a:tc>
                  <a:txBody>
                    <a:bodyPr/>
                    <a:lstStyle/>
                    <a:p>
                      <a:pPr>
                        <a:buNone/>
                      </a:pPr>
                      <a:r>
                        <a:rPr lang="en-US" sz="1100"/>
                        <a:t>Tốt: 8.5–8.9; Xấu: 7.5–8.7</a:t>
                      </a:r>
                    </a:p>
                  </a:txBody>
                  <a:tcPr marL="24724" marR="24724" marT="12362" marB="12362" anchor="ctr"/>
                </a:tc>
                <a:tc>
                  <a:txBody>
                    <a:bodyPr/>
                    <a:lstStyle/>
                    <a:p>
                      <a:pPr>
                        <a:buNone/>
                      </a:pPr>
                      <a:r>
                        <a:rPr lang="en-US" sz="1100" dirty="0"/>
                        <a:t>URLLC: ≥0.1 Mbps; </a:t>
                      </a:r>
                      <a:r>
                        <a:rPr lang="en-US" sz="1100" dirty="0" err="1"/>
                        <a:t>eMBB</a:t>
                      </a:r>
                      <a:r>
                        <a:rPr lang="en-US" sz="1100" dirty="0"/>
                        <a:t>: ≥10 Mbps; UAV Video: ≥4–25 Mbps</a:t>
                      </a:r>
                    </a:p>
                  </a:txBody>
                  <a:tcPr marL="24724" marR="24724" marT="12362" marB="12362" anchor="ctr"/>
                </a:tc>
                <a:tc>
                  <a:txBody>
                    <a:bodyPr/>
                    <a:lstStyle/>
                    <a:p>
                      <a:pPr>
                        <a:buNone/>
                      </a:pPr>
                      <a:r>
                        <a:rPr lang="vi-VN" sz="1100" dirty="0"/>
                        <a:t>mmWave: Đạt URLLC/eMBB ở tốt, không đạt ở outage. Sub-6: Đạt eMBB/UAV, nhưng thấp cho video cao cấp.</a:t>
                      </a:r>
                    </a:p>
                  </a:txBody>
                  <a:tcPr marL="24724" marR="24724" marT="12362" marB="12362" anchor="ctr"/>
                </a:tc>
                <a:extLst>
                  <a:ext uri="{0D108BD9-81ED-4DB2-BD59-A6C34878D82A}">
                    <a16:rowId xmlns:a16="http://schemas.microsoft.com/office/drawing/2014/main" val="1809401487"/>
                  </a:ext>
                </a:extLst>
              </a:tr>
              <a:tr h="395576">
                <a:tc>
                  <a:txBody>
                    <a:bodyPr/>
                    <a:lstStyle/>
                    <a:p>
                      <a:pPr>
                        <a:buNone/>
                      </a:pPr>
                      <a:r>
                        <a:rPr lang="vi-VN" sz="1100" b="1"/>
                        <a:t>Ảnh Hưởng Speed (Doppler)</a:t>
                      </a:r>
                    </a:p>
                  </a:txBody>
                  <a:tcPr marL="24724" marR="24724" marT="12362" marB="12362" anchor="ctr"/>
                </a:tc>
                <a:tc>
                  <a:txBody>
                    <a:bodyPr/>
                    <a:lstStyle/>
                    <a:p>
                      <a:pPr>
                        <a:buNone/>
                      </a:pPr>
                      <a:r>
                        <a:rPr lang="en-US" sz="1100"/>
                        <a:t>Outage spike (loss 58–96%) ở 15–45 m/s; delay tăng vọt</a:t>
                      </a:r>
                    </a:p>
                  </a:txBody>
                  <a:tcPr marL="24724" marR="24724" marT="12362" marB="12362" anchor="ctr"/>
                </a:tc>
                <a:tc>
                  <a:txBody>
                    <a:bodyPr/>
                    <a:lstStyle/>
                    <a:p>
                      <a:pPr>
                        <a:buNone/>
                      </a:pPr>
                      <a:r>
                        <a:rPr lang="en-US" sz="1100"/>
                        <a:t>Ổn định, loss 13–72% ở một số tốc độ</a:t>
                      </a:r>
                    </a:p>
                  </a:txBody>
                  <a:tcPr marL="24724" marR="24724" marT="12362" marB="12362" anchor="ctr"/>
                </a:tc>
                <a:tc>
                  <a:txBody>
                    <a:bodyPr/>
                    <a:lstStyle/>
                    <a:p>
                      <a:pPr>
                        <a:buNone/>
                      </a:pPr>
                      <a:r>
                        <a:rPr lang="en-US" sz="1100"/>
                        <a:t>UAV: Reliability ≥99.9% ở tốc độ ≤100 m/s</a:t>
                      </a:r>
                    </a:p>
                  </a:txBody>
                  <a:tcPr marL="24724" marR="24724" marT="12362" marB="12362" anchor="ctr"/>
                </a:tc>
                <a:tc>
                  <a:txBody>
                    <a:bodyPr/>
                    <a:lstStyle/>
                    <a:p>
                      <a:pPr>
                        <a:buNone/>
                      </a:pPr>
                      <a:r>
                        <a:rPr lang="en-US" sz="1100" dirty="0" err="1"/>
                        <a:t>mmWave</a:t>
                      </a:r>
                      <a:r>
                        <a:rPr lang="en-US" sz="1100" dirty="0"/>
                        <a:t>: </a:t>
                      </a:r>
                      <a:r>
                        <a:rPr lang="en-US" sz="1100" dirty="0" err="1"/>
                        <a:t>Không</a:t>
                      </a:r>
                      <a:r>
                        <a:rPr lang="en-US" sz="1100" dirty="0"/>
                        <a:t> </a:t>
                      </a:r>
                      <a:r>
                        <a:rPr lang="en-US" sz="1100" dirty="0" err="1"/>
                        <a:t>đạt</a:t>
                      </a:r>
                      <a:r>
                        <a:rPr lang="en-US" sz="1100" dirty="0"/>
                        <a:t> ở </a:t>
                      </a:r>
                      <a:r>
                        <a:rPr lang="en-US" sz="1100" dirty="0" err="1"/>
                        <a:t>tốc</a:t>
                      </a:r>
                      <a:r>
                        <a:rPr lang="en-US" sz="1100" dirty="0"/>
                        <a:t> </a:t>
                      </a:r>
                      <a:r>
                        <a:rPr lang="en-US" sz="1100" dirty="0" err="1"/>
                        <a:t>độ</a:t>
                      </a:r>
                      <a:r>
                        <a:rPr lang="en-US" sz="1100" dirty="0"/>
                        <a:t> </a:t>
                      </a:r>
                      <a:r>
                        <a:rPr lang="en-US" sz="1100" dirty="0" err="1"/>
                        <a:t>cao</a:t>
                      </a:r>
                      <a:r>
                        <a:rPr lang="en-US" sz="1100" dirty="0"/>
                        <a:t> do Doppler. Sub-6: Đạt </a:t>
                      </a:r>
                      <a:r>
                        <a:rPr lang="en-US" sz="1100" dirty="0" err="1"/>
                        <a:t>ổn</a:t>
                      </a:r>
                      <a:r>
                        <a:rPr lang="en-US" sz="1100" dirty="0"/>
                        <a:t> </a:t>
                      </a:r>
                      <a:r>
                        <a:rPr lang="en-US" sz="1100" dirty="0" err="1"/>
                        <a:t>định</a:t>
                      </a:r>
                      <a:r>
                        <a:rPr lang="en-US" sz="1100" dirty="0"/>
                        <a:t>.</a:t>
                      </a:r>
                    </a:p>
                  </a:txBody>
                  <a:tcPr marL="24724" marR="24724" marT="12362" marB="12362" anchor="ctr"/>
                </a:tc>
                <a:extLst>
                  <a:ext uri="{0D108BD9-81ED-4DB2-BD59-A6C34878D82A}">
                    <a16:rowId xmlns:a16="http://schemas.microsoft.com/office/drawing/2014/main" val="4004735020"/>
                  </a:ext>
                </a:extLst>
              </a:tr>
              <a:tr h="469747">
                <a:tc>
                  <a:txBody>
                    <a:bodyPr/>
                    <a:lstStyle/>
                    <a:p>
                      <a:pPr>
                        <a:buNone/>
                      </a:pPr>
                      <a:r>
                        <a:rPr lang="vi-VN" sz="1100" b="1"/>
                        <a:t>Ảnh Hưởng Altitude</a:t>
                      </a:r>
                    </a:p>
                  </a:txBody>
                  <a:tcPr marL="24724" marR="24724" marT="12362" marB="12362" anchor="ctr"/>
                </a:tc>
                <a:tc>
                  <a:txBody>
                    <a:bodyPr/>
                    <a:lstStyle/>
                    <a:p>
                      <a:pPr>
                        <a:buNone/>
                      </a:pPr>
                      <a:r>
                        <a:rPr lang="en-US" sz="1100"/>
                        <a:t>Outage nặng (loss 49–99.99%) ở &gt;20–100 m; mất liên kết ở &gt;120 m</a:t>
                      </a:r>
                    </a:p>
                  </a:txBody>
                  <a:tcPr marL="24724" marR="24724" marT="12362" marB="12362" anchor="ctr"/>
                </a:tc>
                <a:tc>
                  <a:txBody>
                    <a:bodyPr/>
                    <a:lstStyle/>
                    <a:p>
                      <a:pPr>
                        <a:buNone/>
                      </a:pPr>
                      <a:r>
                        <a:rPr lang="en-US" sz="1100"/>
                        <a:t>Ổn định, loss thấp trừ 40–120 m</a:t>
                      </a:r>
                    </a:p>
                  </a:txBody>
                  <a:tcPr marL="24724" marR="24724" marT="12362" marB="12362" anchor="ctr"/>
                </a:tc>
                <a:tc>
                  <a:txBody>
                    <a:bodyPr/>
                    <a:lstStyle/>
                    <a:p>
                      <a:pPr>
                        <a:buNone/>
                      </a:pPr>
                      <a:r>
                        <a:rPr lang="en-US" sz="1100" dirty="0"/>
                        <a:t>UAV: Reliability ≥99.9% ở </a:t>
                      </a:r>
                      <a:r>
                        <a:rPr lang="en-US" sz="1100" dirty="0" err="1"/>
                        <a:t>độ</a:t>
                      </a:r>
                      <a:r>
                        <a:rPr lang="en-US" sz="1100" dirty="0"/>
                        <a:t> </a:t>
                      </a:r>
                      <a:r>
                        <a:rPr lang="en-US" sz="1100" dirty="0" err="1"/>
                        <a:t>cao</a:t>
                      </a:r>
                      <a:r>
                        <a:rPr lang="en-US" sz="1100" dirty="0"/>
                        <a:t> ≤300 m</a:t>
                      </a:r>
                    </a:p>
                  </a:txBody>
                  <a:tcPr marL="24724" marR="24724" marT="12362" marB="12362" anchor="ctr"/>
                </a:tc>
                <a:tc>
                  <a:txBody>
                    <a:bodyPr/>
                    <a:lstStyle/>
                    <a:p>
                      <a:pPr>
                        <a:buNone/>
                      </a:pPr>
                      <a:r>
                        <a:rPr lang="en-US" sz="1100" dirty="0" err="1"/>
                        <a:t>mmWave</a:t>
                      </a:r>
                      <a:r>
                        <a:rPr lang="en-US" sz="1100" dirty="0"/>
                        <a:t>: </a:t>
                      </a:r>
                      <a:r>
                        <a:rPr lang="en-US" sz="1100" dirty="0" err="1"/>
                        <a:t>Không</a:t>
                      </a:r>
                      <a:r>
                        <a:rPr lang="en-US" sz="1100" dirty="0"/>
                        <a:t> </a:t>
                      </a:r>
                      <a:r>
                        <a:rPr lang="en-US" sz="1100" dirty="0" err="1"/>
                        <a:t>đạt</a:t>
                      </a:r>
                      <a:r>
                        <a:rPr lang="en-US" sz="1100" dirty="0"/>
                        <a:t> ở </a:t>
                      </a:r>
                      <a:r>
                        <a:rPr lang="en-US" sz="1100" dirty="0" err="1"/>
                        <a:t>độ</a:t>
                      </a:r>
                      <a:r>
                        <a:rPr lang="en-US" sz="1100" dirty="0"/>
                        <a:t> </a:t>
                      </a:r>
                      <a:r>
                        <a:rPr lang="en-US" sz="1100" dirty="0" err="1"/>
                        <a:t>cao</a:t>
                      </a:r>
                      <a:r>
                        <a:rPr lang="en-US" sz="1100" dirty="0"/>
                        <a:t> </a:t>
                      </a:r>
                      <a:r>
                        <a:rPr lang="en-US" sz="1100" dirty="0" err="1"/>
                        <a:t>cao</a:t>
                      </a:r>
                      <a:r>
                        <a:rPr lang="en-US" sz="1100" dirty="0"/>
                        <a:t> do pathloss. Sub-6: Đạt </a:t>
                      </a:r>
                      <a:r>
                        <a:rPr lang="en-US" sz="1100" dirty="0" err="1"/>
                        <a:t>hầu</a:t>
                      </a:r>
                      <a:r>
                        <a:rPr lang="en-US" sz="1100" dirty="0"/>
                        <a:t> </a:t>
                      </a:r>
                      <a:r>
                        <a:rPr lang="en-US" sz="1100" dirty="0" err="1"/>
                        <a:t>hết</a:t>
                      </a:r>
                      <a:r>
                        <a:rPr lang="en-US" sz="1100" dirty="0"/>
                        <a:t>.</a:t>
                      </a:r>
                    </a:p>
                  </a:txBody>
                  <a:tcPr marL="24724" marR="24724" marT="12362" marB="12362" anchor="ctr"/>
                </a:tc>
                <a:extLst>
                  <a:ext uri="{0D108BD9-81ED-4DB2-BD59-A6C34878D82A}">
                    <a16:rowId xmlns:a16="http://schemas.microsoft.com/office/drawing/2014/main" val="2802145158"/>
                  </a:ext>
                </a:extLst>
              </a:tr>
              <a:tr h="543917">
                <a:tc>
                  <a:txBody>
                    <a:bodyPr/>
                    <a:lstStyle/>
                    <a:p>
                      <a:pPr>
                        <a:buNone/>
                      </a:pPr>
                      <a:r>
                        <a:rPr lang="vi-VN" sz="1100" b="1" dirty="0"/>
                        <a:t>Ảnh Hưởng TxPower</a:t>
                      </a:r>
                    </a:p>
                  </a:txBody>
                  <a:tcPr marL="24724" marR="24724" marT="12362" marB="12362" anchor="ctr"/>
                </a:tc>
                <a:tc>
                  <a:txBody>
                    <a:bodyPr/>
                    <a:lstStyle/>
                    <a:p>
                      <a:pPr>
                        <a:buNone/>
                      </a:pPr>
                      <a:r>
                        <a:rPr lang="en-US" sz="1100"/>
                        <a:t>Nhạy cảm UE TxPower: Loss 70–98% ở UE 20–22 dBm; cải thiện ở UE ≥24 dBm. gNB cao giúp bù.</a:t>
                      </a:r>
                    </a:p>
                  </a:txBody>
                  <a:tcPr marL="24724" marR="24724" marT="12362" marB="12362" anchor="ctr"/>
                </a:tc>
                <a:tc>
                  <a:txBody>
                    <a:bodyPr/>
                    <a:lstStyle/>
                    <a:p>
                      <a:pPr>
                        <a:buNone/>
                      </a:pPr>
                      <a:r>
                        <a:rPr lang="en-US" sz="1100"/>
                        <a:t>Không thay đổi (loss ~13–14%)</a:t>
                      </a:r>
                    </a:p>
                  </a:txBody>
                  <a:tcPr marL="24724" marR="24724" marT="12362" marB="12362" anchor="ctr"/>
                </a:tc>
                <a:tc>
                  <a:txBody>
                    <a:bodyPr/>
                    <a:lstStyle/>
                    <a:p>
                      <a:pPr>
                        <a:buNone/>
                      </a:pPr>
                      <a:r>
                        <a:rPr lang="en-US" sz="1100"/>
                        <a:t>UAV: TxPower gNB/UE ≥23–43 dBm cho reliability</a:t>
                      </a:r>
                    </a:p>
                  </a:txBody>
                  <a:tcPr marL="24724" marR="24724" marT="12362" marB="12362" anchor="ctr"/>
                </a:tc>
                <a:tc>
                  <a:txBody>
                    <a:bodyPr/>
                    <a:lstStyle/>
                    <a:p>
                      <a:pPr>
                        <a:buNone/>
                      </a:pPr>
                      <a:r>
                        <a:rPr lang="en-US" sz="1100" dirty="0" err="1"/>
                        <a:t>mmWave</a:t>
                      </a:r>
                      <a:r>
                        <a:rPr lang="en-US" sz="1100" dirty="0"/>
                        <a:t>: </a:t>
                      </a:r>
                      <a:r>
                        <a:rPr lang="en-US" sz="1100" dirty="0" err="1"/>
                        <a:t>Không</a:t>
                      </a:r>
                      <a:r>
                        <a:rPr lang="en-US" sz="1100" dirty="0"/>
                        <a:t> </a:t>
                      </a:r>
                      <a:r>
                        <a:rPr lang="en-US" sz="1100" dirty="0" err="1"/>
                        <a:t>đạt</a:t>
                      </a:r>
                      <a:r>
                        <a:rPr lang="en-US" sz="1100" dirty="0"/>
                        <a:t> ở </a:t>
                      </a:r>
                      <a:r>
                        <a:rPr lang="en-US" sz="1100" dirty="0" err="1"/>
                        <a:t>TxPower</a:t>
                      </a:r>
                      <a:r>
                        <a:rPr lang="en-US" sz="1100" dirty="0"/>
                        <a:t> </a:t>
                      </a:r>
                      <a:r>
                        <a:rPr lang="en-US" sz="1100" dirty="0" err="1"/>
                        <a:t>thấp</a:t>
                      </a:r>
                      <a:r>
                        <a:rPr lang="en-US" sz="1100" dirty="0"/>
                        <a:t>. Sub-6: Đạt </a:t>
                      </a:r>
                      <a:r>
                        <a:rPr lang="en-US" sz="1100" dirty="0" err="1"/>
                        <a:t>ổn</a:t>
                      </a:r>
                      <a:r>
                        <a:rPr lang="en-US" sz="1100" dirty="0"/>
                        <a:t> </a:t>
                      </a:r>
                      <a:r>
                        <a:rPr lang="en-US" sz="1100" dirty="0" err="1"/>
                        <a:t>định</a:t>
                      </a:r>
                      <a:r>
                        <a:rPr lang="en-US" sz="1100" dirty="0"/>
                        <a:t>.</a:t>
                      </a:r>
                    </a:p>
                  </a:txBody>
                  <a:tcPr marL="24724" marR="24724" marT="12362" marB="12362" anchor="ctr"/>
                </a:tc>
                <a:extLst>
                  <a:ext uri="{0D108BD9-81ED-4DB2-BD59-A6C34878D82A}">
                    <a16:rowId xmlns:a16="http://schemas.microsoft.com/office/drawing/2014/main" val="425877614"/>
                  </a:ext>
                </a:extLst>
              </a:tr>
            </a:tbl>
          </a:graphicData>
        </a:graphic>
      </p:graphicFrame>
    </p:spTree>
    <p:extLst>
      <p:ext uri="{BB962C8B-B14F-4D97-AF65-F5344CB8AC3E}">
        <p14:creationId xmlns:p14="http://schemas.microsoft.com/office/powerpoint/2010/main" val="30929718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36504-B91C-EFEC-15C8-F1409DDAB2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AB0C1E-5C0B-4588-31C3-7164C643BE9C}"/>
              </a:ext>
            </a:extLst>
          </p:cNvPr>
          <p:cNvSpPr>
            <a:spLocks noGrp="1"/>
          </p:cNvSpPr>
          <p:nvPr>
            <p:ph type="sldNum" sz="quarter" idx="12"/>
          </p:nvPr>
        </p:nvSpPr>
        <p:spPr/>
        <p:txBody>
          <a:bodyPr/>
          <a:lstStyle/>
          <a:p>
            <a:fld id="{9EA0BE3B-158A-4EDF-80DC-E394A0D1600F}" type="slidenum">
              <a:rPr lang="en-US" smtClean="0"/>
              <a:pPr/>
              <a:t>39</a:t>
            </a:fld>
            <a:endParaRPr lang="en-US" dirty="0"/>
          </a:p>
        </p:txBody>
      </p:sp>
      <p:sp>
        <p:nvSpPr>
          <p:cNvPr id="3" name="Title 2">
            <a:extLst>
              <a:ext uri="{FF2B5EF4-FFF2-40B4-BE49-F238E27FC236}">
                <a16:creationId xmlns:a16="http://schemas.microsoft.com/office/drawing/2014/main" id="{58AD80FA-23EE-C958-F368-E23FDDBA8BD4}"/>
              </a:ext>
            </a:extLst>
          </p:cNvPr>
          <p:cNvSpPr>
            <a:spLocks noGrp="1"/>
          </p:cNvSpPr>
          <p:nvPr>
            <p:ph type="title"/>
          </p:nvPr>
        </p:nvSpPr>
        <p:spPr/>
        <p:txBody>
          <a:bodyPr/>
          <a:lstStyle/>
          <a:p>
            <a:r>
              <a:rPr lang="en-US" dirty="0"/>
              <a:t>10. </a:t>
            </a:r>
            <a:r>
              <a:rPr lang="en-US" dirty="0" err="1"/>
              <a:t>Kết</a:t>
            </a:r>
            <a:r>
              <a:rPr lang="en-US" dirty="0"/>
              <a:t> </a:t>
            </a:r>
            <a:r>
              <a:rPr lang="en-US" dirty="0" err="1"/>
              <a:t>luận</a:t>
            </a:r>
            <a:r>
              <a:rPr lang="en-US" dirty="0"/>
              <a:t> </a:t>
            </a:r>
            <a:r>
              <a:rPr lang="en-US" dirty="0" err="1"/>
              <a:t>và</a:t>
            </a:r>
            <a:r>
              <a:rPr lang="en-US" dirty="0"/>
              <a:t> </a:t>
            </a:r>
            <a:r>
              <a:rPr lang="en-US" dirty="0" err="1"/>
              <a:t>phương</a:t>
            </a:r>
            <a:r>
              <a:rPr lang="en-US" dirty="0"/>
              <a:t> </a:t>
            </a:r>
            <a:r>
              <a:rPr lang="en-US" dirty="0" err="1"/>
              <a:t>hướng</a:t>
            </a:r>
            <a:r>
              <a:rPr lang="en-US" dirty="0"/>
              <a:t> </a:t>
            </a:r>
            <a:r>
              <a:rPr lang="en-US" dirty="0" err="1"/>
              <a:t>cải</a:t>
            </a:r>
            <a:r>
              <a:rPr lang="en-US" dirty="0"/>
              <a:t> </a:t>
            </a:r>
            <a:r>
              <a:rPr lang="en-US" dirty="0" err="1"/>
              <a:t>thiện</a:t>
            </a:r>
            <a:endParaRPr lang="en-US" dirty="0"/>
          </a:p>
        </p:txBody>
      </p:sp>
      <p:sp>
        <p:nvSpPr>
          <p:cNvPr id="6" name="TextBox 5">
            <a:extLst>
              <a:ext uri="{FF2B5EF4-FFF2-40B4-BE49-F238E27FC236}">
                <a16:creationId xmlns:a16="http://schemas.microsoft.com/office/drawing/2014/main" id="{D87D7B61-2EB9-FB36-8853-AE49D9625FD7}"/>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7" name="TextBox 6">
            <a:extLst>
              <a:ext uri="{FF2B5EF4-FFF2-40B4-BE49-F238E27FC236}">
                <a16:creationId xmlns:a16="http://schemas.microsoft.com/office/drawing/2014/main" id="{1F8655EE-8250-876F-9404-D1F7BC41D25D}"/>
              </a:ext>
            </a:extLst>
          </p:cNvPr>
          <p:cNvSpPr txBox="1"/>
          <p:nvPr/>
        </p:nvSpPr>
        <p:spPr>
          <a:xfrm>
            <a:off x="391461" y="1732025"/>
            <a:ext cx="7758626" cy="4185761"/>
          </a:xfrm>
          <a:prstGeom prst="rect">
            <a:avLst/>
          </a:prstGeom>
          <a:noFill/>
        </p:spPr>
        <p:txBody>
          <a:bodyPr wrap="square">
            <a:spAutoFit/>
          </a:bodyPr>
          <a:lstStyle/>
          <a:p>
            <a:pPr>
              <a:buNone/>
            </a:pPr>
            <a:r>
              <a:rPr lang="vi-VN" sz="1400" dirty="0">
                <a:effectLst/>
              </a:rPr>
              <a:t>Số liệu chứng minh 5G NR có thể đạt chuẩn 3GPP ở điều kiện lý tưởng, đặc biệt cho UAV private network với slicing (URLLC ưu tiên C2)</a:t>
            </a:r>
            <a:r>
              <a:rPr lang="en-US" sz="1400" dirty="0">
                <a:effectLst/>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Tuy </a:t>
            </a:r>
            <a:r>
              <a:rPr lang="en-US" sz="1400" dirty="0" err="1">
                <a:latin typeface="Arial" panose="020B0604020202020204" pitchFamily="34" charset="0"/>
                <a:cs typeface="Arial" panose="020B0604020202020204" pitchFamily="34" charset="0"/>
              </a:rPr>
              <a:t>nhiên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có</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một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vài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điều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cần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phải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cải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thiện</a:t>
            </a:r>
            <a:r>
              <a:rPr lang="en-US" sz="1400" dirty="0">
                <a:latin typeface="Arial" panose="020B0604020202020204" pitchFamily="34" charset="0"/>
                <a:cs typeface="Arial" panose="020B0604020202020204" pitchFamily="34" charset="0"/>
              </a:rPr>
              <a:t>:</a:t>
            </a:r>
          </a:p>
          <a:p>
            <a:pPr>
              <a:buNone/>
            </a:pPr>
            <a:endParaRPr lang="en-US" sz="1400" dirty="0">
              <a:latin typeface="Arial" panose="020B0604020202020204" pitchFamily="34" charset="0"/>
              <a:cs typeface="Arial" panose="020B0604020202020204" pitchFamily="34" charset="0"/>
            </a:endParaRPr>
          </a:p>
          <a:p>
            <a:r>
              <a:rPr lang="vi-VN" sz="1400" b="1" dirty="0"/>
              <a:t>mmWave</a:t>
            </a:r>
            <a:r>
              <a:rPr lang="vi-VN" sz="1400" dirty="0"/>
              <a:t>:</a:t>
            </a:r>
          </a:p>
          <a:p>
            <a:pPr marL="742950" lvl="1" indent="-285750">
              <a:buFont typeface="Arial" panose="020B0604020202020204" pitchFamily="34" charset="0"/>
              <a:buChar char="•"/>
            </a:pPr>
            <a:r>
              <a:rPr lang="vi-VN" sz="1400" dirty="0"/>
              <a:t>Outage nghiêm trọng (loss &gt;50–99%) ở tốc độ cao (&gt;15 m/s), độ cao cao (&gt;100 m), và TxPower UE thấp (&lt;24 dBm) – không đạt URLLC reliability (≤0.001%) hoặc UAV C2 (≤0.1%). Delay/jitter tăng vọt ở outage, làm gián đoạn C2.</a:t>
            </a:r>
          </a:p>
          <a:p>
            <a:pPr marL="742950" lvl="1" indent="-285750">
              <a:buFont typeface="Arial" panose="020B0604020202020204" pitchFamily="34" charset="0"/>
              <a:buChar char="•"/>
            </a:pPr>
            <a:r>
              <a:rPr lang="vi-VN" sz="1400" dirty="0"/>
              <a:t>Throughput giảm mạnh ở outage, không đạt eMBB cho video liên tục.</a:t>
            </a:r>
          </a:p>
          <a:p>
            <a:r>
              <a:rPr lang="vi-VN" sz="1400" b="1" dirty="0"/>
              <a:t>Sub-6 GHz</a:t>
            </a:r>
            <a:r>
              <a:rPr lang="vi-VN" sz="1400" dirty="0"/>
              <a:t>:</a:t>
            </a:r>
          </a:p>
          <a:p>
            <a:pPr marL="742950" lvl="1" indent="-285750">
              <a:buFont typeface="Arial" panose="020B0604020202020204" pitchFamily="34" charset="0"/>
              <a:buChar char="•"/>
            </a:pPr>
            <a:r>
              <a:rPr lang="vi-VN" sz="1400" dirty="0"/>
              <a:t>Delay trung bình cao (8–38 ms) – không đạt URLLC (&lt;1 ms) hoặc UAV C2 lý tưởng (&lt;5 ms), chỉ phù hợp eMBB.</a:t>
            </a:r>
          </a:p>
          <a:p>
            <a:pPr marL="742950" lvl="1" indent="-285750">
              <a:buFont typeface="Arial" panose="020B0604020202020204" pitchFamily="34" charset="0"/>
              <a:buChar char="•"/>
            </a:pPr>
            <a:r>
              <a:rPr lang="vi-VN" sz="1400" dirty="0"/>
              <a:t>Loss trung bình 13–16% – không đạt URLLC, chỉ đạt eMBB/UAV ở mức cơ bản; một số outlier (loss &gt;70%) ở speed/TxPower cần kiểm tra thêm.</a:t>
            </a:r>
          </a:p>
          <a:p>
            <a:pPr marL="742950" lvl="1" indent="-285750">
              <a:buFont typeface="Arial" panose="020B0604020202020204" pitchFamily="34" charset="0"/>
              <a:buChar char="•"/>
            </a:pPr>
            <a:r>
              <a:rPr lang="vi-VN" sz="1400" dirty="0"/>
              <a:t>Throughput ổn định nhưng thấp (~8 Mbps) – không đạt eMBB cao cấp (≥10 Mbps cho video 4K theo 3GPP).</a:t>
            </a:r>
          </a:p>
          <a:p>
            <a:endParaRPr lang="en-US" sz="1400" dirty="0">
              <a:sym typeface="Wingdings" panose="05000000000000000000" pitchFamily="2" charset="2"/>
            </a:endParaRPr>
          </a:p>
          <a:p>
            <a:r>
              <a:rPr lang="en-US" sz="1400" dirty="0">
                <a:sym typeface="Wingdings" panose="05000000000000000000" pitchFamily="2" charset="2"/>
              </a:rPr>
              <a:t></a:t>
            </a:r>
            <a:r>
              <a:rPr lang="vi-VN" sz="1400" dirty="0"/>
              <a:t>Số liệu lộ rõ hạn chế của mmWave ở môi trường UAV động (mobility, altitude), và Sub-6 ở latency cho URLLC.</a:t>
            </a:r>
          </a:p>
          <a:p>
            <a:pPr>
              <a:buNone/>
            </a:pPr>
            <a:endParaRPr lang="vi-VN" sz="1400" dirty="0">
              <a:effectLst/>
            </a:endParaRPr>
          </a:p>
        </p:txBody>
      </p:sp>
      <p:sp>
        <p:nvSpPr>
          <p:cNvPr id="9" name="TextBox 8">
            <a:extLst>
              <a:ext uri="{FF2B5EF4-FFF2-40B4-BE49-F238E27FC236}">
                <a16:creationId xmlns:a16="http://schemas.microsoft.com/office/drawing/2014/main" id="{6FBC650E-9C96-7FFA-0BF1-122FA0A3C54C}"/>
              </a:ext>
            </a:extLst>
          </p:cNvPr>
          <p:cNvSpPr txBox="1"/>
          <p:nvPr/>
        </p:nvSpPr>
        <p:spPr>
          <a:xfrm>
            <a:off x="391461" y="1023155"/>
            <a:ext cx="8689706" cy="553998"/>
          </a:xfrm>
          <a:prstGeom prst="rect">
            <a:avLst/>
          </a:prstGeom>
          <a:noFill/>
        </p:spPr>
        <p:txBody>
          <a:bodyPr wrap="square">
            <a:spAutoFit/>
          </a:bodyPr>
          <a:lstStyle/>
          <a:p>
            <a:r>
              <a:rPr lang="en-US" sz="1600" b="1" dirty="0"/>
              <a:t>KẾT LUẬN CHUNG</a:t>
            </a:r>
            <a:endParaRPr lang="en-US" sz="1600" dirty="0"/>
          </a:p>
          <a:p>
            <a:endParaRPr lang="vi-VN" sz="1400" dirty="0"/>
          </a:p>
        </p:txBody>
      </p:sp>
    </p:spTree>
    <p:extLst>
      <p:ext uri="{BB962C8B-B14F-4D97-AF65-F5344CB8AC3E}">
        <p14:creationId xmlns:p14="http://schemas.microsoft.com/office/powerpoint/2010/main" val="14758076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3ACA-C135-1111-8F6D-332F7933E7C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4E642B-8C92-B8BB-9F38-E25923C31FA4}"/>
              </a:ext>
            </a:extLst>
          </p:cNvPr>
          <p:cNvSpPr>
            <a:spLocks noGrp="1"/>
          </p:cNvSpPr>
          <p:nvPr>
            <p:ph type="sldNum" sz="quarter" idx="12"/>
          </p:nvPr>
        </p:nvSpPr>
        <p:spPr/>
        <p:txBody>
          <a:bodyPr/>
          <a:lstStyle/>
          <a:p>
            <a:fld id="{9EA0BE3B-158A-4EDF-80DC-E394A0D1600F}" type="slidenum">
              <a:rPr lang="en-US" smtClean="0"/>
              <a:pPr/>
              <a:t>40</a:t>
            </a:fld>
            <a:endParaRPr lang="en-US" dirty="0"/>
          </a:p>
        </p:txBody>
      </p:sp>
      <p:sp>
        <p:nvSpPr>
          <p:cNvPr id="3" name="Title 2">
            <a:extLst>
              <a:ext uri="{FF2B5EF4-FFF2-40B4-BE49-F238E27FC236}">
                <a16:creationId xmlns:a16="http://schemas.microsoft.com/office/drawing/2014/main" id="{92970B28-BEC0-6552-240F-5082C6F744C7}"/>
              </a:ext>
            </a:extLst>
          </p:cNvPr>
          <p:cNvSpPr>
            <a:spLocks noGrp="1"/>
          </p:cNvSpPr>
          <p:nvPr>
            <p:ph type="title"/>
          </p:nvPr>
        </p:nvSpPr>
        <p:spPr/>
        <p:txBody>
          <a:bodyPr/>
          <a:lstStyle/>
          <a:p>
            <a:r>
              <a:rPr lang="en-US" dirty="0"/>
              <a:t>6. </a:t>
            </a:r>
            <a:r>
              <a:rPr lang="en-US" dirty="0" err="1"/>
              <a:t>Kết</a:t>
            </a:r>
            <a:r>
              <a:rPr lang="en-US" dirty="0"/>
              <a:t> </a:t>
            </a:r>
            <a:r>
              <a:rPr lang="en-US" dirty="0" err="1"/>
              <a:t>luận</a:t>
            </a:r>
            <a:r>
              <a:rPr lang="en-US" dirty="0"/>
              <a:t> </a:t>
            </a:r>
            <a:r>
              <a:rPr lang="en-US" dirty="0" err="1"/>
              <a:t>và</a:t>
            </a:r>
            <a:r>
              <a:rPr lang="en-US" dirty="0"/>
              <a:t> </a:t>
            </a:r>
            <a:r>
              <a:rPr lang="en-US" dirty="0" err="1"/>
              <a:t>phương</a:t>
            </a:r>
            <a:r>
              <a:rPr lang="en-US" dirty="0"/>
              <a:t> </a:t>
            </a:r>
            <a:r>
              <a:rPr lang="en-US" dirty="0" err="1"/>
              <a:t>hướng</a:t>
            </a:r>
            <a:r>
              <a:rPr lang="en-US" dirty="0"/>
              <a:t> </a:t>
            </a:r>
            <a:r>
              <a:rPr lang="en-US" dirty="0" err="1"/>
              <a:t>cải</a:t>
            </a:r>
            <a:r>
              <a:rPr lang="en-US" dirty="0"/>
              <a:t> </a:t>
            </a:r>
            <a:r>
              <a:rPr lang="en-US" dirty="0" err="1"/>
              <a:t>thiện</a:t>
            </a:r>
            <a:endParaRPr lang="en-US" dirty="0"/>
          </a:p>
        </p:txBody>
      </p:sp>
      <p:sp>
        <p:nvSpPr>
          <p:cNvPr id="6" name="TextBox 5">
            <a:extLst>
              <a:ext uri="{FF2B5EF4-FFF2-40B4-BE49-F238E27FC236}">
                <a16:creationId xmlns:a16="http://schemas.microsoft.com/office/drawing/2014/main" id="{818FF73E-6238-B748-2B86-5E87A0A7778D}"/>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sp>
        <p:nvSpPr>
          <p:cNvPr id="7" name="TextBox 6">
            <a:extLst>
              <a:ext uri="{FF2B5EF4-FFF2-40B4-BE49-F238E27FC236}">
                <a16:creationId xmlns:a16="http://schemas.microsoft.com/office/drawing/2014/main" id="{8E214422-4BA1-09F1-21C6-1FD52857FA08}"/>
              </a:ext>
            </a:extLst>
          </p:cNvPr>
          <p:cNvSpPr txBox="1"/>
          <p:nvPr/>
        </p:nvSpPr>
        <p:spPr>
          <a:xfrm>
            <a:off x="470974" y="1563059"/>
            <a:ext cx="7758626" cy="4401205"/>
          </a:xfrm>
          <a:prstGeom prst="rect">
            <a:avLst/>
          </a:prstGeom>
          <a:noFill/>
        </p:spPr>
        <p:txBody>
          <a:bodyPr wrap="square">
            <a:spAutoFit/>
          </a:bodyPr>
          <a:lstStyle/>
          <a:p>
            <a:r>
              <a:rPr lang="vi-VN" sz="1400" b="1" dirty="0"/>
              <a:t>Cải thiện mmWave (giảm outage)</a:t>
            </a:r>
            <a:r>
              <a:rPr lang="vi-VN" sz="1400" dirty="0"/>
              <a:t>: </a:t>
            </a:r>
            <a:endParaRPr lang="en-US" sz="1400" dirty="0"/>
          </a:p>
          <a:p>
            <a:pPr marL="285750" indent="-285750">
              <a:buFont typeface="Arial" panose="020B0604020202020204" pitchFamily="34" charset="0"/>
              <a:buChar char="•"/>
            </a:pPr>
            <a:r>
              <a:rPr lang="vi-VN" sz="1400" dirty="0"/>
              <a:t>Sử dụng </a:t>
            </a:r>
            <a:r>
              <a:rPr lang="vi-VN" sz="1400" b="1" dirty="0"/>
              <a:t>beamforming tiên tiến</a:t>
            </a:r>
            <a:r>
              <a:rPr lang="vi-VN" sz="1400" dirty="0"/>
              <a:t> (3GPP Release 17: AI-based beam tracking) để chống Doppler và pathloss ở tốc độ/độ cao cao.</a:t>
            </a:r>
          </a:p>
          <a:p>
            <a:pPr marL="285750" indent="-285750">
              <a:buFont typeface="Arial" panose="020B0604020202020204" pitchFamily="34" charset="0"/>
              <a:buChar char="•"/>
            </a:pPr>
            <a:r>
              <a:rPr lang="vi-VN" sz="1400" dirty="0"/>
              <a:t>Tăng TxPower UE (≥26 dBm) hoặc dùng </a:t>
            </a:r>
            <a:r>
              <a:rPr lang="vi-VN" sz="1400" b="1" dirty="0"/>
              <a:t>antenna array lớn hơn</a:t>
            </a:r>
            <a:r>
              <a:rPr lang="vi-VN" sz="1400" dirty="0"/>
              <a:t> trên UAV (theo TS 38.101) để bù uplink yếu.</a:t>
            </a:r>
          </a:p>
          <a:p>
            <a:pPr marL="285750" indent="-285750">
              <a:buFont typeface="Arial" panose="020B0604020202020204" pitchFamily="34" charset="0"/>
              <a:buChar char="•"/>
            </a:pPr>
            <a:r>
              <a:rPr lang="vi-VN" sz="1400" dirty="0"/>
              <a:t>Kết hợp </a:t>
            </a:r>
            <a:r>
              <a:rPr lang="vi-VN" sz="1400" b="1" dirty="0"/>
              <a:t>hybrid bands</a:t>
            </a:r>
            <a:r>
              <a:rPr lang="vi-VN" sz="1400" dirty="0"/>
              <a:t> (mmWave + Sub-6) với carrier aggregation (TS 38.300) để fallback khi outage.</a:t>
            </a:r>
          </a:p>
          <a:p>
            <a:r>
              <a:rPr lang="vi-VN" sz="1400" b="1" dirty="0"/>
              <a:t>Cải thiện Sub-6 (giảm latency)</a:t>
            </a:r>
            <a:r>
              <a:rPr lang="vi-VN" sz="1400" dirty="0"/>
              <a:t>: </a:t>
            </a:r>
            <a:endParaRPr lang="en-US" sz="1400" dirty="0"/>
          </a:p>
          <a:p>
            <a:pPr marL="285750" indent="-285750">
              <a:buFont typeface="Arial" panose="020B0604020202020204" pitchFamily="34" charset="0"/>
              <a:buChar char="•"/>
            </a:pPr>
            <a:r>
              <a:rPr lang="vi-VN" sz="1400" dirty="0"/>
              <a:t>Áp dụng </a:t>
            </a:r>
            <a:r>
              <a:rPr lang="vi-VN" sz="1400" b="1" dirty="0"/>
              <a:t>network slicing</a:t>
            </a:r>
            <a:r>
              <a:rPr lang="vi-VN" sz="1400" dirty="0"/>
              <a:t> (TS 23.501) để ưu tiên URLLC slice với bearer GBR, kết hợp numerology cao (</a:t>
            </a:r>
            <a:r>
              <a:rPr lang="el-GR" sz="1400" dirty="0"/>
              <a:t>μ=3–4) </a:t>
            </a:r>
            <a:r>
              <a:rPr lang="vi-VN" sz="1400" dirty="0"/>
              <a:t>cho slot ngắn hơn.</a:t>
            </a:r>
          </a:p>
          <a:p>
            <a:pPr marL="285750" indent="-285750">
              <a:buFont typeface="Arial" panose="020B0604020202020204" pitchFamily="34" charset="0"/>
              <a:buChar char="•"/>
            </a:pPr>
            <a:r>
              <a:rPr lang="vi-VN" sz="1400" dirty="0"/>
              <a:t>Tối ưu hóa TxPower gNB (≥38 dBm) và dùng </a:t>
            </a:r>
            <a:r>
              <a:rPr lang="vi-VN" sz="1400" b="1" dirty="0"/>
              <a:t>MIMO massive</a:t>
            </a:r>
            <a:r>
              <a:rPr lang="vi-VN" sz="1400" dirty="0"/>
              <a:t> (TS 38.211) để tăng throughput lên ≥10 Mbps.</a:t>
            </a:r>
          </a:p>
          <a:p>
            <a:r>
              <a:rPr lang="vi-VN" sz="1400" b="1" dirty="0"/>
              <a:t>Chung cho UAV</a:t>
            </a:r>
            <a:r>
              <a:rPr lang="vi-VN" sz="1400" dirty="0"/>
              <a:t>: </a:t>
            </a:r>
            <a:endParaRPr lang="en-US" sz="1400" dirty="0"/>
          </a:p>
          <a:p>
            <a:pPr marL="285750" indent="-285750">
              <a:buFont typeface="Arial" panose="020B0604020202020204" pitchFamily="34" charset="0"/>
              <a:buChar char="•"/>
            </a:pPr>
            <a:r>
              <a:rPr lang="vi-VN" sz="1400" dirty="0"/>
              <a:t>Thêm </a:t>
            </a:r>
            <a:r>
              <a:rPr lang="vi-VN" sz="1400" b="1" dirty="0"/>
              <a:t>redundancy</a:t>
            </a:r>
            <a:r>
              <a:rPr lang="vi-VN" sz="1400" dirty="0"/>
              <a:t> (dual-SIM hoặc multi-path TCP theo 3GPP TR 22.825) để đảm bảo reliability</a:t>
            </a:r>
          </a:p>
          <a:p>
            <a:pPr marL="285750" indent="-285750">
              <a:buFont typeface="Arial" panose="020B0604020202020204" pitchFamily="34" charset="0"/>
              <a:buChar char="•"/>
            </a:pPr>
            <a:r>
              <a:rPr lang="vi-VN" sz="1400" dirty="0"/>
              <a:t>Mô phỏng thêm với </a:t>
            </a:r>
            <a:r>
              <a:rPr lang="vi-VN" sz="1400" b="1" dirty="0"/>
              <a:t>shadowing/fading models</a:t>
            </a:r>
            <a:r>
              <a:rPr lang="vi-VN" sz="1400" dirty="0"/>
              <a:t> (ThreeGppChannelModel trong ns-3) để kiểm tra outlier.</a:t>
            </a:r>
          </a:p>
          <a:p>
            <a:pPr marL="285750" indent="-285750">
              <a:buFont typeface="Arial" panose="020B0604020202020204" pitchFamily="34" charset="0"/>
              <a:buChar char="•"/>
            </a:pPr>
            <a:r>
              <a:rPr lang="vi-VN" sz="1400" dirty="0"/>
              <a:t>Thử nghiệm thực tế hoặc mô phỏng nâng cao với </a:t>
            </a:r>
            <a:r>
              <a:rPr lang="vi-VN" sz="1400" b="1" dirty="0"/>
              <a:t>AI/ML scheduling</a:t>
            </a:r>
            <a:r>
              <a:rPr lang="vi-VN" sz="1400" dirty="0"/>
              <a:t> (Release 18) để dự đoán outage dựa trên speed/altitude.</a:t>
            </a:r>
          </a:p>
          <a:p>
            <a:endParaRPr lang="en-US" sz="1400" dirty="0"/>
          </a:p>
        </p:txBody>
      </p:sp>
      <p:sp>
        <p:nvSpPr>
          <p:cNvPr id="5" name="TextBox 4">
            <a:extLst>
              <a:ext uri="{FF2B5EF4-FFF2-40B4-BE49-F238E27FC236}">
                <a16:creationId xmlns:a16="http://schemas.microsoft.com/office/drawing/2014/main" id="{FC7CDF10-53E8-24A7-8492-212655320E51}"/>
              </a:ext>
            </a:extLst>
          </p:cNvPr>
          <p:cNvSpPr txBox="1"/>
          <p:nvPr/>
        </p:nvSpPr>
        <p:spPr>
          <a:xfrm>
            <a:off x="246259" y="1009061"/>
            <a:ext cx="8689706" cy="553998"/>
          </a:xfrm>
          <a:prstGeom prst="rect">
            <a:avLst/>
          </a:prstGeom>
          <a:noFill/>
        </p:spPr>
        <p:txBody>
          <a:bodyPr wrap="square">
            <a:spAutoFit/>
          </a:bodyPr>
          <a:lstStyle/>
          <a:p>
            <a:r>
              <a:rPr lang="en-US" sz="1600" b="1" dirty="0"/>
              <a:t>PHƯƠNG HƯỚNG CẢI THIỆN</a:t>
            </a:r>
            <a:endParaRPr lang="en-US" sz="1600" dirty="0"/>
          </a:p>
          <a:p>
            <a:endParaRPr lang="vi-VN" sz="1400" dirty="0"/>
          </a:p>
        </p:txBody>
      </p:sp>
    </p:spTree>
    <p:extLst>
      <p:ext uri="{BB962C8B-B14F-4D97-AF65-F5344CB8AC3E}">
        <p14:creationId xmlns:p14="http://schemas.microsoft.com/office/powerpoint/2010/main" val="3112836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12FD6-5FFC-DEF0-5E57-7426F9E674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F122D-1021-8662-8A5F-4A3FB66A5DEE}"/>
              </a:ext>
            </a:extLst>
          </p:cNvPr>
          <p:cNvSpPr>
            <a:spLocks noGrp="1"/>
          </p:cNvSpPr>
          <p:nvPr>
            <p:ph type="sldNum" sz="quarter" idx="12"/>
          </p:nvPr>
        </p:nvSpPr>
        <p:spPr/>
        <p:txBody>
          <a:bodyPr/>
          <a:lstStyle/>
          <a:p>
            <a:fld id="{9EA0BE3B-158A-4EDF-80DC-E394A0D1600F}" type="slidenum">
              <a:rPr lang="en-US" smtClean="0"/>
              <a:pPr/>
              <a:t>41</a:t>
            </a:fld>
            <a:endParaRPr lang="en-US" dirty="0"/>
          </a:p>
        </p:txBody>
      </p:sp>
      <p:sp>
        <p:nvSpPr>
          <p:cNvPr id="3" name="Title 2">
            <a:extLst>
              <a:ext uri="{FF2B5EF4-FFF2-40B4-BE49-F238E27FC236}">
                <a16:creationId xmlns:a16="http://schemas.microsoft.com/office/drawing/2014/main" id="{EA4A2506-321E-9BB3-2FF2-08C57F9D3B76}"/>
              </a:ext>
            </a:extLst>
          </p:cNvPr>
          <p:cNvSpPr>
            <a:spLocks noGrp="1"/>
          </p:cNvSpPr>
          <p:nvPr>
            <p:ph type="title"/>
          </p:nvPr>
        </p:nvSpPr>
        <p:spPr/>
        <p:txBody>
          <a:bodyPr/>
          <a:lstStyle/>
          <a:p>
            <a:r>
              <a:rPr lang="en-US" dirty="0"/>
              <a:t>6. </a:t>
            </a:r>
            <a:r>
              <a:rPr lang="en-US" dirty="0" err="1"/>
              <a:t>Kết</a:t>
            </a:r>
            <a:r>
              <a:rPr lang="en-US" dirty="0"/>
              <a:t> </a:t>
            </a:r>
            <a:r>
              <a:rPr lang="en-US" dirty="0" err="1"/>
              <a:t>luận</a:t>
            </a:r>
            <a:r>
              <a:rPr lang="en-US" dirty="0"/>
              <a:t> </a:t>
            </a:r>
            <a:r>
              <a:rPr lang="en-US" dirty="0" err="1"/>
              <a:t>và</a:t>
            </a:r>
            <a:r>
              <a:rPr lang="en-US" dirty="0"/>
              <a:t> </a:t>
            </a:r>
            <a:r>
              <a:rPr lang="en-US" dirty="0" err="1"/>
              <a:t>phương</a:t>
            </a:r>
            <a:r>
              <a:rPr lang="en-US" dirty="0"/>
              <a:t> </a:t>
            </a:r>
            <a:r>
              <a:rPr lang="en-US" dirty="0" err="1"/>
              <a:t>hướng</a:t>
            </a:r>
            <a:r>
              <a:rPr lang="en-US" dirty="0"/>
              <a:t> </a:t>
            </a:r>
            <a:r>
              <a:rPr lang="en-US" dirty="0" err="1"/>
              <a:t>cải</a:t>
            </a:r>
            <a:r>
              <a:rPr lang="en-US" dirty="0"/>
              <a:t> </a:t>
            </a:r>
            <a:r>
              <a:rPr lang="en-US" dirty="0" err="1"/>
              <a:t>thiện</a:t>
            </a:r>
            <a:endParaRPr lang="en-US" dirty="0"/>
          </a:p>
        </p:txBody>
      </p:sp>
      <p:sp>
        <p:nvSpPr>
          <p:cNvPr id="6" name="TextBox 5">
            <a:extLst>
              <a:ext uri="{FF2B5EF4-FFF2-40B4-BE49-F238E27FC236}">
                <a16:creationId xmlns:a16="http://schemas.microsoft.com/office/drawing/2014/main" id="{26A1C55D-BEAC-CEA1-9DE2-8C8299E4B3C7}"/>
              </a:ext>
            </a:extLst>
          </p:cNvPr>
          <p:cNvSpPr txBox="1"/>
          <p:nvPr/>
        </p:nvSpPr>
        <p:spPr>
          <a:xfrm>
            <a:off x="470974" y="2595767"/>
            <a:ext cx="3141763" cy="276999"/>
          </a:xfrm>
          <a:prstGeom prst="rect">
            <a:avLst/>
          </a:prstGeom>
          <a:noFill/>
        </p:spPr>
        <p:txBody>
          <a:bodyPr wrap="square">
            <a:spAutoFit/>
          </a:bodyPr>
          <a:lstStyle/>
          <a:p>
            <a:pPr>
              <a:buNone/>
            </a:pPr>
            <a:endParaRPr lang="en-US" sz="1200" dirty="0"/>
          </a:p>
        </p:txBody>
      </p:sp>
      <p:pic>
        <p:nvPicPr>
          <p:cNvPr id="8" name="Picture 7">
            <a:extLst>
              <a:ext uri="{FF2B5EF4-FFF2-40B4-BE49-F238E27FC236}">
                <a16:creationId xmlns:a16="http://schemas.microsoft.com/office/drawing/2014/main" id="{4C95D1FD-2740-6D56-538D-34712ADF2834}"/>
              </a:ext>
            </a:extLst>
          </p:cNvPr>
          <p:cNvPicPr>
            <a:picLocks noChangeAspect="1"/>
          </p:cNvPicPr>
          <p:nvPr/>
        </p:nvPicPr>
        <p:blipFill>
          <a:blip r:embed="rId3"/>
          <a:stretch>
            <a:fillRect/>
          </a:stretch>
        </p:blipFill>
        <p:spPr>
          <a:xfrm>
            <a:off x="949411" y="1099902"/>
            <a:ext cx="7075607" cy="3949176"/>
          </a:xfrm>
          <a:prstGeom prst="rect">
            <a:avLst/>
          </a:prstGeom>
        </p:spPr>
      </p:pic>
    </p:spTree>
    <p:extLst>
      <p:ext uri="{BB962C8B-B14F-4D97-AF65-F5344CB8AC3E}">
        <p14:creationId xmlns:p14="http://schemas.microsoft.com/office/powerpoint/2010/main" val="27047473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5B11D4-572F-9E91-B5C8-F55C9A82FC8D}"/>
              </a:ext>
            </a:extLst>
          </p:cNvPr>
          <p:cNvSpPr>
            <a:spLocks noGrp="1"/>
          </p:cNvSpPr>
          <p:nvPr>
            <p:ph type="sldNum" sz="quarter" idx="12"/>
          </p:nvPr>
        </p:nvSpPr>
        <p:spPr/>
        <p:txBody>
          <a:bodyPr/>
          <a:lstStyle/>
          <a:p>
            <a:fld id="{9EA0BE3B-158A-4EDF-80DC-E394A0D1600F}" type="slidenum">
              <a:rPr lang="en-US" smtClean="0"/>
              <a:pPr/>
              <a:t>42</a:t>
            </a:fld>
            <a:endParaRPr lang="en-US" dirty="0"/>
          </a:p>
        </p:txBody>
      </p:sp>
      <p:sp>
        <p:nvSpPr>
          <p:cNvPr id="3" name="Title 2">
            <a:extLst>
              <a:ext uri="{FF2B5EF4-FFF2-40B4-BE49-F238E27FC236}">
                <a16:creationId xmlns:a16="http://schemas.microsoft.com/office/drawing/2014/main" id="{F86A3AFE-7995-3456-8224-006DB9D1924C}"/>
              </a:ext>
            </a:extLst>
          </p:cNvPr>
          <p:cNvSpPr>
            <a:spLocks noGrp="1"/>
          </p:cNvSpPr>
          <p:nvPr>
            <p:ph type="title"/>
          </p:nvPr>
        </p:nvSpPr>
        <p:spPr/>
        <p:txBody>
          <a:bodyPr/>
          <a:lstStyle/>
          <a:p>
            <a:endParaRPr lang="en-US"/>
          </a:p>
        </p:txBody>
      </p:sp>
      <p:grpSp>
        <p:nvGrpSpPr>
          <p:cNvPr id="23" name="Group 22">
            <a:extLst>
              <a:ext uri="{FF2B5EF4-FFF2-40B4-BE49-F238E27FC236}">
                <a16:creationId xmlns:a16="http://schemas.microsoft.com/office/drawing/2014/main" id="{7F51ABD4-9E84-B6FC-2DDF-ABD4FB80F8B8}"/>
              </a:ext>
            </a:extLst>
          </p:cNvPr>
          <p:cNvGrpSpPr/>
          <p:nvPr/>
        </p:nvGrpSpPr>
        <p:grpSpPr>
          <a:xfrm>
            <a:off x="636519" y="-223945"/>
            <a:ext cx="8100878" cy="11972521"/>
            <a:chOff x="622342" y="768427"/>
            <a:chExt cx="8100878" cy="11972521"/>
          </a:xfrm>
        </p:grpSpPr>
        <p:pic>
          <p:nvPicPr>
            <p:cNvPr id="7" name="Picture 6">
              <a:extLst>
                <a:ext uri="{FF2B5EF4-FFF2-40B4-BE49-F238E27FC236}">
                  <a16:creationId xmlns:a16="http://schemas.microsoft.com/office/drawing/2014/main" id="{84AECBE6-790E-9223-677B-9E827822F5CC}"/>
                </a:ext>
              </a:extLst>
            </p:cNvPr>
            <p:cNvPicPr>
              <a:picLocks noChangeAspect="1"/>
            </p:cNvPicPr>
            <p:nvPr/>
          </p:nvPicPr>
          <p:blipFill>
            <a:blip r:embed="rId2"/>
            <a:stretch>
              <a:fillRect/>
            </a:stretch>
          </p:blipFill>
          <p:spPr>
            <a:xfrm>
              <a:off x="741540" y="768427"/>
              <a:ext cx="7981680" cy="11972521"/>
            </a:xfrm>
            <a:prstGeom prst="rect">
              <a:avLst/>
            </a:prstGeom>
          </p:spPr>
        </p:pic>
        <p:pic>
          <p:nvPicPr>
            <p:cNvPr id="12" name="Picture 11">
              <a:extLst>
                <a:ext uri="{FF2B5EF4-FFF2-40B4-BE49-F238E27FC236}">
                  <a16:creationId xmlns:a16="http://schemas.microsoft.com/office/drawing/2014/main" id="{C31E31C4-AC2C-D509-ACBD-730B83303D6B}"/>
                </a:ext>
              </a:extLst>
            </p:cNvPr>
            <p:cNvPicPr>
              <a:picLocks noChangeAspect="1"/>
            </p:cNvPicPr>
            <p:nvPr/>
          </p:nvPicPr>
          <p:blipFill>
            <a:blip r:embed="rId3"/>
            <a:srcRect l="-1" t="9420" r="-205" b="61884"/>
            <a:stretch>
              <a:fillRect/>
            </a:stretch>
          </p:blipFill>
          <p:spPr>
            <a:xfrm>
              <a:off x="622342" y="4150266"/>
              <a:ext cx="7899315" cy="3393178"/>
            </a:xfrm>
            <a:prstGeom prst="rect">
              <a:avLst/>
            </a:prstGeom>
          </p:spPr>
        </p:pic>
        <p:pic>
          <p:nvPicPr>
            <p:cNvPr id="16" name="Picture 15">
              <a:extLst>
                <a:ext uri="{FF2B5EF4-FFF2-40B4-BE49-F238E27FC236}">
                  <a16:creationId xmlns:a16="http://schemas.microsoft.com/office/drawing/2014/main" id="{ECD0D52B-B4DC-7DA4-B814-333CE020805D}"/>
                </a:ext>
              </a:extLst>
            </p:cNvPr>
            <p:cNvPicPr>
              <a:picLocks noChangeAspect="1"/>
            </p:cNvPicPr>
            <p:nvPr/>
          </p:nvPicPr>
          <p:blipFill>
            <a:blip r:embed="rId4"/>
            <a:stretch>
              <a:fillRect/>
            </a:stretch>
          </p:blipFill>
          <p:spPr>
            <a:xfrm>
              <a:off x="4197818" y="4939135"/>
              <a:ext cx="2067728" cy="337590"/>
            </a:xfrm>
            <a:prstGeom prst="rect">
              <a:avLst/>
            </a:prstGeom>
          </p:spPr>
        </p:pic>
        <p:pic>
          <p:nvPicPr>
            <p:cNvPr id="18" name="Picture 17">
              <a:extLst>
                <a:ext uri="{FF2B5EF4-FFF2-40B4-BE49-F238E27FC236}">
                  <a16:creationId xmlns:a16="http://schemas.microsoft.com/office/drawing/2014/main" id="{7696CD48-4C94-7B81-D6F0-C9DC264D78DF}"/>
                </a:ext>
              </a:extLst>
            </p:cNvPr>
            <p:cNvPicPr>
              <a:picLocks noChangeAspect="1"/>
            </p:cNvPicPr>
            <p:nvPr/>
          </p:nvPicPr>
          <p:blipFill>
            <a:blip r:embed="rId4"/>
            <a:stretch>
              <a:fillRect/>
            </a:stretch>
          </p:blipFill>
          <p:spPr>
            <a:xfrm>
              <a:off x="4144655" y="5956218"/>
              <a:ext cx="2067728" cy="337590"/>
            </a:xfrm>
            <a:prstGeom prst="rect">
              <a:avLst/>
            </a:prstGeom>
          </p:spPr>
        </p:pic>
        <p:pic>
          <p:nvPicPr>
            <p:cNvPr id="19" name="Picture 18">
              <a:extLst>
                <a:ext uri="{FF2B5EF4-FFF2-40B4-BE49-F238E27FC236}">
                  <a16:creationId xmlns:a16="http://schemas.microsoft.com/office/drawing/2014/main" id="{51764260-B78E-EB0B-EE51-BA74AC2FBCD3}"/>
                </a:ext>
              </a:extLst>
            </p:cNvPr>
            <p:cNvPicPr>
              <a:picLocks noChangeAspect="1"/>
            </p:cNvPicPr>
            <p:nvPr/>
          </p:nvPicPr>
          <p:blipFill>
            <a:blip r:embed="rId4"/>
            <a:stretch>
              <a:fillRect/>
            </a:stretch>
          </p:blipFill>
          <p:spPr>
            <a:xfrm>
              <a:off x="4144655" y="5728004"/>
              <a:ext cx="2067728" cy="337590"/>
            </a:xfrm>
            <a:prstGeom prst="rect">
              <a:avLst/>
            </a:prstGeom>
          </p:spPr>
        </p:pic>
        <p:pic>
          <p:nvPicPr>
            <p:cNvPr id="20" name="Picture 19">
              <a:extLst>
                <a:ext uri="{FF2B5EF4-FFF2-40B4-BE49-F238E27FC236}">
                  <a16:creationId xmlns:a16="http://schemas.microsoft.com/office/drawing/2014/main" id="{7F093D19-5499-9245-C667-1B008D92BB86}"/>
                </a:ext>
              </a:extLst>
            </p:cNvPr>
            <p:cNvPicPr>
              <a:picLocks noChangeAspect="1"/>
            </p:cNvPicPr>
            <p:nvPr/>
          </p:nvPicPr>
          <p:blipFill>
            <a:blip r:embed="rId5"/>
            <a:srcRect l="2821"/>
            <a:stretch>
              <a:fillRect/>
            </a:stretch>
          </p:blipFill>
          <p:spPr>
            <a:xfrm>
              <a:off x="4110062" y="5020807"/>
              <a:ext cx="2136914" cy="1191330"/>
            </a:xfrm>
            <a:prstGeom prst="rect">
              <a:avLst/>
            </a:prstGeom>
          </p:spPr>
        </p:pic>
        <p:pic>
          <p:nvPicPr>
            <p:cNvPr id="22" name="Picture 21">
              <a:extLst>
                <a:ext uri="{FF2B5EF4-FFF2-40B4-BE49-F238E27FC236}">
                  <a16:creationId xmlns:a16="http://schemas.microsoft.com/office/drawing/2014/main" id="{49D22F5B-0A66-0D10-4CE8-A32AC113423E}"/>
                </a:ext>
              </a:extLst>
            </p:cNvPr>
            <p:cNvPicPr>
              <a:picLocks noChangeAspect="1"/>
            </p:cNvPicPr>
            <p:nvPr/>
          </p:nvPicPr>
          <p:blipFill>
            <a:blip r:embed="rId6"/>
            <a:srcRect l="8796"/>
            <a:stretch>
              <a:fillRect/>
            </a:stretch>
          </p:blipFill>
          <p:spPr>
            <a:xfrm>
              <a:off x="6634716" y="4503864"/>
              <a:ext cx="1716820" cy="2182687"/>
            </a:xfrm>
            <a:prstGeom prst="rect">
              <a:avLst/>
            </a:prstGeom>
          </p:spPr>
        </p:pic>
      </p:grpSp>
      <p:sp>
        <p:nvSpPr>
          <p:cNvPr id="24" name="Freeform: Shape 23">
            <a:extLst>
              <a:ext uri="{FF2B5EF4-FFF2-40B4-BE49-F238E27FC236}">
                <a16:creationId xmlns:a16="http://schemas.microsoft.com/office/drawing/2014/main" id="{DFE98F15-CECF-8673-D513-CB5EB620DE7E}"/>
              </a:ext>
            </a:extLst>
          </p:cNvPr>
          <p:cNvSpPr/>
          <p:nvPr/>
        </p:nvSpPr>
        <p:spPr>
          <a:xfrm rot="619352">
            <a:off x="6477367" y="4714367"/>
            <a:ext cx="220217" cy="616089"/>
          </a:xfrm>
          <a:custGeom>
            <a:avLst/>
            <a:gdLst>
              <a:gd name="csX0" fmla="*/ 36010 w 57275"/>
              <a:gd name="csY0" fmla="*/ 0 h 645042"/>
              <a:gd name="csX1" fmla="*/ 57275 w 57275"/>
              <a:gd name="csY1" fmla="*/ 645042 h 645042"/>
            </a:gdLst>
            <a:ahLst/>
            <a:cxnLst>
              <a:cxn ang="0">
                <a:pos x="csX0" y="csY0"/>
              </a:cxn>
              <a:cxn ang="0">
                <a:pos x="csX1" y="csY1"/>
              </a:cxn>
            </a:cxnLst>
            <a:rect l="l" t="t" r="r" b="b"/>
            <a:pathLst>
              <a:path w="57275" h="645042">
                <a:moveTo>
                  <a:pt x="36010" y="0"/>
                </a:moveTo>
                <a:cubicBezTo>
                  <a:pt x="1749" y="228009"/>
                  <a:pt x="-32511" y="456019"/>
                  <a:pt x="57275" y="645042"/>
                </a:cubicBez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C8D03F21-D4CF-16E7-8229-24CD5CB59DBF}"/>
              </a:ext>
            </a:extLst>
          </p:cNvPr>
          <p:cNvPicPr>
            <a:picLocks noChangeAspect="1"/>
          </p:cNvPicPr>
          <p:nvPr/>
        </p:nvPicPr>
        <p:blipFill>
          <a:blip r:embed="rId7"/>
          <a:stretch>
            <a:fillRect/>
          </a:stretch>
        </p:blipFill>
        <p:spPr>
          <a:xfrm>
            <a:off x="1842300" y="5301436"/>
            <a:ext cx="121544" cy="148554"/>
          </a:xfrm>
          <a:prstGeom prst="rect">
            <a:avLst/>
          </a:prstGeom>
        </p:spPr>
      </p:pic>
      <p:pic>
        <p:nvPicPr>
          <p:cNvPr id="28" name="Picture 27">
            <a:extLst>
              <a:ext uri="{FF2B5EF4-FFF2-40B4-BE49-F238E27FC236}">
                <a16:creationId xmlns:a16="http://schemas.microsoft.com/office/drawing/2014/main" id="{73E8AD13-17DD-881F-7FA3-17E0CC212872}"/>
              </a:ext>
            </a:extLst>
          </p:cNvPr>
          <p:cNvPicPr>
            <a:picLocks noChangeAspect="1"/>
          </p:cNvPicPr>
          <p:nvPr/>
        </p:nvPicPr>
        <p:blipFill>
          <a:blip r:embed="rId8"/>
          <a:stretch>
            <a:fillRect/>
          </a:stretch>
        </p:blipFill>
        <p:spPr>
          <a:xfrm>
            <a:off x="856712" y="5099354"/>
            <a:ext cx="1526486" cy="337589"/>
          </a:xfrm>
          <a:prstGeom prst="rect">
            <a:avLst/>
          </a:prstGeom>
        </p:spPr>
      </p:pic>
      <p:pic>
        <p:nvPicPr>
          <p:cNvPr id="30" name="Picture 29">
            <a:extLst>
              <a:ext uri="{FF2B5EF4-FFF2-40B4-BE49-F238E27FC236}">
                <a16:creationId xmlns:a16="http://schemas.microsoft.com/office/drawing/2014/main" id="{BEDF118A-D597-71D9-655D-82B541A1BD45}"/>
              </a:ext>
            </a:extLst>
          </p:cNvPr>
          <p:cNvPicPr>
            <a:picLocks noChangeAspect="1"/>
          </p:cNvPicPr>
          <p:nvPr/>
        </p:nvPicPr>
        <p:blipFill>
          <a:blip r:embed="rId9"/>
          <a:stretch>
            <a:fillRect/>
          </a:stretch>
        </p:blipFill>
        <p:spPr>
          <a:xfrm>
            <a:off x="2318837" y="5107043"/>
            <a:ext cx="145759" cy="383576"/>
          </a:xfrm>
          <a:prstGeom prst="rect">
            <a:avLst/>
          </a:prstGeom>
        </p:spPr>
      </p:pic>
    </p:spTree>
    <p:extLst>
      <p:ext uri="{BB962C8B-B14F-4D97-AF65-F5344CB8AC3E}">
        <p14:creationId xmlns:p14="http://schemas.microsoft.com/office/powerpoint/2010/main" val="1854106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E2A1D-EBFE-7885-2CAC-5B98962B724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630B08C-CB65-BB65-ABD7-3C491AAEDB1A}"/>
              </a:ext>
            </a:extLst>
          </p:cNvPr>
          <p:cNvSpPr>
            <a:spLocks noGrp="1"/>
          </p:cNvSpPr>
          <p:nvPr>
            <p:ph type="title"/>
          </p:nvPr>
        </p:nvSpPr>
        <p:spPr/>
        <p:txBody>
          <a:bodyPr/>
          <a:lstStyle/>
          <a:p>
            <a:endParaRPr lang="en-US"/>
          </a:p>
        </p:txBody>
      </p:sp>
      <p:pic>
        <p:nvPicPr>
          <p:cNvPr id="28" name="Picture 27">
            <a:extLst>
              <a:ext uri="{FF2B5EF4-FFF2-40B4-BE49-F238E27FC236}">
                <a16:creationId xmlns:a16="http://schemas.microsoft.com/office/drawing/2014/main" id="{3C9B175A-1F39-307E-BDF3-644FD04B31F3}"/>
              </a:ext>
            </a:extLst>
          </p:cNvPr>
          <p:cNvPicPr>
            <a:picLocks noChangeAspect="1"/>
          </p:cNvPicPr>
          <p:nvPr/>
        </p:nvPicPr>
        <p:blipFill>
          <a:blip r:embed="rId2"/>
          <a:stretch>
            <a:fillRect/>
          </a:stretch>
        </p:blipFill>
        <p:spPr>
          <a:xfrm>
            <a:off x="856712" y="5099354"/>
            <a:ext cx="1526486" cy="337589"/>
          </a:xfrm>
          <a:prstGeom prst="rect">
            <a:avLst/>
          </a:prstGeom>
        </p:spPr>
      </p:pic>
      <p:grpSp>
        <p:nvGrpSpPr>
          <p:cNvPr id="21" name="Group 20">
            <a:extLst>
              <a:ext uri="{FF2B5EF4-FFF2-40B4-BE49-F238E27FC236}">
                <a16:creationId xmlns:a16="http://schemas.microsoft.com/office/drawing/2014/main" id="{7CA2D89B-E5CD-F631-16D2-3ACAB5AE9BE1}"/>
              </a:ext>
            </a:extLst>
          </p:cNvPr>
          <p:cNvGrpSpPr/>
          <p:nvPr/>
        </p:nvGrpSpPr>
        <p:grpSpPr>
          <a:xfrm>
            <a:off x="235077" y="0"/>
            <a:ext cx="7839739" cy="6096000"/>
            <a:chOff x="0" y="-1511596"/>
            <a:chExt cx="7839739" cy="6096000"/>
          </a:xfrm>
        </p:grpSpPr>
        <p:pic>
          <p:nvPicPr>
            <p:cNvPr id="5" name="Picture 4">
              <a:extLst>
                <a:ext uri="{FF2B5EF4-FFF2-40B4-BE49-F238E27FC236}">
                  <a16:creationId xmlns:a16="http://schemas.microsoft.com/office/drawing/2014/main" id="{9E1747EC-2713-6D36-29A2-A60E68EC420A}"/>
                </a:ext>
              </a:extLst>
            </p:cNvPr>
            <p:cNvPicPr>
              <a:picLocks noChangeAspect="1"/>
            </p:cNvPicPr>
            <p:nvPr/>
          </p:nvPicPr>
          <p:blipFill>
            <a:blip r:embed="rId3"/>
            <a:srcRect r="44031"/>
            <a:stretch>
              <a:fillRect/>
            </a:stretch>
          </p:blipFill>
          <p:spPr>
            <a:xfrm>
              <a:off x="0" y="-1511596"/>
              <a:ext cx="5117805" cy="6096000"/>
            </a:xfrm>
            <a:prstGeom prst="rect">
              <a:avLst/>
            </a:prstGeom>
          </p:spPr>
        </p:pic>
        <p:pic>
          <p:nvPicPr>
            <p:cNvPr id="17" name="Picture 16">
              <a:extLst>
                <a:ext uri="{FF2B5EF4-FFF2-40B4-BE49-F238E27FC236}">
                  <a16:creationId xmlns:a16="http://schemas.microsoft.com/office/drawing/2014/main" id="{6B3B1EDC-D57B-872C-276F-A0D2B3EDE486}"/>
                </a:ext>
              </a:extLst>
            </p:cNvPr>
            <p:cNvPicPr>
              <a:picLocks noChangeAspect="1"/>
            </p:cNvPicPr>
            <p:nvPr/>
          </p:nvPicPr>
          <p:blipFill>
            <a:blip r:embed="rId4"/>
            <a:stretch>
              <a:fillRect/>
            </a:stretch>
          </p:blipFill>
          <p:spPr>
            <a:xfrm>
              <a:off x="3312260" y="428426"/>
              <a:ext cx="4527479" cy="1525875"/>
            </a:xfrm>
            <a:prstGeom prst="rect">
              <a:avLst/>
            </a:prstGeom>
          </p:spPr>
        </p:pic>
      </p:grpSp>
      <p:pic>
        <p:nvPicPr>
          <p:cNvPr id="27" name="Picture 26">
            <a:extLst>
              <a:ext uri="{FF2B5EF4-FFF2-40B4-BE49-F238E27FC236}">
                <a16:creationId xmlns:a16="http://schemas.microsoft.com/office/drawing/2014/main" id="{26575CC1-BFA5-D0DE-A025-E2065C289856}"/>
              </a:ext>
            </a:extLst>
          </p:cNvPr>
          <p:cNvPicPr>
            <a:picLocks noChangeAspect="1"/>
          </p:cNvPicPr>
          <p:nvPr/>
        </p:nvPicPr>
        <p:blipFill>
          <a:blip r:embed="rId5"/>
          <a:stretch>
            <a:fillRect/>
          </a:stretch>
        </p:blipFill>
        <p:spPr>
          <a:xfrm>
            <a:off x="4572000" y="3142002"/>
            <a:ext cx="914528" cy="323895"/>
          </a:xfrm>
          <a:prstGeom prst="rect">
            <a:avLst/>
          </a:prstGeom>
        </p:spPr>
      </p:pic>
    </p:spTree>
    <p:extLst>
      <p:ext uri="{BB962C8B-B14F-4D97-AF65-F5344CB8AC3E}">
        <p14:creationId xmlns:p14="http://schemas.microsoft.com/office/powerpoint/2010/main" val="23151645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6884</TotalTime>
  <Words>8575</Words>
  <Application>Microsoft Office PowerPoint</Application>
  <PresentationFormat>On-screen Show (4:3)</PresentationFormat>
  <Paragraphs>1105</Paragraphs>
  <Slides>43</Slides>
  <Notes>24</Notes>
  <HiddenSlides>6</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Aptos Narrow</vt:lpstr>
      <vt:lpstr>Arial</vt:lpstr>
      <vt:lpstr>Calibri</vt:lpstr>
      <vt:lpstr>Cambria Math</vt:lpstr>
      <vt:lpstr>Courier New</vt:lpstr>
      <vt:lpstr>Droid Sans Mono</vt:lpstr>
      <vt:lpstr>Google Sans Text</vt:lpstr>
      <vt:lpstr>Lato</vt:lpstr>
      <vt:lpstr>Symbol</vt:lpstr>
      <vt:lpstr>Times New Roman</vt:lpstr>
      <vt:lpstr>Wingdings</vt:lpstr>
      <vt:lpstr>Office Theme</vt:lpstr>
      <vt:lpstr>PowerPoint Presentation</vt:lpstr>
      <vt:lpstr>MỤC LỤC</vt:lpstr>
      <vt:lpstr>5G Private Network vs. 5G SA ??? </vt:lpstr>
      <vt:lpstr>3. Kịch bản</vt:lpstr>
      <vt:lpstr>4. Kỳ vọng</vt:lpstr>
      <vt:lpstr>4. Kiến trúc 5G SA</vt:lpstr>
      <vt:lpstr>7. Quy luật truyền luồng video</vt:lpstr>
      <vt:lpstr>4. Kiến trúc NSA</vt:lpstr>
      <vt:lpstr>4. Dựng hệ thống mô phỏng</vt:lpstr>
      <vt:lpstr>4. Dựng hệ thống mô phỏng</vt:lpstr>
      <vt:lpstr>6. Hệ thống mô phỏng</vt:lpstr>
      <vt:lpstr>6. Hệ thống mô phỏng</vt:lpstr>
      <vt:lpstr>6. Hệ thống mô phỏng</vt:lpstr>
      <vt:lpstr>7. Kịch bản thí nghiệm</vt:lpstr>
      <vt:lpstr>4. Kiến trúc</vt:lpstr>
      <vt:lpstr>PowerPoint Presentation</vt:lpstr>
      <vt:lpstr>PowerPoint Presentation</vt:lpstr>
      <vt:lpstr>PowerPoint Presentation</vt:lpstr>
      <vt:lpstr>1. Tổng quan đề tài</vt:lpstr>
      <vt:lpstr>2. Tổng quan 5G Private Network </vt:lpstr>
      <vt:lpstr>Wi-Fi vs. Private 5G vs. Public 5G</vt:lpstr>
      <vt:lpstr>3. Kiến trúc 5G SA</vt:lpstr>
      <vt:lpstr>3. Kiến trúc 5G SA</vt:lpstr>
      <vt:lpstr>3. Kiến trúc 5G SA</vt:lpstr>
      <vt:lpstr>4. Ultra-Reliable Low Latency Communications</vt:lpstr>
      <vt:lpstr>5. Network slicing</vt:lpstr>
      <vt:lpstr>6. Sơ đồ mô tả hệ thống</vt:lpstr>
      <vt:lpstr>7. Scenario (Emergency UAV Deployment)</vt:lpstr>
      <vt:lpstr>8. Sơ đồ thuật toán và kịch bản mô phỏng</vt:lpstr>
      <vt:lpstr>9. Đánh giá thông số</vt:lpstr>
      <vt:lpstr>9. Đánh giá thông số</vt:lpstr>
      <vt:lpstr>9. Đánh giá thông số</vt:lpstr>
      <vt:lpstr>9. Đánh giá thông số</vt:lpstr>
      <vt:lpstr>9. Đánh giá thông số</vt:lpstr>
      <vt:lpstr>9. Đánh giá thông số</vt:lpstr>
      <vt:lpstr>9. Đánh giá thông số</vt:lpstr>
      <vt:lpstr>9. Đánh giá thông số</vt:lpstr>
      <vt:lpstr>9. Đánh giá thông số</vt:lpstr>
      <vt:lpstr>10. Kết luận và phương hướng cải thiện</vt:lpstr>
      <vt:lpstr>6. Kết luận và phương hướng cải thiện</vt:lpstr>
      <vt:lpstr>6. Kết luận và phương hướng cải thiện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Linh Pham A</cp:lastModifiedBy>
  <cp:revision>35</cp:revision>
  <dcterms:created xsi:type="dcterms:W3CDTF">2021-05-28T04:32:29Z</dcterms:created>
  <dcterms:modified xsi:type="dcterms:W3CDTF">2026-01-25T08:20:27Z</dcterms:modified>
</cp:coreProperties>
</file>